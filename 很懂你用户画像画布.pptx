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61" r:id="rId4"/>
    <p:sldId id="265" r:id="rId5"/>
    <p:sldId id="267" r:id="rId6"/>
  </p:sldIdLst>
  <p:sldSz cx="13004800" cy="73152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0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1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E2C66-D233-4465-9596-5BB9C20BD951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6CE3A-0FCF-4602-A279-3E4E43CDE0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5921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E02C54-87B6-46A3-ADC3-BABC9AF39E99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AB0E2-6336-4254-AFED-F5F4798ED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72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3004292" cy="7315200"/>
          </a:xfrm>
          <a:custGeom>
            <a:avLst/>
            <a:gdLst>
              <a:gd name="connsiteX0" fmla="*/ 0 w 13004292"/>
              <a:gd name="connsiteY0" fmla="*/ 7315199 h 7315200"/>
              <a:gd name="connsiteX1" fmla="*/ 13004292 w 13004292"/>
              <a:gd name="connsiteY1" fmla="*/ 7315199 h 7315200"/>
              <a:gd name="connsiteX2" fmla="*/ 13004292 w 13004292"/>
              <a:gd name="connsiteY2" fmla="*/ 0 h 7315200"/>
              <a:gd name="connsiteX3" fmla="*/ 0 w 13004292"/>
              <a:gd name="connsiteY3" fmla="*/ 0 h 7315200"/>
              <a:gd name="connsiteX4" fmla="*/ 0 w 13004292"/>
              <a:gd name="connsiteY4" fmla="*/ 7315199 h 7315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3004292" h="7315200">
                <a:moveTo>
                  <a:pt x="0" y="7315199"/>
                </a:moveTo>
                <a:lnTo>
                  <a:pt x="13004292" y="7315199"/>
                </a:lnTo>
                <a:lnTo>
                  <a:pt x="13004292" y="0"/>
                </a:lnTo>
                <a:lnTo>
                  <a:pt x="0" y="0"/>
                </a:lnTo>
                <a:lnTo>
                  <a:pt x="0" y="73151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15700" y="6667500"/>
            <a:ext cx="1397000" cy="4699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723900" y="7035800"/>
            <a:ext cx="635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996" b="1" dirty="0" smtClean="0">
                <a:solidFill>
                  <a:srgbClr val="7F7F7F"/>
                </a:solidFill>
                <a:latin typeface="Century" pitchFamily="18" charset="0"/>
                <a:cs typeface="Century" pitchFamily="18" charset="0"/>
              </a:rPr>
              <a:t>1</a:t>
            </a:r>
          </a:p>
        </p:txBody>
      </p:sp>
      <p:sp>
        <p:nvSpPr>
          <p:cNvPr id="6" name="TextBox 1"/>
          <p:cNvSpPr txBox="1"/>
          <p:nvPr/>
        </p:nvSpPr>
        <p:spPr>
          <a:xfrm>
            <a:off x="2184400" y="1790700"/>
            <a:ext cx="8432800" cy="1193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9400"/>
              </a:lnSpc>
              <a:tabLst/>
            </a:pPr>
            <a:r>
              <a:rPr lang="en-US" altLang="zh-CN" sz="7202" b="1" dirty="0" smtClean="0">
                <a:solidFill>
                  <a:srgbClr val="262626"/>
                </a:solidFill>
                <a:latin typeface="Microsoft YaHei UI" pitchFamily="18" charset="0"/>
                <a:cs typeface="Microsoft YaHei UI" pitchFamily="18" charset="0"/>
              </a:rPr>
              <a:t>欢迎来到95后的世界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2603500" y="3238500"/>
            <a:ext cx="3949799" cy="507831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600"/>
              </a:lnSpc>
              <a:tabLst/>
            </a:pPr>
            <a:r>
              <a:rPr lang="en-US" altLang="zh-CN" sz="2795" b="1" dirty="0" smtClean="0">
                <a:solidFill>
                  <a:srgbClr val="262626"/>
                </a:solidFill>
                <a:latin typeface="Microsoft YaHei UI" pitchFamily="18" charset="0"/>
                <a:cs typeface="Microsoft YaHei UI" pitchFamily="18" charset="0"/>
              </a:rPr>
              <a:t>——</a:t>
            </a:r>
            <a:r>
              <a:rPr lang="zh-CN" altLang="en-US" sz="2795" b="1" dirty="0">
                <a:solidFill>
                  <a:srgbClr val="262626"/>
                </a:solidFill>
                <a:latin typeface="Microsoft YaHei UI" pitchFamily="18" charset="0"/>
                <a:cs typeface="Microsoft YaHei UI" pitchFamily="18" charset="0"/>
              </a:rPr>
              <a:t>很懂</a:t>
            </a:r>
            <a:r>
              <a:rPr lang="zh-CN" altLang="en-US" sz="2795" b="1" dirty="0" smtClean="0">
                <a:solidFill>
                  <a:srgbClr val="262626"/>
                </a:solidFill>
                <a:latin typeface="Microsoft YaHei UI" pitchFamily="18" charset="0"/>
                <a:cs typeface="Microsoft YaHei UI" pitchFamily="18" charset="0"/>
              </a:rPr>
              <a:t>你项目用户画像</a:t>
            </a:r>
            <a:endParaRPr lang="en-US" altLang="zh-CN" sz="2795" b="1" dirty="0" smtClean="0">
              <a:solidFill>
                <a:srgbClr val="262626"/>
              </a:solidFill>
              <a:latin typeface="Microsoft YaHei UI" pitchFamily="18" charset="0"/>
              <a:cs typeface="Microsoft YaHei UI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3004292" cy="7315200"/>
          </a:xfrm>
          <a:custGeom>
            <a:avLst/>
            <a:gdLst>
              <a:gd name="connsiteX0" fmla="*/ 0 w 13004292"/>
              <a:gd name="connsiteY0" fmla="*/ 7315199 h 7315200"/>
              <a:gd name="connsiteX1" fmla="*/ 13004292 w 13004292"/>
              <a:gd name="connsiteY1" fmla="*/ 7315199 h 7315200"/>
              <a:gd name="connsiteX2" fmla="*/ 13004292 w 13004292"/>
              <a:gd name="connsiteY2" fmla="*/ 0 h 7315200"/>
              <a:gd name="connsiteX3" fmla="*/ 0 w 13004292"/>
              <a:gd name="connsiteY3" fmla="*/ 0 h 7315200"/>
              <a:gd name="connsiteX4" fmla="*/ 0 w 13004292"/>
              <a:gd name="connsiteY4" fmla="*/ 7315199 h 7315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3004292" h="7315200">
                <a:moveTo>
                  <a:pt x="0" y="7315199"/>
                </a:moveTo>
                <a:lnTo>
                  <a:pt x="13004292" y="7315199"/>
                </a:lnTo>
                <a:lnTo>
                  <a:pt x="13004292" y="0"/>
                </a:lnTo>
                <a:lnTo>
                  <a:pt x="0" y="0"/>
                </a:lnTo>
                <a:lnTo>
                  <a:pt x="0" y="73151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5350764" y="2054351"/>
            <a:ext cx="7199376" cy="3959352"/>
          </a:xfrm>
          <a:custGeom>
            <a:avLst/>
            <a:gdLst>
              <a:gd name="connsiteX0" fmla="*/ 0 w 7199376"/>
              <a:gd name="connsiteY0" fmla="*/ 3959351 h 3959352"/>
              <a:gd name="connsiteX1" fmla="*/ 7199376 w 7199376"/>
              <a:gd name="connsiteY1" fmla="*/ 3959351 h 3959352"/>
              <a:gd name="connsiteX2" fmla="*/ 7199376 w 7199376"/>
              <a:gd name="connsiteY2" fmla="*/ 0 h 3959352"/>
              <a:gd name="connsiteX3" fmla="*/ 0 w 7199376"/>
              <a:gd name="connsiteY3" fmla="*/ 0 h 3959352"/>
              <a:gd name="connsiteX4" fmla="*/ 0 w 7199376"/>
              <a:gd name="connsiteY4" fmla="*/ 3959351 h 39593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199376" h="3959352">
                <a:moveTo>
                  <a:pt x="0" y="3959351"/>
                </a:moveTo>
                <a:lnTo>
                  <a:pt x="7199376" y="3959351"/>
                </a:lnTo>
                <a:lnTo>
                  <a:pt x="7199376" y="0"/>
                </a:lnTo>
                <a:lnTo>
                  <a:pt x="0" y="0"/>
                </a:lnTo>
                <a:lnTo>
                  <a:pt x="0" y="3959351"/>
                </a:lnTo>
              </a:path>
            </a:pathLst>
          </a:custGeom>
          <a:solidFill>
            <a:srgbClr val="F2F2F2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5762244" y="3916679"/>
            <a:ext cx="245364" cy="1222248"/>
          </a:xfrm>
          <a:custGeom>
            <a:avLst/>
            <a:gdLst>
              <a:gd name="connsiteX0" fmla="*/ 0 w 245364"/>
              <a:gd name="connsiteY0" fmla="*/ 0 h 1222248"/>
              <a:gd name="connsiteX1" fmla="*/ 245364 w 245364"/>
              <a:gd name="connsiteY1" fmla="*/ 0 h 1222248"/>
              <a:gd name="connsiteX2" fmla="*/ 245364 w 245364"/>
              <a:gd name="connsiteY2" fmla="*/ 1222248 h 1222248"/>
              <a:gd name="connsiteX3" fmla="*/ 0 w 245364"/>
              <a:gd name="connsiteY3" fmla="*/ 1222248 h 1222248"/>
              <a:gd name="connsiteX4" fmla="*/ 0 w 245364"/>
              <a:gd name="connsiteY4" fmla="*/ 0 h 122224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45364" h="1222248">
                <a:moveTo>
                  <a:pt x="0" y="0"/>
                </a:moveTo>
                <a:lnTo>
                  <a:pt x="245364" y="0"/>
                </a:lnTo>
                <a:lnTo>
                  <a:pt x="245364" y="1222248"/>
                </a:lnTo>
                <a:lnTo>
                  <a:pt x="0" y="1222248"/>
                </a:lnTo>
                <a:lnTo>
                  <a:pt x="0" y="0"/>
                </a:lnTo>
              </a:path>
            </a:pathLst>
          </a:custGeom>
          <a:solidFill>
            <a:srgbClr val="00B0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6624828" y="4587240"/>
            <a:ext cx="246888" cy="551688"/>
          </a:xfrm>
          <a:custGeom>
            <a:avLst/>
            <a:gdLst>
              <a:gd name="connsiteX0" fmla="*/ 0 w 246888"/>
              <a:gd name="connsiteY0" fmla="*/ 0 h 551688"/>
              <a:gd name="connsiteX1" fmla="*/ 246888 w 246888"/>
              <a:gd name="connsiteY1" fmla="*/ 0 h 551688"/>
              <a:gd name="connsiteX2" fmla="*/ 246888 w 246888"/>
              <a:gd name="connsiteY2" fmla="*/ 551688 h 551688"/>
              <a:gd name="connsiteX3" fmla="*/ 0 w 246888"/>
              <a:gd name="connsiteY3" fmla="*/ 551688 h 551688"/>
              <a:gd name="connsiteX4" fmla="*/ 0 w 246888"/>
              <a:gd name="connsiteY4" fmla="*/ 0 h 55168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46888" h="551688">
                <a:moveTo>
                  <a:pt x="0" y="0"/>
                </a:moveTo>
                <a:lnTo>
                  <a:pt x="246888" y="0"/>
                </a:lnTo>
                <a:lnTo>
                  <a:pt x="246888" y="551688"/>
                </a:lnTo>
                <a:lnTo>
                  <a:pt x="0" y="551688"/>
                </a:lnTo>
                <a:lnTo>
                  <a:pt x="0" y="0"/>
                </a:lnTo>
              </a:path>
            </a:pathLst>
          </a:custGeom>
          <a:solidFill>
            <a:srgbClr val="00B0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3"/>
          <p:cNvSpPr/>
          <p:nvPr/>
        </p:nvSpPr>
        <p:spPr>
          <a:xfrm>
            <a:off x="7488935" y="4436364"/>
            <a:ext cx="246888" cy="702564"/>
          </a:xfrm>
          <a:custGeom>
            <a:avLst/>
            <a:gdLst>
              <a:gd name="connsiteX0" fmla="*/ 0 w 246888"/>
              <a:gd name="connsiteY0" fmla="*/ 0 h 702564"/>
              <a:gd name="connsiteX1" fmla="*/ 246888 w 246888"/>
              <a:gd name="connsiteY1" fmla="*/ 0 h 702564"/>
              <a:gd name="connsiteX2" fmla="*/ 246888 w 246888"/>
              <a:gd name="connsiteY2" fmla="*/ 702564 h 702564"/>
              <a:gd name="connsiteX3" fmla="*/ 0 w 246888"/>
              <a:gd name="connsiteY3" fmla="*/ 702564 h 702564"/>
              <a:gd name="connsiteX4" fmla="*/ 0 w 246888"/>
              <a:gd name="connsiteY4" fmla="*/ 0 h 70256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46888" h="702564">
                <a:moveTo>
                  <a:pt x="0" y="0"/>
                </a:moveTo>
                <a:lnTo>
                  <a:pt x="246888" y="0"/>
                </a:lnTo>
                <a:lnTo>
                  <a:pt x="246888" y="702564"/>
                </a:lnTo>
                <a:lnTo>
                  <a:pt x="0" y="702564"/>
                </a:lnTo>
                <a:lnTo>
                  <a:pt x="0" y="0"/>
                </a:lnTo>
              </a:path>
            </a:pathLst>
          </a:custGeom>
          <a:solidFill>
            <a:srgbClr val="00B0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reeform 3"/>
          <p:cNvSpPr/>
          <p:nvPr/>
        </p:nvSpPr>
        <p:spPr>
          <a:xfrm>
            <a:off x="8351519" y="4581144"/>
            <a:ext cx="246888" cy="557784"/>
          </a:xfrm>
          <a:custGeom>
            <a:avLst/>
            <a:gdLst>
              <a:gd name="connsiteX0" fmla="*/ 0 w 246888"/>
              <a:gd name="connsiteY0" fmla="*/ 0 h 557784"/>
              <a:gd name="connsiteX1" fmla="*/ 246888 w 246888"/>
              <a:gd name="connsiteY1" fmla="*/ 0 h 557784"/>
              <a:gd name="connsiteX2" fmla="*/ 246888 w 246888"/>
              <a:gd name="connsiteY2" fmla="*/ 557784 h 557784"/>
              <a:gd name="connsiteX3" fmla="*/ 0 w 246888"/>
              <a:gd name="connsiteY3" fmla="*/ 557784 h 557784"/>
              <a:gd name="connsiteX4" fmla="*/ 0 w 246888"/>
              <a:gd name="connsiteY4" fmla="*/ 0 h 5577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46888" h="557784">
                <a:moveTo>
                  <a:pt x="0" y="0"/>
                </a:moveTo>
                <a:lnTo>
                  <a:pt x="246888" y="0"/>
                </a:lnTo>
                <a:lnTo>
                  <a:pt x="246888" y="557784"/>
                </a:lnTo>
                <a:lnTo>
                  <a:pt x="0" y="557784"/>
                </a:lnTo>
                <a:lnTo>
                  <a:pt x="0" y="0"/>
                </a:lnTo>
              </a:path>
            </a:pathLst>
          </a:custGeom>
          <a:solidFill>
            <a:srgbClr val="00B0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3"/>
          <p:cNvSpPr/>
          <p:nvPr/>
        </p:nvSpPr>
        <p:spPr>
          <a:xfrm>
            <a:off x="9215628" y="4602479"/>
            <a:ext cx="246888" cy="536448"/>
          </a:xfrm>
          <a:custGeom>
            <a:avLst/>
            <a:gdLst>
              <a:gd name="connsiteX0" fmla="*/ 0 w 246888"/>
              <a:gd name="connsiteY0" fmla="*/ 0 h 536448"/>
              <a:gd name="connsiteX1" fmla="*/ 246888 w 246888"/>
              <a:gd name="connsiteY1" fmla="*/ 0 h 536448"/>
              <a:gd name="connsiteX2" fmla="*/ 246888 w 246888"/>
              <a:gd name="connsiteY2" fmla="*/ 536448 h 536448"/>
              <a:gd name="connsiteX3" fmla="*/ 0 w 246888"/>
              <a:gd name="connsiteY3" fmla="*/ 536448 h 536448"/>
              <a:gd name="connsiteX4" fmla="*/ 0 w 246888"/>
              <a:gd name="connsiteY4" fmla="*/ 0 h 53644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46888" h="536448">
                <a:moveTo>
                  <a:pt x="0" y="0"/>
                </a:moveTo>
                <a:lnTo>
                  <a:pt x="246888" y="0"/>
                </a:lnTo>
                <a:lnTo>
                  <a:pt x="246888" y="536448"/>
                </a:lnTo>
                <a:lnTo>
                  <a:pt x="0" y="536448"/>
                </a:lnTo>
                <a:lnTo>
                  <a:pt x="0" y="0"/>
                </a:lnTo>
              </a:path>
            </a:pathLst>
          </a:custGeom>
          <a:solidFill>
            <a:srgbClr val="00B0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3"/>
          <p:cNvSpPr/>
          <p:nvPr/>
        </p:nvSpPr>
        <p:spPr>
          <a:xfrm>
            <a:off x="10078211" y="4486655"/>
            <a:ext cx="246888" cy="652272"/>
          </a:xfrm>
          <a:custGeom>
            <a:avLst/>
            <a:gdLst>
              <a:gd name="connsiteX0" fmla="*/ 0 w 246888"/>
              <a:gd name="connsiteY0" fmla="*/ 0 h 652272"/>
              <a:gd name="connsiteX1" fmla="*/ 246888 w 246888"/>
              <a:gd name="connsiteY1" fmla="*/ 0 h 652272"/>
              <a:gd name="connsiteX2" fmla="*/ 246888 w 246888"/>
              <a:gd name="connsiteY2" fmla="*/ 652272 h 652272"/>
              <a:gd name="connsiteX3" fmla="*/ 0 w 246888"/>
              <a:gd name="connsiteY3" fmla="*/ 652272 h 652272"/>
              <a:gd name="connsiteX4" fmla="*/ 0 w 246888"/>
              <a:gd name="connsiteY4" fmla="*/ 0 h 65227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46888" h="652272">
                <a:moveTo>
                  <a:pt x="0" y="0"/>
                </a:moveTo>
                <a:lnTo>
                  <a:pt x="246888" y="0"/>
                </a:lnTo>
                <a:lnTo>
                  <a:pt x="246888" y="652272"/>
                </a:lnTo>
                <a:lnTo>
                  <a:pt x="0" y="652272"/>
                </a:lnTo>
                <a:lnTo>
                  <a:pt x="0" y="0"/>
                </a:lnTo>
              </a:path>
            </a:pathLst>
          </a:custGeom>
          <a:solidFill>
            <a:srgbClr val="00B0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3"/>
          <p:cNvSpPr/>
          <p:nvPr/>
        </p:nvSpPr>
        <p:spPr>
          <a:xfrm>
            <a:off x="10942319" y="4450079"/>
            <a:ext cx="246888" cy="688848"/>
          </a:xfrm>
          <a:custGeom>
            <a:avLst/>
            <a:gdLst>
              <a:gd name="connsiteX0" fmla="*/ 0 w 246888"/>
              <a:gd name="connsiteY0" fmla="*/ 0 h 688848"/>
              <a:gd name="connsiteX1" fmla="*/ 246888 w 246888"/>
              <a:gd name="connsiteY1" fmla="*/ 0 h 688848"/>
              <a:gd name="connsiteX2" fmla="*/ 246888 w 246888"/>
              <a:gd name="connsiteY2" fmla="*/ 688848 h 688848"/>
              <a:gd name="connsiteX3" fmla="*/ 0 w 246888"/>
              <a:gd name="connsiteY3" fmla="*/ 688848 h 688848"/>
              <a:gd name="connsiteX4" fmla="*/ 0 w 246888"/>
              <a:gd name="connsiteY4" fmla="*/ 0 h 68884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46888" h="688848">
                <a:moveTo>
                  <a:pt x="0" y="0"/>
                </a:moveTo>
                <a:lnTo>
                  <a:pt x="246888" y="0"/>
                </a:lnTo>
                <a:lnTo>
                  <a:pt x="246888" y="688848"/>
                </a:lnTo>
                <a:lnTo>
                  <a:pt x="0" y="688848"/>
                </a:lnTo>
                <a:lnTo>
                  <a:pt x="0" y="0"/>
                </a:lnTo>
              </a:path>
            </a:pathLst>
          </a:custGeom>
          <a:solidFill>
            <a:srgbClr val="00B0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3"/>
          <p:cNvSpPr/>
          <p:nvPr/>
        </p:nvSpPr>
        <p:spPr>
          <a:xfrm>
            <a:off x="11804904" y="2694432"/>
            <a:ext cx="246888" cy="2444496"/>
          </a:xfrm>
          <a:custGeom>
            <a:avLst/>
            <a:gdLst>
              <a:gd name="connsiteX0" fmla="*/ 0 w 246888"/>
              <a:gd name="connsiteY0" fmla="*/ 0 h 2444496"/>
              <a:gd name="connsiteX1" fmla="*/ 246888 w 246888"/>
              <a:gd name="connsiteY1" fmla="*/ 0 h 2444496"/>
              <a:gd name="connsiteX2" fmla="*/ 246888 w 246888"/>
              <a:gd name="connsiteY2" fmla="*/ 2444496 h 2444496"/>
              <a:gd name="connsiteX3" fmla="*/ 0 w 246888"/>
              <a:gd name="connsiteY3" fmla="*/ 2444496 h 2444496"/>
              <a:gd name="connsiteX4" fmla="*/ 0 w 246888"/>
              <a:gd name="connsiteY4" fmla="*/ 0 h 24444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46888" h="2444496">
                <a:moveTo>
                  <a:pt x="0" y="0"/>
                </a:moveTo>
                <a:lnTo>
                  <a:pt x="246888" y="0"/>
                </a:lnTo>
                <a:lnTo>
                  <a:pt x="246888" y="2444496"/>
                </a:lnTo>
                <a:lnTo>
                  <a:pt x="0" y="2444496"/>
                </a:lnTo>
                <a:lnTo>
                  <a:pt x="0" y="0"/>
                </a:lnTo>
              </a:path>
            </a:pathLst>
          </a:custGeom>
          <a:solidFill>
            <a:srgbClr val="00B0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 3"/>
          <p:cNvSpPr/>
          <p:nvPr/>
        </p:nvSpPr>
        <p:spPr>
          <a:xfrm>
            <a:off x="6007608" y="4152900"/>
            <a:ext cx="246888" cy="986028"/>
          </a:xfrm>
          <a:custGeom>
            <a:avLst/>
            <a:gdLst>
              <a:gd name="connsiteX0" fmla="*/ 0 w 246888"/>
              <a:gd name="connsiteY0" fmla="*/ 0 h 986028"/>
              <a:gd name="connsiteX1" fmla="*/ 246888 w 246888"/>
              <a:gd name="connsiteY1" fmla="*/ 0 h 986028"/>
              <a:gd name="connsiteX2" fmla="*/ 246888 w 246888"/>
              <a:gd name="connsiteY2" fmla="*/ 986028 h 986028"/>
              <a:gd name="connsiteX3" fmla="*/ 0 w 246888"/>
              <a:gd name="connsiteY3" fmla="*/ 986028 h 986028"/>
              <a:gd name="connsiteX4" fmla="*/ 0 w 246888"/>
              <a:gd name="connsiteY4" fmla="*/ 0 h 98602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46888" h="986028">
                <a:moveTo>
                  <a:pt x="0" y="0"/>
                </a:moveTo>
                <a:lnTo>
                  <a:pt x="246888" y="0"/>
                </a:lnTo>
                <a:lnTo>
                  <a:pt x="246888" y="986028"/>
                </a:lnTo>
                <a:lnTo>
                  <a:pt x="0" y="986028"/>
                </a:lnTo>
                <a:lnTo>
                  <a:pt x="0" y="0"/>
                </a:lnTo>
              </a:path>
            </a:pathLst>
          </a:custGeom>
          <a:solidFill>
            <a:srgbClr val="E46C0A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Freeform 3"/>
          <p:cNvSpPr/>
          <p:nvPr/>
        </p:nvSpPr>
        <p:spPr>
          <a:xfrm>
            <a:off x="6871716" y="3479291"/>
            <a:ext cx="246888" cy="1659636"/>
          </a:xfrm>
          <a:custGeom>
            <a:avLst/>
            <a:gdLst>
              <a:gd name="connsiteX0" fmla="*/ 0 w 246888"/>
              <a:gd name="connsiteY0" fmla="*/ 0 h 1659636"/>
              <a:gd name="connsiteX1" fmla="*/ 246888 w 246888"/>
              <a:gd name="connsiteY1" fmla="*/ 0 h 1659636"/>
              <a:gd name="connsiteX2" fmla="*/ 246888 w 246888"/>
              <a:gd name="connsiteY2" fmla="*/ 1659636 h 1659636"/>
              <a:gd name="connsiteX3" fmla="*/ 0 w 246888"/>
              <a:gd name="connsiteY3" fmla="*/ 1659636 h 1659636"/>
              <a:gd name="connsiteX4" fmla="*/ 0 w 246888"/>
              <a:gd name="connsiteY4" fmla="*/ 0 h 165963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46888" h="1659636">
                <a:moveTo>
                  <a:pt x="0" y="0"/>
                </a:moveTo>
                <a:lnTo>
                  <a:pt x="246888" y="0"/>
                </a:lnTo>
                <a:lnTo>
                  <a:pt x="246888" y="1659636"/>
                </a:lnTo>
                <a:lnTo>
                  <a:pt x="0" y="1659636"/>
                </a:lnTo>
                <a:lnTo>
                  <a:pt x="0" y="0"/>
                </a:lnTo>
              </a:path>
            </a:pathLst>
          </a:custGeom>
          <a:solidFill>
            <a:srgbClr val="E46C0A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3"/>
          <p:cNvSpPr/>
          <p:nvPr/>
        </p:nvSpPr>
        <p:spPr>
          <a:xfrm>
            <a:off x="7735823" y="3736847"/>
            <a:ext cx="245364" cy="1402080"/>
          </a:xfrm>
          <a:custGeom>
            <a:avLst/>
            <a:gdLst>
              <a:gd name="connsiteX0" fmla="*/ 0 w 245364"/>
              <a:gd name="connsiteY0" fmla="*/ 0 h 1402080"/>
              <a:gd name="connsiteX1" fmla="*/ 245364 w 245364"/>
              <a:gd name="connsiteY1" fmla="*/ 0 h 1402080"/>
              <a:gd name="connsiteX2" fmla="*/ 245364 w 245364"/>
              <a:gd name="connsiteY2" fmla="*/ 1402080 h 1402080"/>
              <a:gd name="connsiteX3" fmla="*/ 0 w 245364"/>
              <a:gd name="connsiteY3" fmla="*/ 1402080 h 1402080"/>
              <a:gd name="connsiteX4" fmla="*/ 0 w 245364"/>
              <a:gd name="connsiteY4" fmla="*/ 0 h 140208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45364" h="1402080">
                <a:moveTo>
                  <a:pt x="0" y="0"/>
                </a:moveTo>
                <a:lnTo>
                  <a:pt x="245364" y="0"/>
                </a:lnTo>
                <a:lnTo>
                  <a:pt x="245364" y="1402080"/>
                </a:lnTo>
                <a:lnTo>
                  <a:pt x="0" y="1402080"/>
                </a:lnTo>
                <a:lnTo>
                  <a:pt x="0" y="0"/>
                </a:lnTo>
              </a:path>
            </a:pathLst>
          </a:custGeom>
          <a:solidFill>
            <a:srgbClr val="E46C0A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 3"/>
          <p:cNvSpPr/>
          <p:nvPr/>
        </p:nvSpPr>
        <p:spPr>
          <a:xfrm>
            <a:off x="8598407" y="4094988"/>
            <a:ext cx="246888" cy="1043940"/>
          </a:xfrm>
          <a:custGeom>
            <a:avLst/>
            <a:gdLst>
              <a:gd name="connsiteX0" fmla="*/ 0 w 246888"/>
              <a:gd name="connsiteY0" fmla="*/ 0 h 1043940"/>
              <a:gd name="connsiteX1" fmla="*/ 246888 w 246888"/>
              <a:gd name="connsiteY1" fmla="*/ 0 h 1043940"/>
              <a:gd name="connsiteX2" fmla="*/ 246888 w 246888"/>
              <a:gd name="connsiteY2" fmla="*/ 1043940 h 1043940"/>
              <a:gd name="connsiteX3" fmla="*/ 0 w 246888"/>
              <a:gd name="connsiteY3" fmla="*/ 1043940 h 1043940"/>
              <a:gd name="connsiteX4" fmla="*/ 0 w 246888"/>
              <a:gd name="connsiteY4" fmla="*/ 0 h 10439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46888" h="1043940">
                <a:moveTo>
                  <a:pt x="0" y="0"/>
                </a:moveTo>
                <a:lnTo>
                  <a:pt x="246888" y="0"/>
                </a:lnTo>
                <a:lnTo>
                  <a:pt x="246888" y="1043940"/>
                </a:lnTo>
                <a:lnTo>
                  <a:pt x="0" y="1043940"/>
                </a:lnTo>
                <a:lnTo>
                  <a:pt x="0" y="0"/>
                </a:lnTo>
              </a:path>
            </a:pathLst>
          </a:custGeom>
          <a:solidFill>
            <a:srgbClr val="E46C0A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 3"/>
          <p:cNvSpPr/>
          <p:nvPr/>
        </p:nvSpPr>
        <p:spPr>
          <a:xfrm>
            <a:off x="9462516" y="4389120"/>
            <a:ext cx="245364" cy="749808"/>
          </a:xfrm>
          <a:custGeom>
            <a:avLst/>
            <a:gdLst>
              <a:gd name="connsiteX0" fmla="*/ 0 w 245364"/>
              <a:gd name="connsiteY0" fmla="*/ 0 h 749808"/>
              <a:gd name="connsiteX1" fmla="*/ 245364 w 245364"/>
              <a:gd name="connsiteY1" fmla="*/ 0 h 749808"/>
              <a:gd name="connsiteX2" fmla="*/ 245364 w 245364"/>
              <a:gd name="connsiteY2" fmla="*/ 749808 h 749808"/>
              <a:gd name="connsiteX3" fmla="*/ 0 w 245364"/>
              <a:gd name="connsiteY3" fmla="*/ 749808 h 749808"/>
              <a:gd name="connsiteX4" fmla="*/ 0 w 245364"/>
              <a:gd name="connsiteY4" fmla="*/ 0 h 7498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45364" h="749808">
                <a:moveTo>
                  <a:pt x="0" y="0"/>
                </a:moveTo>
                <a:lnTo>
                  <a:pt x="245364" y="0"/>
                </a:lnTo>
                <a:lnTo>
                  <a:pt x="245364" y="749808"/>
                </a:lnTo>
                <a:lnTo>
                  <a:pt x="0" y="749808"/>
                </a:lnTo>
                <a:lnTo>
                  <a:pt x="0" y="0"/>
                </a:lnTo>
              </a:path>
            </a:pathLst>
          </a:custGeom>
          <a:solidFill>
            <a:srgbClr val="E46C0A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Freeform 3"/>
          <p:cNvSpPr/>
          <p:nvPr/>
        </p:nvSpPr>
        <p:spPr>
          <a:xfrm>
            <a:off x="10325100" y="4565903"/>
            <a:ext cx="246888" cy="573024"/>
          </a:xfrm>
          <a:custGeom>
            <a:avLst/>
            <a:gdLst>
              <a:gd name="connsiteX0" fmla="*/ 0 w 246888"/>
              <a:gd name="connsiteY0" fmla="*/ 0 h 573024"/>
              <a:gd name="connsiteX1" fmla="*/ 246888 w 246888"/>
              <a:gd name="connsiteY1" fmla="*/ 0 h 573024"/>
              <a:gd name="connsiteX2" fmla="*/ 246888 w 246888"/>
              <a:gd name="connsiteY2" fmla="*/ 573024 h 573024"/>
              <a:gd name="connsiteX3" fmla="*/ 0 w 246888"/>
              <a:gd name="connsiteY3" fmla="*/ 573024 h 573024"/>
              <a:gd name="connsiteX4" fmla="*/ 0 w 246888"/>
              <a:gd name="connsiteY4" fmla="*/ 0 h 57302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46888" h="573024">
                <a:moveTo>
                  <a:pt x="0" y="0"/>
                </a:moveTo>
                <a:lnTo>
                  <a:pt x="246888" y="0"/>
                </a:lnTo>
                <a:lnTo>
                  <a:pt x="246888" y="573024"/>
                </a:lnTo>
                <a:lnTo>
                  <a:pt x="0" y="573024"/>
                </a:lnTo>
                <a:lnTo>
                  <a:pt x="0" y="0"/>
                </a:lnTo>
              </a:path>
            </a:pathLst>
          </a:custGeom>
          <a:solidFill>
            <a:srgbClr val="E46C0A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 3"/>
          <p:cNvSpPr/>
          <p:nvPr/>
        </p:nvSpPr>
        <p:spPr>
          <a:xfrm>
            <a:off x="11189207" y="4652771"/>
            <a:ext cx="245364" cy="486156"/>
          </a:xfrm>
          <a:custGeom>
            <a:avLst/>
            <a:gdLst>
              <a:gd name="connsiteX0" fmla="*/ 0 w 245364"/>
              <a:gd name="connsiteY0" fmla="*/ 0 h 486156"/>
              <a:gd name="connsiteX1" fmla="*/ 245364 w 245364"/>
              <a:gd name="connsiteY1" fmla="*/ 0 h 486156"/>
              <a:gd name="connsiteX2" fmla="*/ 245364 w 245364"/>
              <a:gd name="connsiteY2" fmla="*/ 486156 h 486156"/>
              <a:gd name="connsiteX3" fmla="*/ 0 w 245364"/>
              <a:gd name="connsiteY3" fmla="*/ 486156 h 486156"/>
              <a:gd name="connsiteX4" fmla="*/ 0 w 245364"/>
              <a:gd name="connsiteY4" fmla="*/ 0 h 48615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45364" h="486156">
                <a:moveTo>
                  <a:pt x="0" y="0"/>
                </a:moveTo>
                <a:lnTo>
                  <a:pt x="245364" y="0"/>
                </a:lnTo>
                <a:lnTo>
                  <a:pt x="245364" y="486156"/>
                </a:lnTo>
                <a:lnTo>
                  <a:pt x="0" y="486156"/>
                </a:lnTo>
                <a:lnTo>
                  <a:pt x="0" y="0"/>
                </a:lnTo>
              </a:path>
            </a:pathLst>
          </a:custGeom>
          <a:solidFill>
            <a:srgbClr val="E46C0A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 3"/>
          <p:cNvSpPr/>
          <p:nvPr/>
        </p:nvSpPr>
        <p:spPr>
          <a:xfrm>
            <a:off x="12051792" y="4686300"/>
            <a:ext cx="246888" cy="452628"/>
          </a:xfrm>
          <a:custGeom>
            <a:avLst/>
            <a:gdLst>
              <a:gd name="connsiteX0" fmla="*/ 0 w 246888"/>
              <a:gd name="connsiteY0" fmla="*/ 0 h 452628"/>
              <a:gd name="connsiteX1" fmla="*/ 246888 w 246888"/>
              <a:gd name="connsiteY1" fmla="*/ 0 h 452628"/>
              <a:gd name="connsiteX2" fmla="*/ 246888 w 246888"/>
              <a:gd name="connsiteY2" fmla="*/ 452628 h 452628"/>
              <a:gd name="connsiteX3" fmla="*/ 0 w 246888"/>
              <a:gd name="connsiteY3" fmla="*/ 452628 h 452628"/>
              <a:gd name="connsiteX4" fmla="*/ 0 w 246888"/>
              <a:gd name="connsiteY4" fmla="*/ 0 h 45262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46888" h="452628">
                <a:moveTo>
                  <a:pt x="0" y="0"/>
                </a:moveTo>
                <a:lnTo>
                  <a:pt x="246888" y="0"/>
                </a:lnTo>
                <a:lnTo>
                  <a:pt x="246888" y="452628"/>
                </a:lnTo>
                <a:lnTo>
                  <a:pt x="0" y="452628"/>
                </a:lnTo>
                <a:lnTo>
                  <a:pt x="0" y="0"/>
                </a:lnTo>
              </a:path>
            </a:pathLst>
          </a:custGeom>
          <a:solidFill>
            <a:srgbClr val="E46C0A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Freeform 3"/>
          <p:cNvSpPr/>
          <p:nvPr/>
        </p:nvSpPr>
        <p:spPr>
          <a:xfrm>
            <a:off x="5569965" y="5132578"/>
            <a:ext cx="6919468" cy="21844"/>
          </a:xfrm>
          <a:custGeom>
            <a:avLst/>
            <a:gdLst>
              <a:gd name="connsiteX0" fmla="*/ 6350 w 6919468"/>
              <a:gd name="connsiteY0" fmla="*/ 6350 h 21844"/>
              <a:gd name="connsiteX1" fmla="*/ 6913117 w 6919468"/>
              <a:gd name="connsiteY1" fmla="*/ 6350 h 2184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6919468" h="21844">
                <a:moveTo>
                  <a:pt x="6350" y="6350"/>
                </a:moveTo>
                <a:lnTo>
                  <a:pt x="6913117" y="6350"/>
                </a:lnTo>
              </a:path>
            </a:pathLst>
          </a:custGeom>
          <a:ln w="12700">
            <a:solidFill>
              <a:srgbClr val="63636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Freeform 3"/>
          <p:cNvSpPr/>
          <p:nvPr/>
        </p:nvSpPr>
        <p:spPr>
          <a:xfrm>
            <a:off x="5569965" y="5132578"/>
            <a:ext cx="21844" cy="73660"/>
          </a:xfrm>
          <a:custGeom>
            <a:avLst/>
            <a:gdLst>
              <a:gd name="connsiteX0" fmla="*/ 6350 w 21844"/>
              <a:gd name="connsiteY0" fmla="*/ 6350 h 73660"/>
              <a:gd name="connsiteX1" fmla="*/ 6350 w 21844"/>
              <a:gd name="connsiteY1" fmla="*/ 67309 h 7366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844" h="73660">
                <a:moveTo>
                  <a:pt x="6350" y="6350"/>
                </a:moveTo>
                <a:lnTo>
                  <a:pt x="6350" y="67309"/>
                </a:lnTo>
              </a:path>
            </a:pathLst>
          </a:custGeom>
          <a:ln w="12700">
            <a:solidFill>
              <a:srgbClr val="63636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Freeform 3"/>
          <p:cNvSpPr/>
          <p:nvPr/>
        </p:nvSpPr>
        <p:spPr>
          <a:xfrm>
            <a:off x="6434073" y="5132578"/>
            <a:ext cx="21844" cy="73660"/>
          </a:xfrm>
          <a:custGeom>
            <a:avLst/>
            <a:gdLst>
              <a:gd name="connsiteX0" fmla="*/ 6350 w 21844"/>
              <a:gd name="connsiteY0" fmla="*/ 6350 h 73660"/>
              <a:gd name="connsiteX1" fmla="*/ 6350 w 21844"/>
              <a:gd name="connsiteY1" fmla="*/ 67309 h 7366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844" h="73660">
                <a:moveTo>
                  <a:pt x="6350" y="6350"/>
                </a:moveTo>
                <a:lnTo>
                  <a:pt x="6350" y="67309"/>
                </a:lnTo>
              </a:path>
            </a:pathLst>
          </a:custGeom>
          <a:ln w="12700">
            <a:solidFill>
              <a:srgbClr val="63636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Freeform 3"/>
          <p:cNvSpPr/>
          <p:nvPr/>
        </p:nvSpPr>
        <p:spPr>
          <a:xfrm>
            <a:off x="7296657" y="5132578"/>
            <a:ext cx="21844" cy="73660"/>
          </a:xfrm>
          <a:custGeom>
            <a:avLst/>
            <a:gdLst>
              <a:gd name="connsiteX0" fmla="*/ 6350 w 21844"/>
              <a:gd name="connsiteY0" fmla="*/ 6350 h 73660"/>
              <a:gd name="connsiteX1" fmla="*/ 6350 w 21844"/>
              <a:gd name="connsiteY1" fmla="*/ 67309 h 7366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844" h="73660">
                <a:moveTo>
                  <a:pt x="6350" y="6350"/>
                </a:moveTo>
                <a:lnTo>
                  <a:pt x="6350" y="67309"/>
                </a:lnTo>
              </a:path>
            </a:pathLst>
          </a:custGeom>
          <a:ln w="12700">
            <a:solidFill>
              <a:srgbClr val="63636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 3"/>
          <p:cNvSpPr/>
          <p:nvPr/>
        </p:nvSpPr>
        <p:spPr>
          <a:xfrm>
            <a:off x="8160766" y="5132578"/>
            <a:ext cx="21844" cy="73660"/>
          </a:xfrm>
          <a:custGeom>
            <a:avLst/>
            <a:gdLst>
              <a:gd name="connsiteX0" fmla="*/ 6350 w 21844"/>
              <a:gd name="connsiteY0" fmla="*/ 6350 h 73660"/>
              <a:gd name="connsiteX1" fmla="*/ 6350 w 21844"/>
              <a:gd name="connsiteY1" fmla="*/ 67309 h 7366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844" h="73660">
                <a:moveTo>
                  <a:pt x="6350" y="6350"/>
                </a:moveTo>
                <a:lnTo>
                  <a:pt x="6350" y="67309"/>
                </a:lnTo>
              </a:path>
            </a:pathLst>
          </a:custGeom>
          <a:ln w="12700">
            <a:solidFill>
              <a:srgbClr val="63636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Freeform 3"/>
          <p:cNvSpPr/>
          <p:nvPr/>
        </p:nvSpPr>
        <p:spPr>
          <a:xfrm>
            <a:off x="9023350" y="5132578"/>
            <a:ext cx="21844" cy="73660"/>
          </a:xfrm>
          <a:custGeom>
            <a:avLst/>
            <a:gdLst>
              <a:gd name="connsiteX0" fmla="*/ 6350 w 21844"/>
              <a:gd name="connsiteY0" fmla="*/ 6350 h 73660"/>
              <a:gd name="connsiteX1" fmla="*/ 6350 w 21844"/>
              <a:gd name="connsiteY1" fmla="*/ 67309 h 7366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844" h="73660">
                <a:moveTo>
                  <a:pt x="6350" y="6350"/>
                </a:moveTo>
                <a:lnTo>
                  <a:pt x="6350" y="67309"/>
                </a:lnTo>
              </a:path>
            </a:pathLst>
          </a:custGeom>
          <a:ln w="12700">
            <a:solidFill>
              <a:srgbClr val="63636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Freeform 3"/>
          <p:cNvSpPr/>
          <p:nvPr/>
        </p:nvSpPr>
        <p:spPr>
          <a:xfrm>
            <a:off x="9887457" y="5132578"/>
            <a:ext cx="21844" cy="73660"/>
          </a:xfrm>
          <a:custGeom>
            <a:avLst/>
            <a:gdLst>
              <a:gd name="connsiteX0" fmla="*/ 6350 w 21844"/>
              <a:gd name="connsiteY0" fmla="*/ 6350 h 73660"/>
              <a:gd name="connsiteX1" fmla="*/ 6350 w 21844"/>
              <a:gd name="connsiteY1" fmla="*/ 67309 h 7366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844" h="73660">
                <a:moveTo>
                  <a:pt x="6350" y="6350"/>
                </a:moveTo>
                <a:lnTo>
                  <a:pt x="6350" y="67309"/>
                </a:lnTo>
              </a:path>
            </a:pathLst>
          </a:custGeom>
          <a:ln w="12700">
            <a:solidFill>
              <a:srgbClr val="63636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Freeform 3"/>
          <p:cNvSpPr/>
          <p:nvPr/>
        </p:nvSpPr>
        <p:spPr>
          <a:xfrm>
            <a:off x="10750042" y="5132578"/>
            <a:ext cx="21844" cy="73660"/>
          </a:xfrm>
          <a:custGeom>
            <a:avLst/>
            <a:gdLst>
              <a:gd name="connsiteX0" fmla="*/ 6350 w 21844"/>
              <a:gd name="connsiteY0" fmla="*/ 6350 h 73660"/>
              <a:gd name="connsiteX1" fmla="*/ 6350 w 21844"/>
              <a:gd name="connsiteY1" fmla="*/ 67309 h 7366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844" h="73660">
                <a:moveTo>
                  <a:pt x="6350" y="6350"/>
                </a:moveTo>
                <a:lnTo>
                  <a:pt x="6350" y="67309"/>
                </a:lnTo>
              </a:path>
            </a:pathLst>
          </a:custGeom>
          <a:ln w="12700">
            <a:solidFill>
              <a:srgbClr val="63636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Freeform 3"/>
          <p:cNvSpPr/>
          <p:nvPr/>
        </p:nvSpPr>
        <p:spPr>
          <a:xfrm>
            <a:off x="11614150" y="5132578"/>
            <a:ext cx="21844" cy="73660"/>
          </a:xfrm>
          <a:custGeom>
            <a:avLst/>
            <a:gdLst>
              <a:gd name="connsiteX0" fmla="*/ 6350 w 21844"/>
              <a:gd name="connsiteY0" fmla="*/ 6350 h 73660"/>
              <a:gd name="connsiteX1" fmla="*/ 6350 w 21844"/>
              <a:gd name="connsiteY1" fmla="*/ 67309 h 7366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844" h="73660">
                <a:moveTo>
                  <a:pt x="6350" y="6350"/>
                </a:moveTo>
                <a:lnTo>
                  <a:pt x="6350" y="67309"/>
                </a:lnTo>
              </a:path>
            </a:pathLst>
          </a:custGeom>
          <a:ln w="12700">
            <a:solidFill>
              <a:srgbClr val="63636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Freeform 3"/>
          <p:cNvSpPr/>
          <p:nvPr/>
        </p:nvSpPr>
        <p:spPr>
          <a:xfrm>
            <a:off x="12476733" y="5132578"/>
            <a:ext cx="21844" cy="73660"/>
          </a:xfrm>
          <a:custGeom>
            <a:avLst/>
            <a:gdLst>
              <a:gd name="connsiteX0" fmla="*/ 6350 w 21844"/>
              <a:gd name="connsiteY0" fmla="*/ 6350 h 73660"/>
              <a:gd name="connsiteX1" fmla="*/ 6350 w 21844"/>
              <a:gd name="connsiteY1" fmla="*/ 67309 h 7366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844" h="73660">
                <a:moveTo>
                  <a:pt x="6350" y="6350"/>
                </a:moveTo>
                <a:lnTo>
                  <a:pt x="6350" y="67309"/>
                </a:lnTo>
              </a:path>
            </a:pathLst>
          </a:custGeom>
          <a:ln w="12700">
            <a:solidFill>
              <a:srgbClr val="63636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Freeform 3"/>
          <p:cNvSpPr/>
          <p:nvPr/>
        </p:nvSpPr>
        <p:spPr>
          <a:xfrm>
            <a:off x="7510271" y="2423160"/>
            <a:ext cx="102108" cy="102107"/>
          </a:xfrm>
          <a:custGeom>
            <a:avLst/>
            <a:gdLst>
              <a:gd name="connsiteX0" fmla="*/ 0 w 102108"/>
              <a:gd name="connsiteY0" fmla="*/ 102107 h 102107"/>
              <a:gd name="connsiteX1" fmla="*/ 102108 w 102108"/>
              <a:gd name="connsiteY1" fmla="*/ 102107 h 102107"/>
              <a:gd name="connsiteX2" fmla="*/ 102108 w 102108"/>
              <a:gd name="connsiteY2" fmla="*/ 0 h 102107"/>
              <a:gd name="connsiteX3" fmla="*/ 0 w 102108"/>
              <a:gd name="connsiteY3" fmla="*/ 0 h 102107"/>
              <a:gd name="connsiteX4" fmla="*/ 0 w 102108"/>
              <a:gd name="connsiteY4" fmla="*/ 102107 h 10210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2108" h="102107">
                <a:moveTo>
                  <a:pt x="0" y="102107"/>
                </a:moveTo>
                <a:lnTo>
                  <a:pt x="102108" y="102107"/>
                </a:lnTo>
                <a:lnTo>
                  <a:pt x="102108" y="0"/>
                </a:lnTo>
                <a:lnTo>
                  <a:pt x="0" y="0"/>
                </a:lnTo>
                <a:lnTo>
                  <a:pt x="0" y="102107"/>
                </a:lnTo>
              </a:path>
            </a:pathLst>
          </a:custGeom>
          <a:solidFill>
            <a:srgbClr val="00B0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4" name="Freeform 3"/>
          <p:cNvSpPr/>
          <p:nvPr/>
        </p:nvSpPr>
        <p:spPr>
          <a:xfrm>
            <a:off x="9299447" y="2423160"/>
            <a:ext cx="102108" cy="102107"/>
          </a:xfrm>
          <a:custGeom>
            <a:avLst/>
            <a:gdLst>
              <a:gd name="connsiteX0" fmla="*/ 0 w 102108"/>
              <a:gd name="connsiteY0" fmla="*/ 102107 h 102107"/>
              <a:gd name="connsiteX1" fmla="*/ 102108 w 102108"/>
              <a:gd name="connsiteY1" fmla="*/ 102107 h 102107"/>
              <a:gd name="connsiteX2" fmla="*/ 102108 w 102108"/>
              <a:gd name="connsiteY2" fmla="*/ 0 h 102107"/>
              <a:gd name="connsiteX3" fmla="*/ 0 w 102108"/>
              <a:gd name="connsiteY3" fmla="*/ 0 h 102107"/>
              <a:gd name="connsiteX4" fmla="*/ 0 w 102108"/>
              <a:gd name="connsiteY4" fmla="*/ 102107 h 10210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2108" h="102107">
                <a:moveTo>
                  <a:pt x="0" y="102107"/>
                </a:moveTo>
                <a:lnTo>
                  <a:pt x="102108" y="102107"/>
                </a:lnTo>
                <a:lnTo>
                  <a:pt x="102108" y="0"/>
                </a:lnTo>
                <a:lnTo>
                  <a:pt x="0" y="0"/>
                </a:lnTo>
                <a:lnTo>
                  <a:pt x="0" y="102107"/>
                </a:lnTo>
              </a:path>
            </a:pathLst>
          </a:custGeom>
          <a:solidFill>
            <a:srgbClr val="E46C0A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5" name="Freeform 3"/>
          <p:cNvSpPr/>
          <p:nvPr/>
        </p:nvSpPr>
        <p:spPr>
          <a:xfrm>
            <a:off x="6417564" y="2689860"/>
            <a:ext cx="856488" cy="2939795"/>
          </a:xfrm>
          <a:custGeom>
            <a:avLst/>
            <a:gdLst>
              <a:gd name="connsiteX0" fmla="*/ 12953 w 856488"/>
              <a:gd name="connsiteY0" fmla="*/ 151383 h 2939795"/>
              <a:gd name="connsiteX1" fmla="*/ 151383 w 856488"/>
              <a:gd name="connsiteY1" fmla="*/ 12954 h 2939795"/>
              <a:gd name="connsiteX2" fmla="*/ 705104 w 856488"/>
              <a:gd name="connsiteY2" fmla="*/ 12954 h 2939795"/>
              <a:gd name="connsiteX3" fmla="*/ 843533 w 856488"/>
              <a:gd name="connsiteY3" fmla="*/ 151383 h 2939795"/>
              <a:gd name="connsiteX4" fmla="*/ 843533 w 856488"/>
              <a:gd name="connsiteY4" fmla="*/ 2788411 h 2939795"/>
              <a:gd name="connsiteX5" fmla="*/ 705104 w 856488"/>
              <a:gd name="connsiteY5" fmla="*/ 2926842 h 2939795"/>
              <a:gd name="connsiteX6" fmla="*/ 151383 w 856488"/>
              <a:gd name="connsiteY6" fmla="*/ 2926842 h 2939795"/>
              <a:gd name="connsiteX7" fmla="*/ 12953 w 856488"/>
              <a:gd name="connsiteY7" fmla="*/ 2788411 h 2939795"/>
              <a:gd name="connsiteX8" fmla="*/ 12953 w 856488"/>
              <a:gd name="connsiteY8" fmla="*/ 151383 h 293979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856488" h="2939795">
                <a:moveTo>
                  <a:pt x="12953" y="151383"/>
                </a:moveTo>
                <a:cubicBezTo>
                  <a:pt x="12953" y="74929"/>
                  <a:pt x="74929" y="12954"/>
                  <a:pt x="151383" y="12954"/>
                </a:cubicBezTo>
                <a:lnTo>
                  <a:pt x="705104" y="12954"/>
                </a:lnTo>
                <a:cubicBezTo>
                  <a:pt x="781557" y="12954"/>
                  <a:pt x="843533" y="74929"/>
                  <a:pt x="843533" y="151383"/>
                </a:cubicBezTo>
                <a:lnTo>
                  <a:pt x="843533" y="2788411"/>
                </a:lnTo>
                <a:cubicBezTo>
                  <a:pt x="843533" y="2864866"/>
                  <a:pt x="781557" y="2926842"/>
                  <a:pt x="705104" y="2926842"/>
                </a:cubicBezTo>
                <a:lnTo>
                  <a:pt x="151383" y="2926842"/>
                </a:lnTo>
                <a:cubicBezTo>
                  <a:pt x="74929" y="2926842"/>
                  <a:pt x="12953" y="2864866"/>
                  <a:pt x="12953" y="2788411"/>
                </a:cubicBezTo>
                <a:lnTo>
                  <a:pt x="12953" y="151383"/>
                </a:lnTo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C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6" name="Freeform 3"/>
          <p:cNvSpPr/>
          <p:nvPr/>
        </p:nvSpPr>
        <p:spPr>
          <a:xfrm>
            <a:off x="5422391" y="6051803"/>
            <a:ext cx="6912864" cy="682752"/>
          </a:xfrm>
          <a:custGeom>
            <a:avLst/>
            <a:gdLst>
              <a:gd name="connsiteX0" fmla="*/ 0 w 6912864"/>
              <a:gd name="connsiteY0" fmla="*/ 682752 h 682752"/>
              <a:gd name="connsiteX1" fmla="*/ 6912864 w 6912864"/>
              <a:gd name="connsiteY1" fmla="*/ 682752 h 682752"/>
              <a:gd name="connsiteX2" fmla="*/ 6912864 w 6912864"/>
              <a:gd name="connsiteY2" fmla="*/ 0 h 682752"/>
              <a:gd name="connsiteX3" fmla="*/ 0 w 6912864"/>
              <a:gd name="connsiteY3" fmla="*/ 0 h 682752"/>
              <a:gd name="connsiteX4" fmla="*/ 0 w 6912864"/>
              <a:gd name="connsiteY4" fmla="*/ 682752 h 6827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6912864" h="682752">
                <a:moveTo>
                  <a:pt x="0" y="682752"/>
                </a:moveTo>
                <a:lnTo>
                  <a:pt x="6912864" y="682752"/>
                </a:lnTo>
                <a:lnTo>
                  <a:pt x="6912864" y="0"/>
                </a:lnTo>
                <a:lnTo>
                  <a:pt x="0" y="0"/>
                </a:lnTo>
                <a:lnTo>
                  <a:pt x="0" y="682752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604000" y="4330700"/>
            <a:ext cx="279400" cy="177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596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7.5</a:t>
            </a:r>
          </a:p>
        </p:txBody>
      </p:sp>
      <p:sp>
        <p:nvSpPr>
          <p:cNvPr id="1028" name="TextBox 1"/>
          <p:cNvSpPr txBox="1"/>
          <p:nvPr/>
        </p:nvSpPr>
        <p:spPr>
          <a:xfrm>
            <a:off x="11722100" y="2438400"/>
            <a:ext cx="393700" cy="177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598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33.2</a:t>
            </a:r>
          </a:p>
        </p:txBody>
      </p:sp>
      <p:sp>
        <p:nvSpPr>
          <p:cNvPr id="1029" name="TextBox 1"/>
          <p:cNvSpPr txBox="1"/>
          <p:nvPr/>
        </p:nvSpPr>
        <p:spPr>
          <a:xfrm>
            <a:off x="5676900" y="3670300"/>
            <a:ext cx="711200" cy="469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>
                <a:tab pos="330200" algn="l"/>
              </a:tabLst>
            </a:pPr>
            <a:r>
              <a:rPr lang="en-US" altLang="zh-CN" sz="1596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16.6</a:t>
            </a:r>
          </a:p>
          <a:p>
            <a:pPr>
              <a:lnSpc>
                <a:spcPts val="2200"/>
              </a:lnSpc>
              <a:tabLst>
                <a:tab pos="330200" algn="l"/>
              </a:tabLst>
            </a:pPr>
            <a:r>
              <a:rPr lang="en-US" altLang="zh-CN" dirty="0" smtClean="0"/>
              <a:t>	</a:t>
            </a:r>
            <a:r>
              <a:rPr lang="en-US" altLang="zh-CN" sz="1596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596" dirty="0" smtClean="0">
                <a:solidFill>
                  <a:srgbClr val="404040"/>
                </a:solidFill>
                <a:latin typeface="Arial Unicode MS" pitchFamily="18" charset="0"/>
                <a:cs typeface="Arial Unicode MS" pitchFamily="18" charset="0"/>
              </a:rPr>
              <a:t>3.4</a:t>
            </a:r>
          </a:p>
        </p:txBody>
      </p:sp>
      <p:sp>
        <p:nvSpPr>
          <p:cNvPr id="1030" name="TextBox 1"/>
          <p:cNvSpPr txBox="1"/>
          <p:nvPr/>
        </p:nvSpPr>
        <p:spPr>
          <a:xfrm>
            <a:off x="6794500" y="3225800"/>
            <a:ext cx="393700" cy="177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598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22.6</a:t>
            </a:r>
          </a:p>
        </p:txBody>
      </p:sp>
      <p:sp>
        <p:nvSpPr>
          <p:cNvPr id="1031" name="TextBox 1"/>
          <p:cNvSpPr txBox="1"/>
          <p:nvPr/>
        </p:nvSpPr>
        <p:spPr>
          <a:xfrm>
            <a:off x="7467600" y="3479800"/>
            <a:ext cx="584200" cy="876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>
                <a:tab pos="190500" algn="l"/>
              </a:tabLst>
            </a:pPr>
            <a:r>
              <a:rPr lang="en-US" altLang="zh-CN" dirty="0" smtClean="0"/>
              <a:t>	</a:t>
            </a:r>
            <a:r>
              <a:rPr lang="en-US" altLang="zh-CN" sz="1596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19.1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500"/>
              </a:lnSpc>
              <a:tabLst>
                <a:tab pos="190500" algn="l"/>
              </a:tabLst>
            </a:pPr>
            <a:r>
              <a:rPr lang="en-US" altLang="zh-CN" sz="1596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9.6</a:t>
            </a:r>
          </a:p>
        </p:txBody>
      </p:sp>
      <p:sp>
        <p:nvSpPr>
          <p:cNvPr id="1032" name="TextBox 1"/>
          <p:cNvSpPr txBox="1"/>
          <p:nvPr/>
        </p:nvSpPr>
        <p:spPr>
          <a:xfrm>
            <a:off x="8331200" y="3848100"/>
            <a:ext cx="584200" cy="673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>
                <a:tab pos="190500" algn="l"/>
              </a:tabLst>
            </a:pPr>
            <a:r>
              <a:rPr lang="en-US" altLang="zh-CN" dirty="0" smtClean="0"/>
              <a:t>	</a:t>
            </a:r>
            <a:r>
              <a:rPr lang="en-US" altLang="zh-CN" sz="1598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14.2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800"/>
              </a:lnSpc>
              <a:tabLst>
                <a:tab pos="190500" algn="l"/>
              </a:tabLst>
            </a:pPr>
            <a:r>
              <a:rPr lang="en-US" altLang="zh-CN" sz="1596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7.6</a:t>
            </a:r>
          </a:p>
        </p:txBody>
      </p:sp>
      <p:sp>
        <p:nvSpPr>
          <p:cNvPr id="1033" name="TextBox 1"/>
          <p:cNvSpPr txBox="1"/>
          <p:nvPr/>
        </p:nvSpPr>
        <p:spPr>
          <a:xfrm>
            <a:off x="9194800" y="4140200"/>
            <a:ext cx="584200" cy="393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>
                <a:tab pos="190500" algn="l"/>
              </a:tabLst>
            </a:pPr>
            <a:r>
              <a:rPr lang="en-US" altLang="zh-CN" dirty="0" smtClean="0"/>
              <a:t>	</a:t>
            </a:r>
            <a:r>
              <a:rPr lang="en-US" altLang="zh-CN" sz="1596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10.2</a:t>
            </a:r>
          </a:p>
          <a:p>
            <a:pPr>
              <a:lnSpc>
                <a:spcPts val="1600"/>
              </a:lnSpc>
              <a:tabLst>
                <a:tab pos="190500" algn="l"/>
              </a:tabLst>
            </a:pPr>
            <a:r>
              <a:rPr lang="en-US" altLang="zh-CN" sz="1596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7.3</a:t>
            </a:r>
          </a:p>
        </p:txBody>
      </p:sp>
      <p:sp>
        <p:nvSpPr>
          <p:cNvPr id="1034" name="TextBox 1"/>
          <p:cNvSpPr txBox="1"/>
          <p:nvPr/>
        </p:nvSpPr>
        <p:spPr>
          <a:xfrm>
            <a:off x="10058400" y="4241800"/>
            <a:ext cx="584200" cy="279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200"/>
              </a:lnSpc>
              <a:tabLst/>
            </a:pPr>
            <a:r>
              <a:rPr lang="en-US" altLang="zh-CN" sz="1596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8.9</a:t>
            </a:r>
            <a:r>
              <a:rPr lang="en-US" altLang="zh-CN" sz="1598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altLang="zh-CN" sz="1598" dirty="0" smtClean="0">
                <a:solidFill>
                  <a:srgbClr val="404040"/>
                </a:solidFill>
                <a:latin typeface="Arial Unicode MS" pitchFamily="18" charset="0"/>
                <a:cs typeface="Arial Unicode MS" pitchFamily="18" charset="0"/>
              </a:rPr>
              <a:t>.8</a:t>
            </a:r>
          </a:p>
        </p:txBody>
      </p:sp>
      <p:sp>
        <p:nvSpPr>
          <p:cNvPr id="1035" name="TextBox 1"/>
          <p:cNvSpPr txBox="1"/>
          <p:nvPr/>
        </p:nvSpPr>
        <p:spPr>
          <a:xfrm>
            <a:off x="10922000" y="4203700"/>
            <a:ext cx="520700" cy="381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>
                <a:tab pos="241300" algn="l"/>
              </a:tabLst>
            </a:pPr>
            <a:r>
              <a:rPr lang="en-US" altLang="zh-CN" sz="1596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9.4</a:t>
            </a:r>
          </a:p>
          <a:p>
            <a:pPr>
              <a:lnSpc>
                <a:spcPts val="1500"/>
              </a:lnSpc>
              <a:tabLst>
                <a:tab pos="241300" algn="l"/>
              </a:tabLst>
            </a:pPr>
            <a:r>
              <a:rPr lang="en-US" altLang="zh-CN" dirty="0" smtClean="0"/>
              <a:t>	</a:t>
            </a:r>
            <a:r>
              <a:rPr lang="en-US" altLang="zh-CN" sz="1596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6.6</a:t>
            </a:r>
          </a:p>
        </p:txBody>
      </p:sp>
      <p:sp>
        <p:nvSpPr>
          <p:cNvPr id="1036" name="TextBox 1"/>
          <p:cNvSpPr txBox="1"/>
          <p:nvPr/>
        </p:nvSpPr>
        <p:spPr>
          <a:xfrm>
            <a:off x="12026900" y="4432300"/>
            <a:ext cx="279400" cy="177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596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6.2</a:t>
            </a:r>
          </a:p>
        </p:txBody>
      </p:sp>
      <p:sp>
        <p:nvSpPr>
          <p:cNvPr id="1037" name="TextBox 1"/>
          <p:cNvSpPr txBox="1"/>
          <p:nvPr/>
        </p:nvSpPr>
        <p:spPr>
          <a:xfrm>
            <a:off x="5588000" y="5295900"/>
            <a:ext cx="68707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                <a:tab pos="6362700" algn="l"/>
              </a:tabLst>
            </a:pPr>
            <a:r>
              <a:rPr lang="en-US" altLang="zh-CN" sz="1598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en-US" altLang="zh-CN" sz="1598" dirty="0" smtClean="0">
                <a:solidFill>
                  <a:srgbClr val="404040"/>
                </a:solidFill>
                <a:latin typeface="Arial Unicode MS" pitchFamily="18" charset="0"/>
                <a:cs typeface="Arial Unicode MS" pitchFamily="18" charset="0"/>
              </a:rPr>
              <a:t>岁以下</a:t>
            </a:r>
            <a:r>
              <a:rPr lang="en-US" altLang="zh-CN" sz="1598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8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15-19</a:t>
            </a:r>
            <a:r>
              <a:rPr lang="en-US" altLang="zh-CN" sz="1598" dirty="0" smtClean="0">
                <a:solidFill>
                  <a:srgbClr val="404040"/>
                </a:solidFill>
                <a:latin typeface="Arial Unicode MS" pitchFamily="18" charset="0"/>
                <a:cs typeface="Arial Unicode MS" pitchFamily="18" charset="0"/>
              </a:rPr>
              <a:t>岁</a:t>
            </a:r>
            <a:r>
              <a:rPr lang="en-US" altLang="zh-CN" sz="1598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598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20-24</a:t>
            </a:r>
            <a:r>
              <a:rPr lang="en-US" altLang="zh-CN" sz="1598" dirty="0" smtClean="0">
                <a:solidFill>
                  <a:srgbClr val="404040"/>
                </a:solidFill>
                <a:latin typeface="Arial Unicode MS" pitchFamily="18" charset="0"/>
                <a:cs typeface="Arial Unicode MS" pitchFamily="18" charset="0"/>
              </a:rPr>
              <a:t>岁</a:t>
            </a:r>
            <a:r>
              <a:rPr lang="en-US" altLang="zh-CN" sz="1598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598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25-29</a:t>
            </a:r>
            <a:r>
              <a:rPr lang="en-US" altLang="zh-CN" sz="1598" dirty="0" smtClean="0">
                <a:solidFill>
                  <a:srgbClr val="404040"/>
                </a:solidFill>
                <a:latin typeface="Arial Unicode MS" pitchFamily="18" charset="0"/>
                <a:cs typeface="Arial Unicode MS" pitchFamily="18" charset="0"/>
              </a:rPr>
              <a:t>岁</a:t>
            </a:r>
            <a:r>
              <a:rPr lang="en-US" altLang="zh-CN" sz="1598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598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30-34</a:t>
            </a:r>
            <a:r>
              <a:rPr lang="en-US" altLang="zh-CN" sz="1598" dirty="0" smtClean="0">
                <a:solidFill>
                  <a:srgbClr val="404040"/>
                </a:solidFill>
                <a:latin typeface="Arial Unicode MS" pitchFamily="18" charset="0"/>
                <a:cs typeface="Arial Unicode MS" pitchFamily="18" charset="0"/>
              </a:rPr>
              <a:t>岁</a:t>
            </a:r>
            <a:r>
              <a:rPr lang="en-US" altLang="zh-CN" sz="1598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598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35-39</a:t>
            </a:r>
            <a:r>
              <a:rPr lang="en-US" altLang="zh-CN" sz="1598" dirty="0" smtClean="0">
                <a:solidFill>
                  <a:srgbClr val="404040"/>
                </a:solidFill>
                <a:latin typeface="Arial Unicode MS" pitchFamily="18" charset="0"/>
                <a:cs typeface="Arial Unicode MS" pitchFamily="18" charset="0"/>
              </a:rPr>
              <a:t>岁</a:t>
            </a:r>
            <a:r>
              <a:rPr lang="en-US" altLang="zh-CN" sz="1598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598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40-44</a:t>
            </a:r>
            <a:r>
              <a:rPr lang="en-US" altLang="zh-CN" sz="1598" dirty="0" smtClean="0">
                <a:solidFill>
                  <a:srgbClr val="404040"/>
                </a:solidFill>
                <a:latin typeface="Arial Unicode MS" pitchFamily="18" charset="0"/>
                <a:cs typeface="Arial Unicode MS" pitchFamily="18" charset="0"/>
              </a:rPr>
              <a:t>岁</a:t>
            </a:r>
            <a:r>
              <a:rPr lang="en-US" altLang="zh-CN" sz="1598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8" dirty="0" smtClean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45</a:t>
            </a:r>
            <a:r>
              <a:rPr lang="en-US" altLang="zh-CN" sz="1598" dirty="0" smtClean="0">
                <a:solidFill>
                  <a:srgbClr val="404040"/>
                </a:solidFill>
                <a:latin typeface="Arial Unicode MS" pitchFamily="18" charset="0"/>
                <a:cs typeface="Arial Unicode MS" pitchFamily="18" charset="0"/>
              </a:rPr>
              <a:t>岁及以</a:t>
            </a:r>
          </a:p>
          <a:p>
            <a:pPr>
              <a:lnSpc>
                <a:spcPts val="2700"/>
              </a:lnSpc>
              <a:tabLst>
                <a:tab pos="6362700" algn="l"/>
              </a:tabLst>
            </a:pPr>
            <a:r>
              <a:rPr lang="en-US" altLang="zh-CN" dirty="0" smtClean="0"/>
              <a:t>	</a:t>
            </a:r>
            <a:r>
              <a:rPr lang="en-US" altLang="zh-CN" sz="1596" dirty="0" smtClean="0">
                <a:solidFill>
                  <a:srgbClr val="404040"/>
                </a:solidFill>
                <a:latin typeface="Arial Unicode MS" pitchFamily="18" charset="0"/>
                <a:cs typeface="Arial Unicode MS" pitchFamily="18" charset="0"/>
              </a:rPr>
              <a:t>上</a:t>
            </a:r>
          </a:p>
        </p:txBody>
      </p:sp>
      <p:sp>
        <p:nvSpPr>
          <p:cNvPr id="1038" name="TextBox 1"/>
          <p:cNvSpPr txBox="1"/>
          <p:nvPr/>
        </p:nvSpPr>
        <p:spPr>
          <a:xfrm>
            <a:off x="7658100" y="2324100"/>
            <a:ext cx="12065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1596" dirty="0" smtClean="0">
                <a:solidFill>
                  <a:srgbClr val="404040"/>
                </a:solidFill>
                <a:latin typeface="Arial Unicode MS" pitchFamily="18" charset="0"/>
                <a:cs typeface="Arial Unicode MS" pitchFamily="18" charset="0"/>
              </a:rPr>
              <a:t>全国人口占比</a:t>
            </a:r>
          </a:p>
        </p:txBody>
      </p:sp>
      <p:sp>
        <p:nvSpPr>
          <p:cNvPr id="1039" name="TextBox 1"/>
          <p:cNvSpPr txBox="1"/>
          <p:nvPr/>
        </p:nvSpPr>
        <p:spPr>
          <a:xfrm>
            <a:off x="9448800" y="2324100"/>
            <a:ext cx="16129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1596" dirty="0" smtClean="0">
                <a:solidFill>
                  <a:srgbClr val="404040"/>
                </a:solidFill>
                <a:latin typeface="Arial Unicode MS" pitchFamily="18" charset="0"/>
                <a:cs typeface="Arial Unicode MS" pitchFamily="18" charset="0"/>
              </a:rPr>
              <a:t>移动搜索用户占比</a:t>
            </a:r>
          </a:p>
        </p:txBody>
      </p:sp>
      <p:sp>
        <p:nvSpPr>
          <p:cNvPr id="1040" name="TextBox 1"/>
          <p:cNvSpPr txBox="1"/>
          <p:nvPr/>
        </p:nvSpPr>
        <p:spPr>
          <a:xfrm>
            <a:off x="6604000" y="1625600"/>
            <a:ext cx="5029200" cy="3302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600"/>
              </a:lnSpc>
              <a:tabLst/>
            </a:pPr>
            <a:r>
              <a:rPr lang="en-US" altLang="zh-CN" sz="200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“95后”是当前</a:t>
            </a:r>
            <a:r>
              <a:rPr lang="en-US" altLang="zh-CN" sz="2795" dirty="0" smtClean="0">
                <a:solidFill>
                  <a:srgbClr val="C00000"/>
                </a:solidFill>
                <a:latin typeface="Microsoft YaHei UI" pitchFamily="18" charset="0"/>
                <a:cs typeface="Microsoft YaHei UI" pitchFamily="18" charset="0"/>
              </a:rPr>
              <a:t>最亲移动互联网</a:t>
            </a:r>
            <a:r>
              <a:rPr lang="en-US" altLang="zh-CN" sz="200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的一代</a:t>
            </a:r>
          </a:p>
        </p:txBody>
      </p:sp>
      <p:sp>
        <p:nvSpPr>
          <p:cNvPr id="1041" name="TextBox 1"/>
          <p:cNvSpPr txBox="1"/>
          <p:nvPr/>
        </p:nvSpPr>
        <p:spPr>
          <a:xfrm>
            <a:off x="736600" y="1625600"/>
            <a:ext cx="1066800" cy="3302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600"/>
              </a:lnSpc>
              <a:tabLst/>
            </a:pPr>
            <a:r>
              <a:rPr lang="en-US" altLang="zh-CN" sz="2795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95后：</a:t>
            </a:r>
          </a:p>
        </p:txBody>
      </p:sp>
      <p:sp>
        <p:nvSpPr>
          <p:cNvPr id="1042" name="TextBox 1"/>
          <p:cNvSpPr txBox="1"/>
          <p:nvPr/>
        </p:nvSpPr>
        <p:spPr>
          <a:xfrm>
            <a:off x="736600" y="2235200"/>
            <a:ext cx="1943100" cy="215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700"/>
              </a:lnSpc>
              <a:tabLst/>
            </a:pPr>
            <a:r>
              <a:rPr lang="en-US" altLang="zh-CN" sz="1802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1995-1999年出生，</a:t>
            </a:r>
          </a:p>
        </p:txBody>
      </p:sp>
      <p:sp>
        <p:nvSpPr>
          <p:cNvPr id="1043" name="TextBox 1"/>
          <p:cNvSpPr txBox="1"/>
          <p:nvPr/>
        </p:nvSpPr>
        <p:spPr>
          <a:xfrm>
            <a:off x="736600" y="2692400"/>
            <a:ext cx="3086100" cy="215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700"/>
              </a:lnSpc>
              <a:tabLst/>
            </a:pPr>
            <a:r>
              <a:rPr lang="en-US" altLang="zh-CN" sz="1800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年龄16-20岁（青春期末期），</a:t>
            </a:r>
          </a:p>
        </p:txBody>
      </p:sp>
      <p:sp>
        <p:nvSpPr>
          <p:cNvPr id="1044" name="TextBox 1"/>
          <p:cNvSpPr txBox="1"/>
          <p:nvPr/>
        </p:nvSpPr>
        <p:spPr>
          <a:xfrm>
            <a:off x="736600" y="3149600"/>
            <a:ext cx="3429000" cy="215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700"/>
              </a:lnSpc>
              <a:tabLst/>
            </a:pPr>
            <a:r>
              <a:rPr lang="en-US" altLang="zh-CN" sz="1800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大部分为高中生和大学低年级生，</a:t>
            </a:r>
          </a:p>
        </p:txBody>
      </p:sp>
      <p:sp>
        <p:nvSpPr>
          <p:cNvPr id="1045" name="TextBox 1"/>
          <p:cNvSpPr txBox="1"/>
          <p:nvPr/>
        </p:nvSpPr>
        <p:spPr>
          <a:xfrm>
            <a:off x="736600" y="3606800"/>
            <a:ext cx="2438400" cy="8255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700"/>
              </a:lnSpc>
              <a:tabLst/>
            </a:pPr>
            <a:r>
              <a:rPr lang="en-US" altLang="zh-CN" sz="1802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少部分工作，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800"/>
              </a:lnSpc>
              <a:tabLst/>
            </a:pPr>
            <a:r>
              <a:rPr lang="en-US" altLang="zh-CN" sz="1800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人口总数约</a:t>
            </a:r>
            <a:r>
              <a:rPr lang="en-US" altLang="zh-CN" sz="2795" dirty="0" smtClean="0">
                <a:solidFill>
                  <a:srgbClr val="C00000"/>
                </a:solidFill>
                <a:latin typeface="Microsoft YaHei UI" pitchFamily="18" charset="0"/>
                <a:cs typeface="Microsoft YaHei UI" pitchFamily="18" charset="0"/>
              </a:rPr>
              <a:t>0.99亿</a:t>
            </a:r>
            <a:r>
              <a:rPr lang="en-US" altLang="zh-CN" sz="1800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！</a:t>
            </a:r>
          </a:p>
        </p:txBody>
      </p:sp>
      <p:sp>
        <p:nvSpPr>
          <p:cNvPr id="1046" name="TextBox 1"/>
          <p:cNvSpPr txBox="1"/>
          <p:nvPr/>
        </p:nvSpPr>
        <p:spPr>
          <a:xfrm>
            <a:off x="736600" y="5194300"/>
            <a:ext cx="3924300" cy="850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600"/>
              </a:lnSpc>
              <a:tabLst/>
            </a:pPr>
            <a:r>
              <a:rPr lang="en-US" altLang="zh-CN" sz="2795" dirty="0" smtClean="0">
                <a:solidFill>
                  <a:srgbClr val="C00000"/>
                </a:solidFill>
                <a:latin typeface="Microsoft YaHei UI" pitchFamily="18" charset="0"/>
                <a:cs typeface="Microsoft YaHei UI" pitchFamily="18" charset="0"/>
              </a:rPr>
              <a:t>5-10年后</a:t>
            </a:r>
            <a:r>
              <a:rPr lang="en-US" altLang="zh-CN" sz="1800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，他们将成长为中国社会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3000"/>
              </a:lnSpc>
              <a:tabLst/>
            </a:pPr>
            <a:r>
              <a:rPr lang="en-US" altLang="zh-CN" sz="1800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的</a:t>
            </a:r>
            <a:r>
              <a:rPr lang="en-US" altLang="zh-CN" sz="2795" dirty="0" smtClean="0">
                <a:solidFill>
                  <a:srgbClr val="C00000"/>
                </a:solidFill>
                <a:latin typeface="Microsoft YaHei UI" pitchFamily="18" charset="0"/>
                <a:cs typeface="Microsoft YaHei UI" pitchFamily="18" charset="0"/>
              </a:rPr>
              <a:t>消费中坚</a:t>
            </a:r>
            <a:r>
              <a:rPr lang="en-US" altLang="zh-CN" sz="1800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！</a:t>
            </a:r>
          </a:p>
        </p:txBody>
      </p:sp>
      <p:sp>
        <p:nvSpPr>
          <p:cNvPr id="1047" name="TextBox 1"/>
          <p:cNvSpPr txBox="1"/>
          <p:nvPr/>
        </p:nvSpPr>
        <p:spPr>
          <a:xfrm>
            <a:off x="723900" y="6121400"/>
            <a:ext cx="11163300" cy="1054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>
                <a:tab pos="4787900" algn="l"/>
              </a:tabLst>
            </a:pPr>
            <a:r>
              <a:rPr lang="en-US" altLang="zh-CN" dirty="0" smtClean="0"/>
              <a:t>	</a:t>
            </a:r>
            <a:r>
              <a:rPr lang="en-US" altLang="zh-CN" sz="128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数据来源：</a:t>
            </a:r>
          </a:p>
          <a:p>
            <a:pPr>
              <a:lnSpc>
                <a:spcPts val="1500"/>
              </a:lnSpc>
              <a:tabLst>
                <a:tab pos="4787900" algn="l"/>
              </a:tabLst>
            </a:pPr>
            <a:r>
              <a:rPr lang="en-US" altLang="zh-CN" dirty="0" smtClean="0"/>
              <a:t>	</a:t>
            </a:r>
            <a:r>
              <a:rPr lang="en-US" altLang="zh-CN" sz="128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1、国家统计局</a:t>
            </a:r>
            <a:r>
              <a:rPr lang="en-US" altLang="zh-CN" sz="128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28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2010年</a:t>
            </a:r>
            <a:r>
              <a:rPr lang="en-US" altLang="zh-CN" sz="128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28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第六次人口普查统计数据</a:t>
            </a:r>
          </a:p>
          <a:p>
            <a:pPr>
              <a:lnSpc>
                <a:spcPts val="1500"/>
              </a:lnSpc>
              <a:tabLst>
                <a:tab pos="4787900" algn="l"/>
              </a:tabLst>
            </a:pPr>
            <a:r>
              <a:rPr lang="en-US" altLang="zh-CN" dirty="0" smtClean="0"/>
              <a:t>	</a:t>
            </a:r>
            <a:r>
              <a:rPr lang="en-US" altLang="zh-CN" sz="128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2、MUX用研</a:t>
            </a:r>
            <a:r>
              <a:rPr lang="en-US" altLang="zh-CN" sz="128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28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2015年3月4-11日</a:t>
            </a:r>
            <a:r>
              <a:rPr lang="en-US" altLang="zh-CN" sz="128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28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移动搜索用户随机抽样调查</a:t>
            </a:r>
            <a:r>
              <a:rPr lang="en-US" altLang="zh-CN" sz="128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28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《春节红包活动调查》N=10290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000"/>
              </a:lnSpc>
              <a:tabLst>
                <a:tab pos="4787900" algn="l"/>
              </a:tabLst>
            </a:pPr>
            <a:r>
              <a:rPr lang="en-US" altLang="zh-CN" sz="996" b="1" dirty="0" smtClean="0">
                <a:solidFill>
                  <a:srgbClr val="7F7F7F"/>
                </a:solidFill>
                <a:latin typeface="Century" pitchFamily="18" charset="0"/>
                <a:cs typeface="Century" pitchFamily="18" charset="0"/>
              </a:rPr>
              <a:t>2</a:t>
            </a:r>
          </a:p>
        </p:txBody>
      </p:sp>
      <p:sp>
        <p:nvSpPr>
          <p:cNvPr id="1048" name="TextBox 1"/>
          <p:cNvSpPr txBox="1"/>
          <p:nvPr/>
        </p:nvSpPr>
        <p:spPr>
          <a:xfrm>
            <a:off x="711200" y="458609"/>
            <a:ext cx="7833876" cy="379591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600"/>
              </a:lnSpc>
              <a:tabLst/>
            </a:pPr>
            <a:r>
              <a:rPr lang="en-US" altLang="zh-CN" sz="2795" dirty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Demographics</a:t>
            </a:r>
            <a:r>
              <a:rPr lang="en-US" altLang="zh-CN" sz="2795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：95</a:t>
            </a:r>
            <a:r>
              <a:rPr lang="en-US" altLang="zh-CN" sz="2795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后是不容忽视的移动互联网人群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3004292" cy="7315200"/>
          </a:xfrm>
          <a:custGeom>
            <a:avLst/>
            <a:gdLst>
              <a:gd name="connsiteX0" fmla="*/ 0 w 13004292"/>
              <a:gd name="connsiteY0" fmla="*/ 7315199 h 7315200"/>
              <a:gd name="connsiteX1" fmla="*/ 13004292 w 13004292"/>
              <a:gd name="connsiteY1" fmla="*/ 7315199 h 7315200"/>
              <a:gd name="connsiteX2" fmla="*/ 13004292 w 13004292"/>
              <a:gd name="connsiteY2" fmla="*/ 0 h 7315200"/>
              <a:gd name="connsiteX3" fmla="*/ 0 w 13004292"/>
              <a:gd name="connsiteY3" fmla="*/ 0 h 7315200"/>
              <a:gd name="connsiteX4" fmla="*/ 0 w 13004292"/>
              <a:gd name="connsiteY4" fmla="*/ 7315199 h 7315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3004292" h="7315200">
                <a:moveTo>
                  <a:pt x="0" y="7315199"/>
                </a:moveTo>
                <a:lnTo>
                  <a:pt x="13004292" y="7315199"/>
                </a:lnTo>
                <a:lnTo>
                  <a:pt x="13004292" y="0"/>
                </a:lnTo>
                <a:lnTo>
                  <a:pt x="0" y="0"/>
                </a:lnTo>
                <a:lnTo>
                  <a:pt x="0" y="73151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0126" y="4457446"/>
            <a:ext cx="5052567" cy="2734564"/>
          </a:xfrm>
          <a:custGeom>
            <a:avLst/>
            <a:gdLst>
              <a:gd name="connsiteX0" fmla="*/ 6350 w 5052567"/>
              <a:gd name="connsiteY0" fmla="*/ 1367282 h 2734564"/>
              <a:gd name="connsiteX1" fmla="*/ 2526283 w 5052567"/>
              <a:gd name="connsiteY1" fmla="*/ 6350 h 2734564"/>
              <a:gd name="connsiteX2" fmla="*/ 5046217 w 5052567"/>
              <a:gd name="connsiteY2" fmla="*/ 1367282 h 2734564"/>
              <a:gd name="connsiteX3" fmla="*/ 2526283 w 5052567"/>
              <a:gd name="connsiteY3" fmla="*/ 2728213 h 2734564"/>
              <a:gd name="connsiteX4" fmla="*/ 6350 w 5052567"/>
              <a:gd name="connsiteY4" fmla="*/ 1367282 h 273456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5052567" h="2734564">
                <a:moveTo>
                  <a:pt x="6350" y="1367282"/>
                </a:moveTo>
                <a:cubicBezTo>
                  <a:pt x="6350" y="615695"/>
                  <a:pt x="1134617" y="6350"/>
                  <a:pt x="2526283" y="6350"/>
                </a:cubicBezTo>
                <a:cubicBezTo>
                  <a:pt x="3917950" y="6350"/>
                  <a:pt x="5046217" y="615695"/>
                  <a:pt x="5046217" y="1367282"/>
                </a:cubicBezTo>
                <a:cubicBezTo>
                  <a:pt x="5046217" y="2118905"/>
                  <a:pt x="3917950" y="2728213"/>
                  <a:pt x="2526283" y="2728213"/>
                </a:cubicBezTo>
                <a:cubicBezTo>
                  <a:pt x="1134617" y="2728213"/>
                  <a:pt x="6350" y="2118905"/>
                  <a:pt x="6350" y="1367282"/>
                </a:cubicBez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B0F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5876544" y="4104132"/>
            <a:ext cx="914399" cy="914400"/>
          </a:xfrm>
          <a:custGeom>
            <a:avLst/>
            <a:gdLst>
              <a:gd name="connsiteX0" fmla="*/ 0 w 914399"/>
              <a:gd name="connsiteY0" fmla="*/ 152400 h 914400"/>
              <a:gd name="connsiteX1" fmla="*/ 152400 w 914399"/>
              <a:gd name="connsiteY1" fmla="*/ 0 h 914400"/>
              <a:gd name="connsiteX2" fmla="*/ 761999 w 914399"/>
              <a:gd name="connsiteY2" fmla="*/ 0 h 914400"/>
              <a:gd name="connsiteX3" fmla="*/ 914399 w 914399"/>
              <a:gd name="connsiteY3" fmla="*/ 152400 h 914400"/>
              <a:gd name="connsiteX4" fmla="*/ 914399 w 914399"/>
              <a:gd name="connsiteY4" fmla="*/ 762000 h 914400"/>
              <a:gd name="connsiteX5" fmla="*/ 761999 w 914399"/>
              <a:gd name="connsiteY5" fmla="*/ 914400 h 914400"/>
              <a:gd name="connsiteX6" fmla="*/ 152400 w 914399"/>
              <a:gd name="connsiteY6" fmla="*/ 914400 h 914400"/>
              <a:gd name="connsiteX7" fmla="*/ 0 w 914399"/>
              <a:gd name="connsiteY7" fmla="*/ 762000 h 914400"/>
              <a:gd name="connsiteX8" fmla="*/ 0 w 914399"/>
              <a:gd name="connsiteY8" fmla="*/ 152400 h 9144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914399" h="914400">
                <a:moveTo>
                  <a:pt x="0" y="152400"/>
                </a:moveTo>
                <a:cubicBezTo>
                  <a:pt x="0" y="68198"/>
                  <a:pt x="68198" y="0"/>
                  <a:pt x="152400" y="0"/>
                </a:cubicBezTo>
                <a:lnTo>
                  <a:pt x="761999" y="0"/>
                </a:lnTo>
                <a:cubicBezTo>
                  <a:pt x="846200" y="0"/>
                  <a:pt x="914399" y="68198"/>
                  <a:pt x="914399" y="152400"/>
                </a:cubicBezTo>
                <a:lnTo>
                  <a:pt x="914399" y="762000"/>
                </a:lnTo>
                <a:cubicBezTo>
                  <a:pt x="914399" y="846201"/>
                  <a:pt x="846200" y="914400"/>
                  <a:pt x="761999" y="914400"/>
                </a:cubicBezTo>
                <a:lnTo>
                  <a:pt x="152400" y="914400"/>
                </a:lnTo>
                <a:cubicBezTo>
                  <a:pt x="68198" y="914400"/>
                  <a:pt x="0" y="846201"/>
                  <a:pt x="0" y="762000"/>
                </a:cubicBezTo>
                <a:lnTo>
                  <a:pt x="0" y="152400"/>
                </a:lnTo>
              </a:path>
            </a:pathLst>
          </a:custGeom>
          <a:solidFill>
            <a:srgbClr val="00B0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519430" y="1130553"/>
            <a:ext cx="4837684" cy="3613912"/>
          </a:xfrm>
          <a:custGeom>
            <a:avLst/>
            <a:gdLst>
              <a:gd name="connsiteX0" fmla="*/ 6350 w 4837684"/>
              <a:gd name="connsiteY0" fmla="*/ 1806956 h 3613912"/>
              <a:gd name="connsiteX1" fmla="*/ 2418841 w 4837684"/>
              <a:gd name="connsiteY1" fmla="*/ 6350 h 3613912"/>
              <a:gd name="connsiteX2" fmla="*/ 4831334 w 4837684"/>
              <a:gd name="connsiteY2" fmla="*/ 1806956 h 3613912"/>
              <a:gd name="connsiteX3" fmla="*/ 2418841 w 4837684"/>
              <a:gd name="connsiteY3" fmla="*/ 3607561 h 3613912"/>
              <a:gd name="connsiteX4" fmla="*/ 6350 w 4837684"/>
              <a:gd name="connsiteY4" fmla="*/ 1806956 h 361391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4837684" h="3613912">
                <a:moveTo>
                  <a:pt x="6350" y="1806956"/>
                </a:moveTo>
                <a:cubicBezTo>
                  <a:pt x="6350" y="812546"/>
                  <a:pt x="1086484" y="6350"/>
                  <a:pt x="2418841" y="6350"/>
                </a:cubicBezTo>
                <a:cubicBezTo>
                  <a:pt x="3751198" y="6350"/>
                  <a:pt x="4831334" y="812546"/>
                  <a:pt x="4831334" y="1806956"/>
                </a:cubicBezTo>
                <a:cubicBezTo>
                  <a:pt x="4831334" y="2801366"/>
                  <a:pt x="3751198" y="3607561"/>
                  <a:pt x="2418841" y="3607561"/>
                </a:cubicBezTo>
                <a:cubicBezTo>
                  <a:pt x="1086484" y="3607561"/>
                  <a:pt x="6350" y="2801366"/>
                  <a:pt x="6350" y="1806956"/>
                </a:cubicBez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FF99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3"/>
          <p:cNvSpPr/>
          <p:nvPr/>
        </p:nvSpPr>
        <p:spPr>
          <a:xfrm>
            <a:off x="4774691" y="2074164"/>
            <a:ext cx="1078992" cy="914400"/>
          </a:xfrm>
          <a:custGeom>
            <a:avLst/>
            <a:gdLst>
              <a:gd name="connsiteX0" fmla="*/ 0 w 1078992"/>
              <a:gd name="connsiteY0" fmla="*/ 152400 h 914400"/>
              <a:gd name="connsiteX1" fmla="*/ 152400 w 1078992"/>
              <a:gd name="connsiteY1" fmla="*/ 0 h 914400"/>
              <a:gd name="connsiteX2" fmla="*/ 926592 w 1078992"/>
              <a:gd name="connsiteY2" fmla="*/ 0 h 914400"/>
              <a:gd name="connsiteX3" fmla="*/ 1078992 w 1078992"/>
              <a:gd name="connsiteY3" fmla="*/ 152400 h 914400"/>
              <a:gd name="connsiteX4" fmla="*/ 1078992 w 1078992"/>
              <a:gd name="connsiteY4" fmla="*/ 762000 h 914400"/>
              <a:gd name="connsiteX5" fmla="*/ 926592 w 1078992"/>
              <a:gd name="connsiteY5" fmla="*/ 914400 h 914400"/>
              <a:gd name="connsiteX6" fmla="*/ 152400 w 1078992"/>
              <a:gd name="connsiteY6" fmla="*/ 914400 h 914400"/>
              <a:gd name="connsiteX7" fmla="*/ 0 w 1078992"/>
              <a:gd name="connsiteY7" fmla="*/ 762000 h 914400"/>
              <a:gd name="connsiteX8" fmla="*/ 0 w 1078992"/>
              <a:gd name="connsiteY8" fmla="*/ 152400 h 9144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1078992" h="914400">
                <a:moveTo>
                  <a:pt x="0" y="152400"/>
                </a:moveTo>
                <a:cubicBezTo>
                  <a:pt x="0" y="68198"/>
                  <a:pt x="68198" y="0"/>
                  <a:pt x="152400" y="0"/>
                </a:cubicBezTo>
                <a:lnTo>
                  <a:pt x="926592" y="0"/>
                </a:lnTo>
                <a:cubicBezTo>
                  <a:pt x="1010792" y="0"/>
                  <a:pt x="1078992" y="68198"/>
                  <a:pt x="1078992" y="152400"/>
                </a:cubicBezTo>
                <a:lnTo>
                  <a:pt x="1078992" y="762000"/>
                </a:lnTo>
                <a:cubicBezTo>
                  <a:pt x="1078992" y="846200"/>
                  <a:pt x="1010792" y="914400"/>
                  <a:pt x="926592" y="914400"/>
                </a:cubicBezTo>
                <a:lnTo>
                  <a:pt x="152400" y="914400"/>
                </a:lnTo>
                <a:cubicBezTo>
                  <a:pt x="68198" y="914400"/>
                  <a:pt x="0" y="846200"/>
                  <a:pt x="0" y="762000"/>
                </a:cubicBezTo>
                <a:lnTo>
                  <a:pt x="0" y="152400"/>
                </a:lnTo>
              </a:path>
            </a:pathLst>
          </a:custGeom>
          <a:solidFill>
            <a:srgbClr val="FFC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reeform 3"/>
          <p:cNvSpPr/>
          <p:nvPr/>
        </p:nvSpPr>
        <p:spPr>
          <a:xfrm>
            <a:off x="6351778" y="1130553"/>
            <a:ext cx="6421119" cy="3973576"/>
          </a:xfrm>
          <a:custGeom>
            <a:avLst/>
            <a:gdLst>
              <a:gd name="connsiteX0" fmla="*/ 6350 w 6421119"/>
              <a:gd name="connsiteY0" fmla="*/ 1986788 h 3973576"/>
              <a:gd name="connsiteX1" fmla="*/ 3210559 w 6421119"/>
              <a:gd name="connsiteY1" fmla="*/ 6350 h 3973576"/>
              <a:gd name="connsiteX2" fmla="*/ 6414769 w 6421119"/>
              <a:gd name="connsiteY2" fmla="*/ 1986788 h 3973576"/>
              <a:gd name="connsiteX3" fmla="*/ 3210559 w 6421119"/>
              <a:gd name="connsiteY3" fmla="*/ 3967225 h 3973576"/>
              <a:gd name="connsiteX4" fmla="*/ 6350 w 6421119"/>
              <a:gd name="connsiteY4" fmla="*/ 1986788 h 397357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6421119" h="3973576">
                <a:moveTo>
                  <a:pt x="6350" y="1986788"/>
                </a:moveTo>
                <a:cubicBezTo>
                  <a:pt x="6350" y="893063"/>
                  <a:pt x="1440941" y="6350"/>
                  <a:pt x="3210559" y="6350"/>
                </a:cubicBezTo>
                <a:cubicBezTo>
                  <a:pt x="4980178" y="6350"/>
                  <a:pt x="6414769" y="893063"/>
                  <a:pt x="6414769" y="1986788"/>
                </a:cubicBezTo>
                <a:cubicBezTo>
                  <a:pt x="6414769" y="3080511"/>
                  <a:pt x="4980178" y="3967225"/>
                  <a:pt x="3210559" y="3967225"/>
                </a:cubicBezTo>
                <a:cubicBezTo>
                  <a:pt x="1440941" y="3967225"/>
                  <a:pt x="6350" y="3080511"/>
                  <a:pt x="6350" y="1986788"/>
                </a:cubicBez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FFC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3"/>
          <p:cNvSpPr/>
          <p:nvPr/>
        </p:nvSpPr>
        <p:spPr>
          <a:xfrm>
            <a:off x="6070091" y="2001011"/>
            <a:ext cx="914400" cy="914400"/>
          </a:xfrm>
          <a:custGeom>
            <a:avLst/>
            <a:gdLst>
              <a:gd name="connsiteX0" fmla="*/ 0 w 914400"/>
              <a:gd name="connsiteY0" fmla="*/ 152400 h 914400"/>
              <a:gd name="connsiteX1" fmla="*/ 152400 w 914400"/>
              <a:gd name="connsiteY1" fmla="*/ 0 h 914400"/>
              <a:gd name="connsiteX2" fmla="*/ 762000 w 914400"/>
              <a:gd name="connsiteY2" fmla="*/ 0 h 914400"/>
              <a:gd name="connsiteX3" fmla="*/ 914400 w 914400"/>
              <a:gd name="connsiteY3" fmla="*/ 152400 h 914400"/>
              <a:gd name="connsiteX4" fmla="*/ 914400 w 914400"/>
              <a:gd name="connsiteY4" fmla="*/ 762000 h 914400"/>
              <a:gd name="connsiteX5" fmla="*/ 762000 w 914400"/>
              <a:gd name="connsiteY5" fmla="*/ 914400 h 914400"/>
              <a:gd name="connsiteX6" fmla="*/ 152400 w 914400"/>
              <a:gd name="connsiteY6" fmla="*/ 914400 h 914400"/>
              <a:gd name="connsiteX7" fmla="*/ 0 w 914400"/>
              <a:gd name="connsiteY7" fmla="*/ 762000 h 914400"/>
              <a:gd name="connsiteX8" fmla="*/ 0 w 914400"/>
              <a:gd name="connsiteY8" fmla="*/ 152400 h 9144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914400" h="914400">
                <a:moveTo>
                  <a:pt x="0" y="152400"/>
                </a:moveTo>
                <a:cubicBezTo>
                  <a:pt x="0" y="68198"/>
                  <a:pt x="68198" y="0"/>
                  <a:pt x="152400" y="0"/>
                </a:cubicBezTo>
                <a:lnTo>
                  <a:pt x="762000" y="0"/>
                </a:lnTo>
                <a:cubicBezTo>
                  <a:pt x="846201" y="0"/>
                  <a:pt x="914400" y="68198"/>
                  <a:pt x="914400" y="152400"/>
                </a:cubicBezTo>
                <a:lnTo>
                  <a:pt x="914400" y="762000"/>
                </a:lnTo>
                <a:cubicBezTo>
                  <a:pt x="914400" y="846201"/>
                  <a:pt x="846201" y="914400"/>
                  <a:pt x="762000" y="914400"/>
                </a:cubicBezTo>
                <a:lnTo>
                  <a:pt x="152400" y="914400"/>
                </a:lnTo>
                <a:cubicBezTo>
                  <a:pt x="68198" y="914400"/>
                  <a:pt x="0" y="846201"/>
                  <a:pt x="0" y="762000"/>
                </a:cubicBezTo>
                <a:lnTo>
                  <a:pt x="0" y="152400"/>
                </a:lnTo>
              </a:path>
            </a:pathLst>
          </a:custGeom>
          <a:solidFill>
            <a:srgbClr val="FFC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3"/>
          <p:cNvSpPr/>
          <p:nvPr/>
        </p:nvSpPr>
        <p:spPr>
          <a:xfrm>
            <a:off x="0" y="560831"/>
            <a:ext cx="1368552" cy="361187"/>
          </a:xfrm>
          <a:custGeom>
            <a:avLst/>
            <a:gdLst>
              <a:gd name="connsiteX0" fmla="*/ 0 w 1368552"/>
              <a:gd name="connsiteY0" fmla="*/ 60198 h 361187"/>
              <a:gd name="connsiteX1" fmla="*/ 60199 w 1368552"/>
              <a:gd name="connsiteY1" fmla="*/ 0 h 361187"/>
              <a:gd name="connsiteX2" fmla="*/ 1308353 w 1368552"/>
              <a:gd name="connsiteY2" fmla="*/ 0 h 361187"/>
              <a:gd name="connsiteX3" fmla="*/ 1368552 w 1368552"/>
              <a:gd name="connsiteY3" fmla="*/ 60198 h 361187"/>
              <a:gd name="connsiteX4" fmla="*/ 1368552 w 1368552"/>
              <a:gd name="connsiteY4" fmla="*/ 300990 h 361187"/>
              <a:gd name="connsiteX5" fmla="*/ 1308353 w 1368552"/>
              <a:gd name="connsiteY5" fmla="*/ 361187 h 361187"/>
              <a:gd name="connsiteX6" fmla="*/ 60199 w 1368552"/>
              <a:gd name="connsiteY6" fmla="*/ 361187 h 361187"/>
              <a:gd name="connsiteX7" fmla="*/ 0 w 1368552"/>
              <a:gd name="connsiteY7" fmla="*/ 300990 h 361187"/>
              <a:gd name="connsiteX8" fmla="*/ 0 w 1368552"/>
              <a:gd name="connsiteY8" fmla="*/ 60198 h 36118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1368552" h="361187">
                <a:moveTo>
                  <a:pt x="0" y="60198"/>
                </a:moveTo>
                <a:cubicBezTo>
                  <a:pt x="0" y="26923"/>
                  <a:pt x="26951" y="0"/>
                  <a:pt x="60199" y="0"/>
                </a:cubicBezTo>
                <a:lnTo>
                  <a:pt x="1308353" y="0"/>
                </a:lnTo>
                <a:cubicBezTo>
                  <a:pt x="1341627" y="0"/>
                  <a:pt x="1368552" y="26923"/>
                  <a:pt x="1368552" y="60198"/>
                </a:cubicBezTo>
                <a:lnTo>
                  <a:pt x="1368552" y="300990"/>
                </a:lnTo>
                <a:cubicBezTo>
                  <a:pt x="1368552" y="334264"/>
                  <a:pt x="1341627" y="361187"/>
                  <a:pt x="1308353" y="361187"/>
                </a:cubicBezTo>
                <a:lnTo>
                  <a:pt x="60199" y="361187"/>
                </a:lnTo>
                <a:cubicBezTo>
                  <a:pt x="26951" y="361187"/>
                  <a:pt x="0" y="334264"/>
                  <a:pt x="0" y="300990"/>
                </a:cubicBezTo>
                <a:lnTo>
                  <a:pt x="0" y="60198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4500" y="1092200"/>
            <a:ext cx="12395200" cy="62103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711200" y="2146300"/>
            <a:ext cx="1511300" cy="482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00"/>
              </a:lnSpc>
              <a:tabLst/>
            </a:pPr>
            <a:r>
              <a:rPr lang="en-US" altLang="zh-CN" sz="3998" dirty="0" smtClean="0">
                <a:solidFill>
                  <a:srgbClr val="FFC000"/>
                </a:solidFill>
                <a:latin typeface="Microsoft YaHei UI" pitchFamily="18" charset="0"/>
                <a:cs typeface="Microsoft YaHei UI" pitchFamily="18" charset="0"/>
              </a:rPr>
              <a:t>二次元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070100" y="2578100"/>
            <a:ext cx="1676400" cy="800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6300"/>
              </a:lnSpc>
              <a:tabLst/>
            </a:pPr>
            <a:r>
              <a:rPr lang="en-US" altLang="zh-CN" sz="6602" dirty="0" smtClean="0">
                <a:solidFill>
                  <a:srgbClr val="FF9900"/>
                </a:solidFill>
                <a:latin typeface="Microsoft YaHei UI" pitchFamily="18" charset="0"/>
                <a:cs typeface="Microsoft YaHei UI" pitchFamily="18" charset="0"/>
              </a:rPr>
              <a:t>自信</a:t>
            </a:r>
          </a:p>
        </p:txBody>
      </p:sp>
      <p:sp>
        <p:nvSpPr>
          <p:cNvPr id="12" name="TextBox 1"/>
          <p:cNvSpPr txBox="1"/>
          <p:nvPr/>
        </p:nvSpPr>
        <p:spPr>
          <a:xfrm>
            <a:off x="1066800" y="2997200"/>
            <a:ext cx="812800" cy="381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000"/>
              </a:lnSpc>
              <a:tabLst/>
            </a:pPr>
            <a:r>
              <a:rPr lang="en-US" altLang="zh-CN" sz="3204" dirty="0" smtClean="0">
                <a:solidFill>
                  <a:srgbClr val="FFC000"/>
                </a:solidFill>
                <a:latin typeface="Microsoft YaHei UI" pitchFamily="18" charset="0"/>
                <a:cs typeface="Microsoft YaHei UI" pitchFamily="18" charset="0"/>
              </a:rPr>
              <a:t>聪明</a:t>
            </a:r>
          </a:p>
        </p:txBody>
      </p:sp>
      <p:sp>
        <p:nvSpPr>
          <p:cNvPr id="13" name="TextBox 1"/>
          <p:cNvSpPr txBox="1"/>
          <p:nvPr/>
        </p:nvSpPr>
        <p:spPr>
          <a:xfrm>
            <a:off x="1612900" y="3657600"/>
            <a:ext cx="1676400" cy="800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6300"/>
              </a:lnSpc>
              <a:tabLst/>
            </a:pPr>
            <a:r>
              <a:rPr lang="en-US" altLang="zh-CN" sz="6600" dirty="0" smtClean="0">
                <a:solidFill>
                  <a:srgbClr val="FF9900"/>
                </a:solidFill>
                <a:latin typeface="Microsoft YaHei UI" pitchFamily="18" charset="0"/>
                <a:cs typeface="Microsoft YaHei UI" pitchFamily="18" charset="0"/>
              </a:rPr>
              <a:t>独特</a:t>
            </a:r>
          </a:p>
        </p:txBody>
      </p:sp>
      <p:sp>
        <p:nvSpPr>
          <p:cNvPr id="14" name="TextBox 1"/>
          <p:cNvSpPr txBox="1"/>
          <p:nvPr/>
        </p:nvSpPr>
        <p:spPr>
          <a:xfrm>
            <a:off x="9969500" y="1536700"/>
            <a:ext cx="1422400" cy="673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5300"/>
              </a:lnSpc>
              <a:tabLst/>
            </a:pPr>
            <a:r>
              <a:rPr lang="en-US" altLang="zh-CN" sz="5604" dirty="0" smtClean="0">
                <a:solidFill>
                  <a:srgbClr val="FFC000"/>
                </a:solidFill>
                <a:latin typeface="Microsoft YaHei UI" pitchFamily="18" charset="0"/>
                <a:cs typeface="Microsoft YaHei UI" pitchFamily="18" charset="0"/>
              </a:rPr>
              <a:t>学习</a:t>
            </a:r>
          </a:p>
        </p:txBody>
      </p:sp>
      <p:sp>
        <p:nvSpPr>
          <p:cNvPr id="15" name="TextBox 1"/>
          <p:cNvSpPr txBox="1"/>
          <p:nvPr/>
        </p:nvSpPr>
        <p:spPr>
          <a:xfrm>
            <a:off x="7708900" y="2349500"/>
            <a:ext cx="4267200" cy="5842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600"/>
              </a:lnSpc>
              <a:tabLst/>
            </a:pPr>
            <a:r>
              <a:rPr lang="en-US" altLang="zh-CN" sz="4800" dirty="0" smtClean="0">
                <a:solidFill>
                  <a:srgbClr val="FF9900"/>
                </a:solidFill>
                <a:latin typeface="Microsoft YaHei UI" pitchFamily="18" charset="0"/>
                <a:cs typeface="Microsoft YaHei UI" pitchFamily="18" charset="0"/>
              </a:rPr>
              <a:t>伴随互联网成长</a:t>
            </a:r>
          </a:p>
        </p:txBody>
      </p:sp>
      <p:sp>
        <p:nvSpPr>
          <p:cNvPr id="16" name="TextBox 1"/>
          <p:cNvSpPr txBox="1"/>
          <p:nvPr/>
        </p:nvSpPr>
        <p:spPr>
          <a:xfrm>
            <a:off x="6438900" y="3200400"/>
            <a:ext cx="1054100" cy="3302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600"/>
              </a:lnSpc>
              <a:tabLst/>
            </a:pPr>
            <a:r>
              <a:rPr lang="en-US" altLang="zh-CN" sz="2795" dirty="0" smtClean="0">
                <a:solidFill>
                  <a:srgbClr val="FFC000"/>
                </a:solidFill>
                <a:latin typeface="Microsoft YaHei UI" pitchFamily="18" charset="0"/>
                <a:cs typeface="Microsoft YaHei UI" pitchFamily="18" charset="0"/>
              </a:rPr>
              <a:t>爱好多</a:t>
            </a:r>
          </a:p>
        </p:txBody>
      </p:sp>
      <p:sp>
        <p:nvSpPr>
          <p:cNvPr id="17" name="TextBox 1"/>
          <p:cNvSpPr txBox="1"/>
          <p:nvPr/>
        </p:nvSpPr>
        <p:spPr>
          <a:xfrm>
            <a:off x="8966200" y="3251200"/>
            <a:ext cx="1016000" cy="241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/>
            </a:pPr>
            <a:r>
              <a:rPr lang="en-US" altLang="zh-CN" sz="200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简单忙碌</a:t>
            </a:r>
          </a:p>
        </p:txBody>
      </p:sp>
      <p:sp>
        <p:nvSpPr>
          <p:cNvPr id="18" name="TextBox 1"/>
          <p:cNvSpPr txBox="1"/>
          <p:nvPr/>
        </p:nvSpPr>
        <p:spPr>
          <a:xfrm>
            <a:off x="10337800" y="3263900"/>
            <a:ext cx="2311400" cy="3302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600"/>
              </a:lnSpc>
              <a:tabLst/>
            </a:pPr>
            <a:r>
              <a:rPr lang="en-US" altLang="zh-CN" sz="2795" dirty="0" smtClean="0">
                <a:solidFill>
                  <a:srgbClr val="FFC000"/>
                </a:solidFill>
                <a:latin typeface="Microsoft YaHei UI" pitchFamily="18" charset="0"/>
                <a:cs typeface="Microsoft YaHei UI" pitchFamily="18" charset="0"/>
              </a:rPr>
              <a:t>理想&amp;现实都要</a:t>
            </a:r>
          </a:p>
        </p:txBody>
      </p:sp>
      <p:sp>
        <p:nvSpPr>
          <p:cNvPr id="19" name="TextBox 1"/>
          <p:cNvSpPr txBox="1"/>
          <p:nvPr/>
        </p:nvSpPr>
        <p:spPr>
          <a:xfrm>
            <a:off x="723900" y="7035800"/>
            <a:ext cx="635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996" b="1" dirty="0" smtClean="0">
                <a:solidFill>
                  <a:srgbClr val="7F7F7F"/>
                </a:solidFill>
                <a:latin typeface="Century" pitchFamily="18" charset="0"/>
                <a:cs typeface="Century" pitchFamily="18" charset="0"/>
              </a:rPr>
              <a:t>6</a:t>
            </a:r>
          </a:p>
        </p:txBody>
      </p:sp>
      <p:sp>
        <p:nvSpPr>
          <p:cNvPr id="20" name="TextBox 1"/>
          <p:cNvSpPr txBox="1"/>
          <p:nvPr/>
        </p:nvSpPr>
        <p:spPr>
          <a:xfrm>
            <a:off x="3746500" y="4864100"/>
            <a:ext cx="2133600" cy="673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5300"/>
              </a:lnSpc>
              <a:tabLst/>
            </a:pPr>
            <a:r>
              <a:rPr lang="en-US" altLang="zh-CN" sz="5606" dirty="0" smtClean="0">
                <a:solidFill>
                  <a:srgbClr val="93CDDD"/>
                </a:solidFill>
                <a:latin typeface="Microsoft YaHei UI" pitchFamily="18" charset="0"/>
                <a:cs typeface="Microsoft YaHei UI" pitchFamily="18" charset="0"/>
              </a:rPr>
              <a:t>QQ空间</a:t>
            </a:r>
          </a:p>
        </p:txBody>
      </p:sp>
      <p:sp>
        <p:nvSpPr>
          <p:cNvPr id="21" name="TextBox 1"/>
          <p:cNvSpPr txBox="1"/>
          <p:nvPr/>
        </p:nvSpPr>
        <p:spPr>
          <a:xfrm>
            <a:off x="3276600" y="5689600"/>
            <a:ext cx="3759200" cy="1308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6300"/>
              </a:lnSpc>
              <a:tabLst>
                <a:tab pos="1435100" algn="l"/>
              </a:tabLst>
            </a:pPr>
            <a:r>
              <a:rPr lang="en-US" altLang="zh-CN" sz="6600" dirty="0" smtClean="0">
                <a:solidFill>
                  <a:srgbClr val="00B0F0"/>
                </a:solidFill>
                <a:latin typeface="Microsoft YaHei UI" pitchFamily="18" charset="0"/>
                <a:cs typeface="Microsoft YaHei UI" pitchFamily="18" charset="0"/>
              </a:rPr>
              <a:t>小伙伴</a:t>
            </a:r>
            <a:r>
              <a:rPr lang="en-US" altLang="zh-CN" sz="4802" dirty="0" smtClean="0">
                <a:solidFill>
                  <a:srgbClr val="93CDDD"/>
                </a:solidFill>
                <a:latin typeface="Microsoft YaHei UI" pitchFamily="18" charset="0"/>
                <a:cs typeface="Microsoft YaHei UI" pitchFamily="18" charset="0"/>
              </a:rPr>
              <a:t>电视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3000"/>
              </a:lnSpc>
              <a:tabLst>
                <a:tab pos="1435100" algn="l"/>
              </a:tabLst>
            </a:pPr>
            <a:r>
              <a:rPr lang="en-US" altLang="zh-CN" dirty="0" smtClean="0"/>
              <a:t>	</a:t>
            </a:r>
            <a:r>
              <a:rPr lang="en-US" altLang="zh-CN" sz="2795" dirty="0" smtClean="0">
                <a:solidFill>
                  <a:srgbClr val="8EB4E3"/>
                </a:solidFill>
                <a:latin typeface="Microsoft YaHei UI" pitchFamily="18" charset="0"/>
                <a:cs typeface="Microsoft YaHei UI" pitchFamily="18" charset="0"/>
              </a:rPr>
              <a:t>搜索引擎</a:t>
            </a:r>
          </a:p>
        </p:txBody>
      </p:sp>
      <p:sp>
        <p:nvSpPr>
          <p:cNvPr id="22" name="TextBox 1"/>
          <p:cNvSpPr txBox="1"/>
          <p:nvPr/>
        </p:nvSpPr>
        <p:spPr>
          <a:xfrm>
            <a:off x="7162800" y="5930900"/>
            <a:ext cx="508000" cy="241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/>
            </a:pPr>
            <a:r>
              <a:rPr lang="en-US" altLang="zh-CN" sz="200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贴吧</a:t>
            </a:r>
          </a:p>
        </p:txBody>
      </p:sp>
      <p:sp>
        <p:nvSpPr>
          <p:cNvPr id="23" name="TextBox 1"/>
          <p:cNvSpPr txBox="1"/>
          <p:nvPr/>
        </p:nvSpPr>
        <p:spPr>
          <a:xfrm>
            <a:off x="6070600" y="4597400"/>
            <a:ext cx="660400" cy="990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>
                <a:tab pos="152400" algn="l"/>
              </a:tabLst>
            </a:pPr>
            <a:r>
              <a:rPr lang="en-US" altLang="zh-CN" sz="2004" dirty="0" smtClean="0">
                <a:solidFill>
                  <a:srgbClr val="FFFFFF"/>
                </a:solidFill>
                <a:latin typeface="Microsoft YaHei UI" pitchFamily="18" charset="0"/>
                <a:cs typeface="Microsoft YaHei UI" pitchFamily="18" charset="0"/>
              </a:rPr>
              <a:t>渠道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900"/>
              </a:lnSpc>
              <a:tabLst>
                <a:tab pos="152400" algn="l"/>
              </a:tabLst>
            </a:pPr>
            <a:r>
              <a:rPr lang="en-US" altLang="zh-CN" dirty="0" smtClean="0"/>
              <a:t>	</a:t>
            </a:r>
            <a:r>
              <a:rPr lang="en-US" altLang="zh-CN" sz="200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微博</a:t>
            </a:r>
          </a:p>
        </p:txBody>
      </p:sp>
      <p:sp>
        <p:nvSpPr>
          <p:cNvPr id="24" name="TextBox 1"/>
          <p:cNvSpPr txBox="1"/>
          <p:nvPr/>
        </p:nvSpPr>
        <p:spPr>
          <a:xfrm>
            <a:off x="2057400" y="1663700"/>
            <a:ext cx="1016000" cy="482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00"/>
              </a:lnSpc>
              <a:tabLst/>
            </a:pPr>
            <a:r>
              <a:rPr lang="en-US" altLang="zh-CN" sz="3998" dirty="0" smtClean="0">
                <a:solidFill>
                  <a:srgbClr val="FFC000"/>
                </a:solidFill>
                <a:latin typeface="Microsoft YaHei UI" pitchFamily="18" charset="0"/>
                <a:cs typeface="Microsoft YaHei UI" pitchFamily="18" charset="0"/>
              </a:rPr>
              <a:t>逗比</a:t>
            </a:r>
          </a:p>
        </p:txBody>
      </p:sp>
      <p:sp>
        <p:nvSpPr>
          <p:cNvPr id="25" name="TextBox 1"/>
          <p:cNvSpPr txBox="1"/>
          <p:nvPr/>
        </p:nvSpPr>
        <p:spPr>
          <a:xfrm>
            <a:off x="3136900" y="2171700"/>
            <a:ext cx="1409700" cy="1778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>
                <a:tab pos="596900" algn="l"/>
                <a:tab pos="927100" algn="l"/>
              </a:tabLst>
            </a:pPr>
            <a:r>
              <a:rPr lang="en-US" altLang="zh-CN" sz="2402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男神/女神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700"/>
              </a:lnSpc>
              <a:tabLst>
                <a:tab pos="596900" algn="l"/>
                <a:tab pos="927100" algn="l"/>
              </a:tabLst>
            </a:pPr>
            <a:r>
              <a:rPr lang="en-US" altLang="zh-CN" dirty="0" smtClean="0"/>
              <a:t>		</a:t>
            </a:r>
            <a:r>
              <a:rPr lang="en-US" altLang="zh-CN" sz="2402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萌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3900"/>
              </a:lnSpc>
              <a:tabLst>
                <a:tab pos="596900" algn="l"/>
                <a:tab pos="927100" algn="l"/>
              </a:tabLst>
            </a:pPr>
            <a:r>
              <a:rPr lang="en-US" altLang="zh-CN" dirty="0" smtClean="0"/>
              <a:t>	</a:t>
            </a:r>
            <a:r>
              <a:rPr lang="en-US" altLang="zh-CN" sz="3204" dirty="0" smtClean="0">
                <a:solidFill>
                  <a:srgbClr val="FFC000"/>
                </a:solidFill>
                <a:latin typeface="Microsoft YaHei UI" pitchFamily="18" charset="0"/>
                <a:cs typeface="Microsoft YaHei UI" pitchFamily="18" charset="0"/>
              </a:rPr>
              <a:t>靠谱</a:t>
            </a:r>
          </a:p>
        </p:txBody>
      </p:sp>
      <p:sp>
        <p:nvSpPr>
          <p:cNvPr id="26" name="TextBox 1"/>
          <p:cNvSpPr txBox="1"/>
          <p:nvPr/>
        </p:nvSpPr>
        <p:spPr>
          <a:xfrm>
            <a:off x="4737100" y="2273300"/>
            <a:ext cx="952500" cy="1574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>
                <a:tab pos="190500" algn="l"/>
                <a:tab pos="317500" algn="l"/>
              </a:tabLst>
            </a:pPr>
            <a:r>
              <a:rPr lang="en-US" altLang="zh-CN" dirty="0" smtClean="0"/>
              <a:t>	</a:t>
            </a:r>
            <a:r>
              <a:rPr lang="en-US" altLang="zh-CN" sz="2006" dirty="0" smtClean="0">
                <a:solidFill>
                  <a:srgbClr val="FFFFFF"/>
                </a:solidFill>
                <a:latin typeface="Microsoft YaHei UI" pitchFamily="18" charset="0"/>
                <a:cs typeface="Microsoft YaHei UI" pitchFamily="18" charset="0"/>
              </a:rPr>
              <a:t>多元化</a:t>
            </a:r>
          </a:p>
          <a:p>
            <a:pPr>
              <a:lnSpc>
                <a:spcPts val="2300"/>
              </a:lnSpc>
              <a:tabLst>
                <a:tab pos="190500" algn="l"/>
                <a:tab pos="317500" algn="l"/>
              </a:tabLst>
            </a:pPr>
            <a:r>
              <a:rPr lang="en-US" altLang="zh-CN" dirty="0" smtClean="0"/>
              <a:t>		</a:t>
            </a:r>
            <a:r>
              <a:rPr lang="en-US" altLang="zh-CN" sz="2004" dirty="0" smtClean="0">
                <a:solidFill>
                  <a:srgbClr val="FFFFFF"/>
                </a:solidFill>
                <a:latin typeface="Microsoft YaHei UI" pitchFamily="18" charset="0"/>
                <a:cs typeface="Microsoft YaHei UI" pitchFamily="18" charset="0"/>
              </a:rPr>
              <a:t>自我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100"/>
              </a:lnSpc>
              <a:tabLst>
                <a:tab pos="190500" algn="l"/>
                <a:tab pos="317500" algn="l"/>
              </a:tabLst>
            </a:pPr>
            <a:r>
              <a:rPr lang="en-US" altLang="zh-CN" sz="200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宅</a:t>
            </a:r>
          </a:p>
        </p:txBody>
      </p:sp>
      <p:sp>
        <p:nvSpPr>
          <p:cNvPr id="27" name="TextBox 1"/>
          <p:cNvSpPr txBox="1"/>
          <p:nvPr/>
        </p:nvSpPr>
        <p:spPr>
          <a:xfrm>
            <a:off x="7277100" y="1739900"/>
            <a:ext cx="4572000" cy="2641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>
                <a:tab pos="177800" algn="l"/>
                <a:tab pos="457200" algn="l"/>
                <a:tab pos="1117600" algn="l"/>
              </a:tabLst>
            </a:pPr>
            <a:r>
              <a:rPr lang="en-US" altLang="zh-CN" dirty="0" smtClean="0"/>
              <a:t>			</a:t>
            </a:r>
            <a:r>
              <a:rPr lang="en-US" altLang="zh-CN" sz="200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喜欢小鲜肉</a:t>
            </a:r>
          </a:p>
          <a:p>
            <a:pPr>
              <a:lnSpc>
                <a:spcPts val="1600"/>
              </a:lnSpc>
              <a:tabLst>
                <a:tab pos="177800" algn="l"/>
                <a:tab pos="457200" algn="l"/>
                <a:tab pos="1117600" algn="l"/>
              </a:tabLst>
            </a:pPr>
            <a:r>
              <a:rPr lang="en-US" altLang="zh-CN" dirty="0" smtClean="0"/>
              <a:t>	</a:t>
            </a:r>
            <a:r>
              <a:rPr lang="en-US" altLang="zh-CN" sz="200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粉明星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600"/>
              </a:lnSpc>
              <a:tabLst>
                <a:tab pos="177800" algn="l"/>
                <a:tab pos="457200" algn="l"/>
                <a:tab pos="1117600" algn="l"/>
              </a:tabLst>
            </a:pPr>
            <a:r>
              <a:rPr lang="en-US" altLang="zh-CN" dirty="0" smtClean="0"/>
              <a:t>		</a:t>
            </a:r>
            <a:r>
              <a:rPr lang="en-US" altLang="zh-CN" sz="200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看综艺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5600"/>
              </a:lnSpc>
              <a:tabLst>
                <a:tab pos="177800" algn="l"/>
                <a:tab pos="457200" algn="l"/>
                <a:tab pos="1117600" algn="l"/>
              </a:tabLst>
            </a:pPr>
            <a:r>
              <a:rPr lang="en-US" altLang="zh-CN" sz="5604" dirty="0" smtClean="0">
                <a:solidFill>
                  <a:srgbClr val="FF9900"/>
                </a:solidFill>
                <a:latin typeface="Microsoft YaHei UI" pitchFamily="18" charset="0"/>
                <a:cs typeface="Microsoft YaHei UI" pitchFamily="18" charset="0"/>
              </a:rPr>
              <a:t>充满希望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             </a:t>
            </a:r>
            <a:r>
              <a:rPr lang="en-US" altLang="zh-CN" sz="200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两点一线</a:t>
            </a:r>
          </a:p>
        </p:txBody>
      </p:sp>
      <p:sp>
        <p:nvSpPr>
          <p:cNvPr id="28" name="TextBox 1"/>
          <p:cNvSpPr txBox="1"/>
          <p:nvPr/>
        </p:nvSpPr>
        <p:spPr>
          <a:xfrm>
            <a:off x="6070600" y="2197100"/>
            <a:ext cx="698500" cy="2336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>
                <a:tab pos="190500" algn="l"/>
              </a:tabLst>
            </a:pPr>
            <a:r>
              <a:rPr lang="en-US" altLang="zh-CN" dirty="0" smtClean="0"/>
              <a:t>	</a:t>
            </a:r>
            <a:r>
              <a:rPr lang="en-US" altLang="zh-CN" sz="2004" dirty="0" smtClean="0">
                <a:solidFill>
                  <a:srgbClr val="FFFFFF"/>
                </a:solidFill>
                <a:latin typeface="Microsoft YaHei UI" pitchFamily="18" charset="0"/>
                <a:cs typeface="Microsoft YaHei UI" pitchFamily="18" charset="0"/>
              </a:rPr>
              <a:t>生活</a:t>
            </a:r>
          </a:p>
          <a:p>
            <a:pPr>
              <a:lnSpc>
                <a:spcPts val="2300"/>
              </a:lnSpc>
              <a:tabLst>
                <a:tab pos="190500" algn="l"/>
              </a:tabLst>
            </a:pPr>
            <a:r>
              <a:rPr lang="en-US" altLang="zh-CN" dirty="0" smtClean="0"/>
              <a:t>	</a:t>
            </a:r>
            <a:r>
              <a:rPr lang="en-US" altLang="zh-CN" sz="2006" dirty="0" smtClean="0">
                <a:solidFill>
                  <a:srgbClr val="FFFFFF"/>
                </a:solidFill>
                <a:latin typeface="Microsoft YaHei UI" pitchFamily="18" charset="0"/>
                <a:cs typeface="Microsoft YaHei UI" pitchFamily="18" charset="0"/>
              </a:rPr>
              <a:t>状态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200"/>
              </a:lnSpc>
              <a:tabLst>
                <a:tab pos="190500" algn="l"/>
              </a:tabLst>
            </a:pPr>
            <a:r>
              <a:rPr lang="en-US" altLang="zh-CN" sz="2006" dirty="0" smtClean="0">
                <a:solidFill>
                  <a:srgbClr val="FFFFFF"/>
                </a:solidFill>
                <a:latin typeface="Microsoft YaHei UI" pitchFamily="18" charset="0"/>
                <a:cs typeface="Microsoft YaHei UI" pitchFamily="18" charset="0"/>
              </a:rPr>
              <a:t>信息</a:t>
            </a:r>
          </a:p>
        </p:txBody>
      </p:sp>
      <p:sp>
        <p:nvSpPr>
          <p:cNvPr id="29" name="TextBox 1"/>
          <p:cNvSpPr txBox="1"/>
          <p:nvPr/>
        </p:nvSpPr>
        <p:spPr>
          <a:xfrm>
            <a:off x="7886700" y="4572000"/>
            <a:ext cx="1638300" cy="406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200"/>
              </a:lnSpc>
              <a:tabLst/>
            </a:pPr>
            <a:r>
              <a:rPr lang="en-US" altLang="zh-CN" sz="2798" dirty="0" smtClean="0">
                <a:solidFill>
                  <a:srgbClr val="FFC000"/>
                </a:solidFill>
                <a:latin typeface="Microsoft YaHei UI" pitchFamily="18" charset="0"/>
                <a:cs typeface="Microsoft YaHei UI" pitchFamily="18" charset="0"/>
              </a:rPr>
              <a:t>音乐</a:t>
            </a:r>
            <a:r>
              <a:rPr lang="en-US" altLang="zh-CN" sz="2795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795" dirty="0" smtClean="0">
                <a:solidFill>
                  <a:srgbClr val="FFC000"/>
                </a:solidFill>
                <a:latin typeface="Microsoft YaHei UI" pitchFamily="18" charset="0"/>
                <a:cs typeface="Microsoft YaHei UI" pitchFamily="18" charset="0"/>
              </a:rPr>
              <a:t>视频</a:t>
            </a:r>
          </a:p>
        </p:txBody>
      </p:sp>
      <p:sp>
        <p:nvSpPr>
          <p:cNvPr id="30" name="TextBox 1"/>
          <p:cNvSpPr txBox="1"/>
          <p:nvPr/>
        </p:nvSpPr>
        <p:spPr>
          <a:xfrm>
            <a:off x="9906000" y="4610100"/>
            <a:ext cx="508000" cy="241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/>
            </a:pPr>
            <a:r>
              <a:rPr lang="en-US" altLang="zh-CN" sz="200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游戏</a:t>
            </a:r>
          </a:p>
        </p:txBody>
      </p:sp>
      <p:sp>
        <p:nvSpPr>
          <p:cNvPr id="32" name="TextBox 1"/>
          <p:cNvSpPr txBox="1"/>
          <p:nvPr/>
        </p:nvSpPr>
        <p:spPr>
          <a:xfrm>
            <a:off x="711200" y="458609"/>
            <a:ext cx="8848576" cy="379591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2795" dirty="0" err="1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Appearance：理想自我多元化</a:t>
            </a:r>
            <a:r>
              <a:rPr lang="en-US" altLang="zh-CN" sz="2795" dirty="0" err="1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，不随便盲从</a:t>
            </a:r>
            <a:r>
              <a:rPr lang="en-US" altLang="zh-CN" sz="2795" dirty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，“</a:t>
            </a:r>
            <a:r>
              <a:rPr lang="en-US" altLang="zh-CN" sz="2795" dirty="0" err="1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我就是我</a:t>
            </a:r>
            <a:r>
              <a:rPr lang="en-US" altLang="zh-CN" sz="2795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”</a:t>
            </a:r>
            <a:endParaRPr lang="en-US" altLang="zh-CN" sz="2795" dirty="0">
              <a:solidFill>
                <a:srgbClr val="404040"/>
              </a:solidFill>
              <a:latin typeface="Microsoft YaHei UI" pitchFamily="18" charset="0"/>
              <a:cs typeface="Microsoft YaHei UI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3004292" cy="7315200"/>
          </a:xfrm>
          <a:custGeom>
            <a:avLst/>
            <a:gdLst>
              <a:gd name="connsiteX0" fmla="*/ 0 w 13004292"/>
              <a:gd name="connsiteY0" fmla="*/ 7315199 h 7315200"/>
              <a:gd name="connsiteX1" fmla="*/ 13004292 w 13004292"/>
              <a:gd name="connsiteY1" fmla="*/ 7315199 h 7315200"/>
              <a:gd name="connsiteX2" fmla="*/ 13004292 w 13004292"/>
              <a:gd name="connsiteY2" fmla="*/ 0 h 7315200"/>
              <a:gd name="connsiteX3" fmla="*/ 0 w 13004292"/>
              <a:gd name="connsiteY3" fmla="*/ 0 h 7315200"/>
              <a:gd name="connsiteX4" fmla="*/ 0 w 13004292"/>
              <a:gd name="connsiteY4" fmla="*/ 7315199 h 7315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3004292" h="7315200">
                <a:moveTo>
                  <a:pt x="0" y="7315199"/>
                </a:moveTo>
                <a:lnTo>
                  <a:pt x="13004292" y="7315199"/>
                </a:lnTo>
                <a:lnTo>
                  <a:pt x="13004292" y="0"/>
                </a:lnTo>
                <a:lnTo>
                  <a:pt x="0" y="0"/>
                </a:lnTo>
                <a:lnTo>
                  <a:pt x="0" y="73151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Freeform 3"/>
          <p:cNvSpPr/>
          <p:nvPr/>
        </p:nvSpPr>
        <p:spPr>
          <a:xfrm>
            <a:off x="1318260" y="6391655"/>
            <a:ext cx="11160252" cy="794003"/>
          </a:xfrm>
          <a:custGeom>
            <a:avLst/>
            <a:gdLst>
              <a:gd name="connsiteX0" fmla="*/ 0 w 11160252"/>
              <a:gd name="connsiteY0" fmla="*/ 794003 h 794003"/>
              <a:gd name="connsiteX1" fmla="*/ 11160251 w 11160252"/>
              <a:gd name="connsiteY1" fmla="*/ 794003 h 794003"/>
              <a:gd name="connsiteX2" fmla="*/ 11160251 w 11160252"/>
              <a:gd name="connsiteY2" fmla="*/ 0 h 794003"/>
              <a:gd name="connsiteX3" fmla="*/ 0 w 11160252"/>
              <a:gd name="connsiteY3" fmla="*/ 0 h 794003"/>
              <a:gd name="connsiteX4" fmla="*/ 0 w 11160252"/>
              <a:gd name="connsiteY4" fmla="*/ 794003 h 79400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1160252" h="794003">
                <a:moveTo>
                  <a:pt x="0" y="794003"/>
                </a:moveTo>
                <a:lnTo>
                  <a:pt x="11160251" y="794003"/>
                </a:lnTo>
                <a:lnTo>
                  <a:pt x="11160251" y="0"/>
                </a:lnTo>
                <a:lnTo>
                  <a:pt x="0" y="0"/>
                </a:lnTo>
                <a:lnTo>
                  <a:pt x="0" y="794003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0900" y="1320800"/>
            <a:ext cx="203200" cy="203200"/>
          </a:xfrm>
          <a:prstGeom prst="rect">
            <a:avLst/>
          </a:prstGeom>
          <a:noFill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0900" y="2425700"/>
            <a:ext cx="203200" cy="203200"/>
          </a:xfrm>
          <a:prstGeom prst="rect">
            <a:avLst/>
          </a:prstGeom>
          <a:noFill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0900" y="4254500"/>
            <a:ext cx="203200" cy="203200"/>
          </a:xfrm>
          <a:prstGeom prst="rect">
            <a:avLst/>
          </a:prstGeom>
          <a:noFill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0900" y="6083300"/>
            <a:ext cx="203200" cy="203200"/>
          </a:xfrm>
          <a:prstGeom prst="rect">
            <a:avLst/>
          </a:prstGeom>
          <a:noFill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315700" y="6667500"/>
            <a:ext cx="1397000" cy="4699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698500" y="7035800"/>
            <a:ext cx="1397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996" b="1" dirty="0" smtClean="0">
                <a:solidFill>
                  <a:srgbClr val="7F7F7F"/>
                </a:solidFill>
                <a:latin typeface="Century" pitchFamily="18" charset="0"/>
                <a:cs typeface="Century" pitchFamily="18" charset="0"/>
              </a:rPr>
              <a:t>10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1384300" y="1917700"/>
            <a:ext cx="32893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129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自恋。能把学习生活平衡好不能称作帅吗？”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9969500" y="1917700"/>
            <a:ext cx="22987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129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——高一男生，风吹花落已成殇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1282700" y="6057900"/>
            <a:ext cx="10985500" cy="800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>
                <a:tab pos="101600" algn="l"/>
              </a:tabLst>
            </a:pPr>
            <a:r>
              <a:rPr lang="en-US" altLang="zh-CN" sz="200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敢说敢想敢做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500"/>
              </a:lnSpc>
              <a:tabLst>
                <a:tab pos="101600" algn="l"/>
              </a:tabLst>
            </a:pPr>
            <a:r>
              <a:rPr lang="en-US" altLang="zh-CN" dirty="0" smtClean="0"/>
              <a:t>	</a:t>
            </a:r>
            <a:r>
              <a:rPr lang="en-US" altLang="zh-CN" sz="129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“我是一个随性的人，想起要做什么，就去做啦。就是那种说走就走的人。前几天，学校有去台湾的交流项目而报名，我想去，可是爸爸觉得学校给出</a:t>
            </a:r>
          </a:p>
          <a:p>
            <a:pPr>
              <a:lnSpc>
                <a:spcPts val="1800"/>
              </a:lnSpc>
              <a:tabLst>
                <a:tab pos="101600" algn="l"/>
              </a:tabLst>
            </a:pPr>
            <a:r>
              <a:rPr lang="en-US" altLang="zh-CN" dirty="0" smtClean="0"/>
              <a:t>	</a:t>
            </a:r>
            <a:r>
              <a:rPr lang="en-US" altLang="zh-CN" sz="129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的台湾交流学校都不是特别好，这事儿就搁置了几天。在报名的最后一天，想去的念头突然强烈的起来，我觉得这种机会特别难得，所以决定一定要去</a:t>
            </a:r>
          </a:p>
        </p:txBody>
      </p:sp>
      <p:sp>
        <p:nvSpPr>
          <p:cNvPr id="12" name="TextBox 1"/>
          <p:cNvSpPr txBox="1"/>
          <p:nvPr/>
        </p:nvSpPr>
        <p:spPr>
          <a:xfrm>
            <a:off x="1384300" y="6946900"/>
            <a:ext cx="87376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129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。然后就在报名截止前几个小时提交了申请，现在已经通过了面试，下学期就能去台湾玩耍啦。哈哈，想想就好开心。”</a:t>
            </a:r>
          </a:p>
        </p:txBody>
      </p:sp>
      <p:sp>
        <p:nvSpPr>
          <p:cNvPr id="13" name="TextBox 1"/>
          <p:cNvSpPr txBox="1"/>
          <p:nvPr/>
        </p:nvSpPr>
        <p:spPr>
          <a:xfrm>
            <a:off x="10388600" y="6946900"/>
            <a:ext cx="19685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129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——大学女生，</a:t>
            </a:r>
            <a:r>
              <a:rPr lang="en-US" altLang="zh-CN" sz="12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29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uuuu</a:t>
            </a:r>
            <a:r>
              <a:rPr lang="en-US" altLang="zh-CN" sz="12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29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uuuu</a:t>
            </a:r>
          </a:p>
        </p:txBody>
      </p:sp>
      <p:sp>
        <p:nvSpPr>
          <p:cNvPr id="14" name="TextBox 1"/>
          <p:cNvSpPr txBox="1"/>
          <p:nvPr/>
        </p:nvSpPr>
        <p:spPr>
          <a:xfrm>
            <a:off x="1282700" y="2400300"/>
            <a:ext cx="11099800" cy="2438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>
                <a:tab pos="101600" algn="l"/>
                <a:tab pos="9461500" algn="l"/>
                <a:tab pos="9791700" algn="l"/>
              </a:tabLst>
            </a:pPr>
            <a:r>
              <a:rPr lang="en-US" altLang="zh-CN" sz="200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乐观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500"/>
              </a:lnSpc>
              <a:tabLst>
                <a:tab pos="101600" algn="l"/>
                <a:tab pos="9461500" algn="l"/>
                <a:tab pos="9791700" algn="l"/>
              </a:tabLst>
            </a:pPr>
            <a:r>
              <a:rPr lang="en-US" altLang="zh-CN" dirty="0" smtClean="0"/>
              <a:t>	</a:t>
            </a:r>
            <a:r>
              <a:rPr lang="en-US" altLang="zh-CN" sz="129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“我是一个非常乐观的孩子！不过也难怪，这么幸运，不乐观才怪呢！我想我一定是世界上独一无二的，我的梦想一定能坚持下去！！”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300"/>
              </a:lnSpc>
              <a:tabLst>
                <a:tab pos="101600" algn="l"/>
                <a:tab pos="9461500" algn="l"/>
                <a:tab pos="9791700" algn="l"/>
              </a:tabLst>
            </a:pPr>
            <a:r>
              <a:rPr lang="en-US" altLang="zh-CN" dirty="0" smtClean="0"/>
              <a:t>			</a:t>
            </a:r>
            <a:r>
              <a:rPr lang="en-US" altLang="zh-CN" sz="129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——大学男生，枫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300"/>
              </a:lnSpc>
              <a:tabLst>
                <a:tab pos="101600" algn="l"/>
                <a:tab pos="9461500" algn="l"/>
                <a:tab pos="9791700" algn="l"/>
              </a:tabLst>
            </a:pPr>
            <a:r>
              <a:rPr lang="en-US" altLang="zh-CN" dirty="0" smtClean="0"/>
              <a:t>	</a:t>
            </a:r>
            <a:r>
              <a:rPr lang="en-US" altLang="zh-CN" sz="1298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“我最喜欢自己的特质一：乐观。这个一直以来都是，我高考没考好，没有能进入自己想要的大学，但我依然能够天天开心的在现在所在大学好好的学</a:t>
            </a:r>
          </a:p>
          <a:p>
            <a:pPr>
              <a:lnSpc>
                <a:spcPts val="1800"/>
              </a:lnSpc>
              <a:tabLst>
                <a:tab pos="101600" algn="l"/>
                <a:tab pos="9461500" algn="l"/>
                <a:tab pos="9791700" algn="l"/>
              </a:tabLst>
            </a:pPr>
            <a:r>
              <a:rPr lang="en-US" altLang="zh-CN" dirty="0" smtClean="0"/>
              <a:t>	</a:t>
            </a:r>
            <a:r>
              <a:rPr lang="en-US" altLang="zh-CN" sz="129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习与生活。每当生活不是那么顺利的时候了，我总会安慰自己没什么大不了，无关生死都是小事，让自己乐观起来。”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300"/>
              </a:lnSpc>
              <a:tabLst>
                <a:tab pos="101600" algn="l"/>
                <a:tab pos="9461500" algn="l"/>
                <a:tab pos="9791700" algn="l"/>
              </a:tabLst>
            </a:pPr>
            <a:r>
              <a:rPr lang="en-US" altLang="zh-CN" dirty="0" smtClean="0"/>
              <a:t>		</a:t>
            </a:r>
            <a:r>
              <a:rPr lang="en-US" altLang="zh-CN" sz="129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—大学男生，菲你莫属</a:t>
            </a:r>
          </a:p>
          <a:p>
            <a:pPr>
              <a:lnSpc>
                <a:spcPts val="2900"/>
              </a:lnSpc>
              <a:tabLst>
                <a:tab pos="101600" algn="l"/>
                <a:tab pos="9461500" algn="l"/>
                <a:tab pos="9791700" algn="l"/>
              </a:tabLst>
            </a:pPr>
            <a:r>
              <a:rPr lang="en-US" altLang="zh-CN" sz="200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执着，对认定的目标很坚持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900"/>
              </a:lnSpc>
              <a:tabLst>
                <a:tab pos="101600" algn="l"/>
                <a:tab pos="9461500" algn="l"/>
                <a:tab pos="9791700" algn="l"/>
              </a:tabLst>
            </a:pPr>
            <a:r>
              <a:rPr lang="en-US" altLang="zh-CN" dirty="0" smtClean="0"/>
              <a:t>	</a:t>
            </a:r>
            <a:r>
              <a:rPr lang="en-US" altLang="zh-CN" sz="129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“执着，或者说坚持吧，为了滑板里的一个动作（尖翻）</a:t>
            </a:r>
            <a:r>
              <a:rPr lang="en-US" altLang="zh-CN" sz="12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29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我可以一下午都能只练习那一个动作，直到做成为止。我可以为了GTA4逛遍所有贴吧、论坛，</a:t>
            </a:r>
          </a:p>
        </p:txBody>
      </p:sp>
      <p:sp>
        <p:nvSpPr>
          <p:cNvPr id="15" name="TextBox 1"/>
          <p:cNvSpPr txBox="1"/>
          <p:nvPr/>
        </p:nvSpPr>
        <p:spPr>
          <a:xfrm>
            <a:off x="1384300" y="4914900"/>
            <a:ext cx="19685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129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直到可以流畅运行为止。”</a:t>
            </a:r>
          </a:p>
        </p:txBody>
      </p:sp>
      <p:sp>
        <p:nvSpPr>
          <p:cNvPr id="16" name="TextBox 1"/>
          <p:cNvSpPr txBox="1"/>
          <p:nvPr/>
        </p:nvSpPr>
        <p:spPr>
          <a:xfrm>
            <a:off x="10388600" y="4914900"/>
            <a:ext cx="19685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129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——大学男生，我要大西瓜</a:t>
            </a:r>
          </a:p>
        </p:txBody>
      </p:sp>
      <p:sp>
        <p:nvSpPr>
          <p:cNvPr id="17" name="TextBox 1"/>
          <p:cNvSpPr txBox="1"/>
          <p:nvPr/>
        </p:nvSpPr>
        <p:spPr>
          <a:xfrm>
            <a:off x="1384300" y="5219700"/>
            <a:ext cx="108839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129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“对自己认定的目标很有动力和兴趣，想在大学期间考到造价员的证书，并找到单位挂靠，得到工作经历，方便毕业后得到证件升级的考试资格，当有</a:t>
            </a:r>
          </a:p>
        </p:txBody>
      </p:sp>
      <p:sp>
        <p:nvSpPr>
          <p:cNvPr id="18" name="TextBox 1"/>
          <p:cNvSpPr txBox="1"/>
          <p:nvPr/>
        </p:nvSpPr>
        <p:spPr>
          <a:xfrm>
            <a:off x="1384300" y="5461000"/>
            <a:ext cx="51054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1298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这个计划后便开始到图书馆借书自学，并且已经准备参加2016年考试。</a:t>
            </a:r>
          </a:p>
        </p:txBody>
      </p:sp>
      <p:sp>
        <p:nvSpPr>
          <p:cNvPr id="19" name="TextBox 1"/>
          <p:cNvSpPr txBox="1"/>
          <p:nvPr/>
        </p:nvSpPr>
        <p:spPr>
          <a:xfrm>
            <a:off x="6667500" y="5461000"/>
            <a:ext cx="1524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1298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”</a:t>
            </a:r>
          </a:p>
        </p:txBody>
      </p:sp>
      <p:sp>
        <p:nvSpPr>
          <p:cNvPr id="20" name="TextBox 1"/>
          <p:cNvSpPr txBox="1"/>
          <p:nvPr/>
        </p:nvSpPr>
        <p:spPr>
          <a:xfrm>
            <a:off x="10464800" y="5461000"/>
            <a:ext cx="18923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1298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--大学男生，Pacific</a:t>
            </a:r>
            <a:r>
              <a:rPr lang="en-US" altLang="zh-CN" sz="1298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298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Rim</a:t>
            </a:r>
          </a:p>
        </p:txBody>
      </p:sp>
      <p:sp>
        <p:nvSpPr>
          <p:cNvPr id="21" name="TextBox 1"/>
          <p:cNvSpPr txBox="1"/>
          <p:nvPr/>
        </p:nvSpPr>
        <p:spPr>
          <a:xfrm>
            <a:off x="353302" y="225656"/>
            <a:ext cx="12218088" cy="1687641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600"/>
              </a:lnSpc>
              <a:tabLst>
                <a:tab pos="1193800" algn="l"/>
                <a:tab pos="1295400" algn="l"/>
              </a:tabLst>
            </a:pPr>
            <a:r>
              <a:rPr lang="en-US" altLang="zh-CN" sz="2795" dirty="0" err="1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Behavior</a:t>
            </a:r>
            <a:r>
              <a:rPr lang="en-US" altLang="zh-CN" sz="2795" dirty="0" err="1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：自信、乐观、执着、敢想敢说敢做</a:t>
            </a:r>
            <a:endParaRPr lang="en-US" altLang="zh-CN" sz="2795" dirty="0" smtClean="0">
              <a:solidFill>
                <a:srgbClr val="404040"/>
              </a:solidFill>
              <a:latin typeface="Microsoft YaHei UI" pitchFamily="18" charset="0"/>
              <a:cs typeface="Microsoft YaHei UI" pitchFamily="18" charset="0"/>
            </a:endParaRPr>
          </a:p>
          <a:p>
            <a:pPr>
              <a:lnSpc>
                <a:spcPts val="2600"/>
              </a:lnSpc>
              <a:tabLst>
                <a:tab pos="1193800" algn="l"/>
                <a:tab pos="1295400" algn="l"/>
              </a:tabLst>
            </a:pPr>
            <a:endParaRPr lang="en-US" altLang="zh-CN" sz="2795" dirty="0" smtClean="0">
              <a:solidFill>
                <a:srgbClr val="404040"/>
              </a:solidFill>
              <a:latin typeface="Microsoft YaHei UI" pitchFamily="18" charset="0"/>
            </a:endParaRPr>
          </a:p>
          <a:p>
            <a:pPr>
              <a:lnSpc>
                <a:spcPts val="2600"/>
              </a:lnSpc>
              <a:tabLst>
                <a:tab pos="1193800" algn="l"/>
                <a:tab pos="1295400" algn="l"/>
              </a:tabLst>
            </a:pPr>
            <a:endParaRPr lang="en-US" altLang="zh-CN" sz="2795" dirty="0" smtClean="0">
              <a:solidFill>
                <a:srgbClr val="404040"/>
              </a:solidFill>
              <a:latin typeface="Microsoft YaHei UI" pitchFamily="18" charset="0"/>
            </a:endParaRPr>
          </a:p>
          <a:p>
            <a:pPr>
              <a:lnSpc>
                <a:spcPts val="2600"/>
              </a:lnSpc>
              <a:tabLst>
                <a:tab pos="1193800" algn="l"/>
                <a:tab pos="1295400" algn="l"/>
              </a:tabLst>
            </a:pPr>
            <a:r>
              <a:rPr lang="en-US" altLang="zh-CN" dirty="0" smtClean="0"/>
              <a:t>	</a:t>
            </a:r>
            <a:r>
              <a:rPr lang="en-US" altLang="zh-CN" sz="200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帅，帅</a:t>
            </a:r>
            <a:r>
              <a:rPr lang="en-US" altLang="zh-CN" sz="2004" dirty="0" smtClean="0">
                <a:solidFill>
                  <a:srgbClr val="404040"/>
                </a:solidFill>
                <a:latin typeface="Arial Unicode MS" pitchFamily="18" charset="0"/>
                <a:cs typeface="Arial Unicode MS" pitchFamily="18" charset="0"/>
              </a:rPr>
              <a:t>=</a:t>
            </a:r>
            <a:r>
              <a:rPr lang="en-US" altLang="zh-CN" sz="2004" dirty="0" err="1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自信</a:t>
            </a:r>
            <a:endParaRPr lang="en-US" altLang="zh-CN" sz="2004" dirty="0" smtClean="0">
              <a:solidFill>
                <a:srgbClr val="404040"/>
              </a:solidFill>
              <a:latin typeface="Microsoft YaHei UI" pitchFamily="18" charset="0"/>
              <a:cs typeface="Microsoft YaHei UI" pitchFamily="18" charset="0"/>
            </a:endParaRP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400"/>
              </a:lnSpc>
              <a:tabLst>
                <a:tab pos="1193800" algn="l"/>
                <a:tab pos="1295400" algn="l"/>
              </a:tabLst>
            </a:pPr>
            <a:r>
              <a:rPr lang="en-US" altLang="zh-CN" dirty="0" smtClean="0"/>
              <a:t>		</a:t>
            </a:r>
            <a:r>
              <a:rPr lang="en-US" altLang="zh-CN" sz="129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“</a:t>
            </a:r>
            <a:r>
              <a:rPr lang="en-US" altLang="zh-CN" sz="1296" dirty="0" err="1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现在高一，与生俱来的自信根本没有消失，甚至都没减退，尽管学习成绩不如之前。生活不仅仅有学习嘛</a:t>
            </a:r>
            <a:r>
              <a:rPr lang="en-US" altLang="zh-CN" sz="129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……</a:t>
            </a:r>
            <a:r>
              <a:rPr lang="en-US" altLang="zh-CN" sz="1296" dirty="0" err="1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我真觉得自己帅！不必照镜子，这不是</a:t>
            </a:r>
            <a:endParaRPr lang="en-US" altLang="zh-CN" sz="1296" dirty="0" smtClean="0">
              <a:solidFill>
                <a:srgbClr val="404040"/>
              </a:solidFill>
              <a:latin typeface="Microsoft YaHei UI" pitchFamily="18" charset="0"/>
              <a:cs typeface="Microsoft YaHei UI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3004292" cy="7315200"/>
          </a:xfrm>
          <a:custGeom>
            <a:avLst/>
            <a:gdLst>
              <a:gd name="connsiteX0" fmla="*/ 0 w 13004292"/>
              <a:gd name="connsiteY0" fmla="*/ 7315199 h 7315200"/>
              <a:gd name="connsiteX1" fmla="*/ 13004292 w 13004292"/>
              <a:gd name="connsiteY1" fmla="*/ 7315199 h 7315200"/>
              <a:gd name="connsiteX2" fmla="*/ 13004292 w 13004292"/>
              <a:gd name="connsiteY2" fmla="*/ 0 h 7315200"/>
              <a:gd name="connsiteX3" fmla="*/ 0 w 13004292"/>
              <a:gd name="connsiteY3" fmla="*/ 0 h 7315200"/>
              <a:gd name="connsiteX4" fmla="*/ 0 w 13004292"/>
              <a:gd name="connsiteY4" fmla="*/ 7315199 h 7315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3004292" h="7315200">
                <a:moveTo>
                  <a:pt x="0" y="7315199"/>
                </a:moveTo>
                <a:lnTo>
                  <a:pt x="13004292" y="7315199"/>
                </a:lnTo>
                <a:lnTo>
                  <a:pt x="13004292" y="0"/>
                </a:lnTo>
                <a:lnTo>
                  <a:pt x="0" y="0"/>
                </a:lnTo>
                <a:lnTo>
                  <a:pt x="0" y="73151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742187" y="1475232"/>
            <a:ext cx="5039867" cy="3959352"/>
          </a:xfrm>
          <a:custGeom>
            <a:avLst/>
            <a:gdLst>
              <a:gd name="connsiteX0" fmla="*/ 0 w 5039867"/>
              <a:gd name="connsiteY0" fmla="*/ 3959352 h 3959352"/>
              <a:gd name="connsiteX1" fmla="*/ 5039868 w 5039867"/>
              <a:gd name="connsiteY1" fmla="*/ 3959352 h 3959352"/>
              <a:gd name="connsiteX2" fmla="*/ 5039868 w 5039867"/>
              <a:gd name="connsiteY2" fmla="*/ 0 h 3959352"/>
              <a:gd name="connsiteX3" fmla="*/ 0 w 5039867"/>
              <a:gd name="connsiteY3" fmla="*/ 0 h 3959352"/>
              <a:gd name="connsiteX4" fmla="*/ 0 w 5039867"/>
              <a:gd name="connsiteY4" fmla="*/ 3959352 h 39593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5039867" h="3959352">
                <a:moveTo>
                  <a:pt x="0" y="3959352"/>
                </a:moveTo>
                <a:lnTo>
                  <a:pt x="5039868" y="3959352"/>
                </a:lnTo>
                <a:lnTo>
                  <a:pt x="5039868" y="0"/>
                </a:lnTo>
                <a:lnTo>
                  <a:pt x="0" y="0"/>
                </a:lnTo>
                <a:lnTo>
                  <a:pt x="0" y="3959352"/>
                </a:lnTo>
              </a:path>
            </a:pathLst>
          </a:custGeom>
          <a:solidFill>
            <a:srgbClr val="F2F2F2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1191767" y="3433571"/>
            <a:ext cx="304800" cy="1411224"/>
          </a:xfrm>
          <a:custGeom>
            <a:avLst/>
            <a:gdLst>
              <a:gd name="connsiteX0" fmla="*/ 0 w 304800"/>
              <a:gd name="connsiteY0" fmla="*/ 0 h 1411224"/>
              <a:gd name="connsiteX1" fmla="*/ 304800 w 304800"/>
              <a:gd name="connsiteY1" fmla="*/ 0 h 1411224"/>
              <a:gd name="connsiteX2" fmla="*/ 304800 w 304800"/>
              <a:gd name="connsiteY2" fmla="*/ 1411224 h 1411224"/>
              <a:gd name="connsiteX3" fmla="*/ 0 w 304800"/>
              <a:gd name="connsiteY3" fmla="*/ 1411224 h 1411224"/>
              <a:gd name="connsiteX4" fmla="*/ 0 w 304800"/>
              <a:gd name="connsiteY4" fmla="*/ 0 h 141122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04800" h="1411224">
                <a:moveTo>
                  <a:pt x="0" y="0"/>
                </a:moveTo>
                <a:lnTo>
                  <a:pt x="304800" y="0"/>
                </a:lnTo>
                <a:lnTo>
                  <a:pt x="304800" y="1411224"/>
                </a:lnTo>
                <a:lnTo>
                  <a:pt x="0" y="1411224"/>
                </a:lnTo>
                <a:lnTo>
                  <a:pt x="0" y="0"/>
                </a:lnTo>
              </a:path>
            </a:pathLst>
          </a:custGeom>
          <a:solidFill>
            <a:srgbClr val="FFC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2162555" y="4172711"/>
            <a:ext cx="303276" cy="672084"/>
          </a:xfrm>
          <a:custGeom>
            <a:avLst/>
            <a:gdLst>
              <a:gd name="connsiteX0" fmla="*/ 0 w 303276"/>
              <a:gd name="connsiteY0" fmla="*/ 0 h 672084"/>
              <a:gd name="connsiteX1" fmla="*/ 303276 w 303276"/>
              <a:gd name="connsiteY1" fmla="*/ 0 h 672084"/>
              <a:gd name="connsiteX2" fmla="*/ 303276 w 303276"/>
              <a:gd name="connsiteY2" fmla="*/ 672084 h 672084"/>
              <a:gd name="connsiteX3" fmla="*/ 0 w 303276"/>
              <a:gd name="connsiteY3" fmla="*/ 672084 h 672084"/>
              <a:gd name="connsiteX4" fmla="*/ 0 w 303276"/>
              <a:gd name="connsiteY4" fmla="*/ 0 h 6720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03276" h="672084">
                <a:moveTo>
                  <a:pt x="0" y="0"/>
                </a:moveTo>
                <a:lnTo>
                  <a:pt x="303276" y="0"/>
                </a:lnTo>
                <a:lnTo>
                  <a:pt x="303276" y="672084"/>
                </a:lnTo>
                <a:lnTo>
                  <a:pt x="0" y="672084"/>
                </a:lnTo>
                <a:lnTo>
                  <a:pt x="0" y="0"/>
                </a:lnTo>
              </a:path>
            </a:pathLst>
          </a:custGeom>
          <a:solidFill>
            <a:srgbClr val="FFC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3"/>
          <p:cNvSpPr/>
          <p:nvPr/>
        </p:nvSpPr>
        <p:spPr>
          <a:xfrm>
            <a:off x="3131820" y="4209288"/>
            <a:ext cx="303276" cy="635508"/>
          </a:xfrm>
          <a:custGeom>
            <a:avLst/>
            <a:gdLst>
              <a:gd name="connsiteX0" fmla="*/ 0 w 303276"/>
              <a:gd name="connsiteY0" fmla="*/ 0 h 635508"/>
              <a:gd name="connsiteX1" fmla="*/ 303276 w 303276"/>
              <a:gd name="connsiteY1" fmla="*/ 0 h 635508"/>
              <a:gd name="connsiteX2" fmla="*/ 303276 w 303276"/>
              <a:gd name="connsiteY2" fmla="*/ 635508 h 635508"/>
              <a:gd name="connsiteX3" fmla="*/ 0 w 303276"/>
              <a:gd name="connsiteY3" fmla="*/ 635508 h 635508"/>
              <a:gd name="connsiteX4" fmla="*/ 0 w 303276"/>
              <a:gd name="connsiteY4" fmla="*/ 0 h 6355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03276" h="635508">
                <a:moveTo>
                  <a:pt x="0" y="0"/>
                </a:moveTo>
                <a:lnTo>
                  <a:pt x="303276" y="0"/>
                </a:lnTo>
                <a:lnTo>
                  <a:pt x="303276" y="635508"/>
                </a:lnTo>
                <a:lnTo>
                  <a:pt x="0" y="635508"/>
                </a:lnTo>
                <a:lnTo>
                  <a:pt x="0" y="0"/>
                </a:lnTo>
              </a:path>
            </a:pathLst>
          </a:custGeom>
          <a:solidFill>
            <a:srgbClr val="FFC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reeform 3"/>
          <p:cNvSpPr/>
          <p:nvPr/>
        </p:nvSpPr>
        <p:spPr>
          <a:xfrm>
            <a:off x="4101084" y="4262628"/>
            <a:ext cx="304800" cy="582167"/>
          </a:xfrm>
          <a:custGeom>
            <a:avLst/>
            <a:gdLst>
              <a:gd name="connsiteX0" fmla="*/ 0 w 304800"/>
              <a:gd name="connsiteY0" fmla="*/ 0 h 582167"/>
              <a:gd name="connsiteX1" fmla="*/ 304800 w 304800"/>
              <a:gd name="connsiteY1" fmla="*/ 0 h 582167"/>
              <a:gd name="connsiteX2" fmla="*/ 304800 w 304800"/>
              <a:gd name="connsiteY2" fmla="*/ 582167 h 582167"/>
              <a:gd name="connsiteX3" fmla="*/ 0 w 304800"/>
              <a:gd name="connsiteY3" fmla="*/ 582167 h 582167"/>
              <a:gd name="connsiteX4" fmla="*/ 0 w 304800"/>
              <a:gd name="connsiteY4" fmla="*/ 0 h 58216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04800" h="582167">
                <a:moveTo>
                  <a:pt x="0" y="0"/>
                </a:moveTo>
                <a:lnTo>
                  <a:pt x="304800" y="0"/>
                </a:lnTo>
                <a:lnTo>
                  <a:pt x="304800" y="582167"/>
                </a:lnTo>
                <a:lnTo>
                  <a:pt x="0" y="582167"/>
                </a:lnTo>
                <a:lnTo>
                  <a:pt x="0" y="0"/>
                </a:lnTo>
              </a:path>
            </a:pathLst>
          </a:custGeom>
          <a:solidFill>
            <a:srgbClr val="FFC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3"/>
          <p:cNvSpPr/>
          <p:nvPr/>
        </p:nvSpPr>
        <p:spPr>
          <a:xfrm>
            <a:off x="5071871" y="4299203"/>
            <a:ext cx="303276" cy="545592"/>
          </a:xfrm>
          <a:custGeom>
            <a:avLst/>
            <a:gdLst>
              <a:gd name="connsiteX0" fmla="*/ 0 w 303276"/>
              <a:gd name="connsiteY0" fmla="*/ 0 h 545592"/>
              <a:gd name="connsiteX1" fmla="*/ 303276 w 303276"/>
              <a:gd name="connsiteY1" fmla="*/ 0 h 545592"/>
              <a:gd name="connsiteX2" fmla="*/ 303276 w 303276"/>
              <a:gd name="connsiteY2" fmla="*/ 545592 h 545592"/>
              <a:gd name="connsiteX3" fmla="*/ 0 w 303276"/>
              <a:gd name="connsiteY3" fmla="*/ 545592 h 545592"/>
              <a:gd name="connsiteX4" fmla="*/ 0 w 303276"/>
              <a:gd name="connsiteY4" fmla="*/ 0 h 54559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03276" h="545592">
                <a:moveTo>
                  <a:pt x="0" y="0"/>
                </a:moveTo>
                <a:lnTo>
                  <a:pt x="303276" y="0"/>
                </a:lnTo>
                <a:lnTo>
                  <a:pt x="303276" y="545592"/>
                </a:lnTo>
                <a:lnTo>
                  <a:pt x="0" y="545592"/>
                </a:lnTo>
                <a:lnTo>
                  <a:pt x="0" y="0"/>
                </a:lnTo>
              </a:path>
            </a:pathLst>
          </a:custGeom>
          <a:solidFill>
            <a:srgbClr val="FFC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3"/>
          <p:cNvSpPr/>
          <p:nvPr/>
        </p:nvSpPr>
        <p:spPr>
          <a:xfrm>
            <a:off x="1191767" y="2314955"/>
            <a:ext cx="304800" cy="1118615"/>
          </a:xfrm>
          <a:custGeom>
            <a:avLst/>
            <a:gdLst>
              <a:gd name="connsiteX0" fmla="*/ 0 w 304800"/>
              <a:gd name="connsiteY0" fmla="*/ 0 h 1118615"/>
              <a:gd name="connsiteX1" fmla="*/ 304800 w 304800"/>
              <a:gd name="connsiteY1" fmla="*/ 0 h 1118615"/>
              <a:gd name="connsiteX2" fmla="*/ 304800 w 304800"/>
              <a:gd name="connsiteY2" fmla="*/ 1118615 h 1118615"/>
              <a:gd name="connsiteX3" fmla="*/ 0 w 304800"/>
              <a:gd name="connsiteY3" fmla="*/ 1118615 h 1118615"/>
              <a:gd name="connsiteX4" fmla="*/ 0 w 304800"/>
              <a:gd name="connsiteY4" fmla="*/ 0 h 111861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04800" h="1118615">
                <a:moveTo>
                  <a:pt x="0" y="0"/>
                </a:moveTo>
                <a:lnTo>
                  <a:pt x="304800" y="0"/>
                </a:lnTo>
                <a:lnTo>
                  <a:pt x="304800" y="1118615"/>
                </a:lnTo>
                <a:lnTo>
                  <a:pt x="0" y="1118615"/>
                </a:lnTo>
                <a:lnTo>
                  <a:pt x="0" y="0"/>
                </a:lnTo>
              </a:path>
            </a:pathLst>
          </a:custGeom>
          <a:solidFill>
            <a:srgbClr val="ED7D31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3"/>
          <p:cNvSpPr/>
          <p:nvPr/>
        </p:nvSpPr>
        <p:spPr>
          <a:xfrm>
            <a:off x="2162555" y="2129027"/>
            <a:ext cx="303276" cy="2043683"/>
          </a:xfrm>
          <a:custGeom>
            <a:avLst/>
            <a:gdLst>
              <a:gd name="connsiteX0" fmla="*/ 0 w 303276"/>
              <a:gd name="connsiteY0" fmla="*/ 0 h 2043683"/>
              <a:gd name="connsiteX1" fmla="*/ 303276 w 303276"/>
              <a:gd name="connsiteY1" fmla="*/ 0 h 2043683"/>
              <a:gd name="connsiteX2" fmla="*/ 303276 w 303276"/>
              <a:gd name="connsiteY2" fmla="*/ 2043683 h 2043683"/>
              <a:gd name="connsiteX3" fmla="*/ 0 w 303276"/>
              <a:gd name="connsiteY3" fmla="*/ 2043683 h 2043683"/>
              <a:gd name="connsiteX4" fmla="*/ 0 w 303276"/>
              <a:gd name="connsiteY4" fmla="*/ 0 h 204368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03276" h="2043683">
                <a:moveTo>
                  <a:pt x="0" y="0"/>
                </a:moveTo>
                <a:lnTo>
                  <a:pt x="303276" y="0"/>
                </a:lnTo>
                <a:lnTo>
                  <a:pt x="303276" y="2043683"/>
                </a:lnTo>
                <a:lnTo>
                  <a:pt x="0" y="2043683"/>
                </a:lnTo>
                <a:lnTo>
                  <a:pt x="0" y="0"/>
                </a:lnTo>
              </a:path>
            </a:pathLst>
          </a:custGeom>
          <a:solidFill>
            <a:srgbClr val="ED7D31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3"/>
          <p:cNvSpPr/>
          <p:nvPr/>
        </p:nvSpPr>
        <p:spPr>
          <a:xfrm>
            <a:off x="3131820" y="2186939"/>
            <a:ext cx="303276" cy="2022348"/>
          </a:xfrm>
          <a:custGeom>
            <a:avLst/>
            <a:gdLst>
              <a:gd name="connsiteX0" fmla="*/ 0 w 303276"/>
              <a:gd name="connsiteY0" fmla="*/ 0 h 2022348"/>
              <a:gd name="connsiteX1" fmla="*/ 303276 w 303276"/>
              <a:gd name="connsiteY1" fmla="*/ 0 h 2022348"/>
              <a:gd name="connsiteX2" fmla="*/ 303276 w 303276"/>
              <a:gd name="connsiteY2" fmla="*/ 2022348 h 2022348"/>
              <a:gd name="connsiteX3" fmla="*/ 0 w 303276"/>
              <a:gd name="connsiteY3" fmla="*/ 2022348 h 2022348"/>
              <a:gd name="connsiteX4" fmla="*/ 0 w 303276"/>
              <a:gd name="connsiteY4" fmla="*/ 0 h 202234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03276" h="2022348">
                <a:moveTo>
                  <a:pt x="0" y="0"/>
                </a:moveTo>
                <a:lnTo>
                  <a:pt x="303276" y="0"/>
                </a:lnTo>
                <a:lnTo>
                  <a:pt x="303276" y="2022348"/>
                </a:lnTo>
                <a:lnTo>
                  <a:pt x="0" y="2022348"/>
                </a:lnTo>
                <a:lnTo>
                  <a:pt x="0" y="0"/>
                </a:lnTo>
              </a:path>
            </a:pathLst>
          </a:custGeom>
          <a:solidFill>
            <a:srgbClr val="ED7D31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 3"/>
          <p:cNvSpPr/>
          <p:nvPr/>
        </p:nvSpPr>
        <p:spPr>
          <a:xfrm>
            <a:off x="4101084" y="2545079"/>
            <a:ext cx="304800" cy="1717548"/>
          </a:xfrm>
          <a:custGeom>
            <a:avLst/>
            <a:gdLst>
              <a:gd name="connsiteX0" fmla="*/ 0 w 304800"/>
              <a:gd name="connsiteY0" fmla="*/ 0 h 1717548"/>
              <a:gd name="connsiteX1" fmla="*/ 304800 w 304800"/>
              <a:gd name="connsiteY1" fmla="*/ 0 h 1717548"/>
              <a:gd name="connsiteX2" fmla="*/ 304800 w 304800"/>
              <a:gd name="connsiteY2" fmla="*/ 1717548 h 1717548"/>
              <a:gd name="connsiteX3" fmla="*/ 0 w 304800"/>
              <a:gd name="connsiteY3" fmla="*/ 1717548 h 1717548"/>
              <a:gd name="connsiteX4" fmla="*/ 0 w 304800"/>
              <a:gd name="connsiteY4" fmla="*/ 0 h 171754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04800" h="1717548">
                <a:moveTo>
                  <a:pt x="0" y="0"/>
                </a:moveTo>
                <a:lnTo>
                  <a:pt x="304800" y="0"/>
                </a:lnTo>
                <a:lnTo>
                  <a:pt x="304800" y="1717548"/>
                </a:lnTo>
                <a:lnTo>
                  <a:pt x="0" y="1717548"/>
                </a:lnTo>
                <a:lnTo>
                  <a:pt x="0" y="0"/>
                </a:lnTo>
              </a:path>
            </a:pathLst>
          </a:custGeom>
          <a:solidFill>
            <a:srgbClr val="ED7D31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Freeform 3"/>
          <p:cNvSpPr/>
          <p:nvPr/>
        </p:nvSpPr>
        <p:spPr>
          <a:xfrm>
            <a:off x="5071871" y="3032760"/>
            <a:ext cx="303276" cy="1266444"/>
          </a:xfrm>
          <a:custGeom>
            <a:avLst/>
            <a:gdLst>
              <a:gd name="connsiteX0" fmla="*/ 0 w 303276"/>
              <a:gd name="connsiteY0" fmla="*/ 0 h 1266444"/>
              <a:gd name="connsiteX1" fmla="*/ 303276 w 303276"/>
              <a:gd name="connsiteY1" fmla="*/ 0 h 1266444"/>
              <a:gd name="connsiteX2" fmla="*/ 303276 w 303276"/>
              <a:gd name="connsiteY2" fmla="*/ 1266443 h 1266444"/>
              <a:gd name="connsiteX3" fmla="*/ 0 w 303276"/>
              <a:gd name="connsiteY3" fmla="*/ 1266443 h 1266444"/>
              <a:gd name="connsiteX4" fmla="*/ 0 w 303276"/>
              <a:gd name="connsiteY4" fmla="*/ 0 h 126644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03276" h="1266444">
                <a:moveTo>
                  <a:pt x="0" y="0"/>
                </a:moveTo>
                <a:lnTo>
                  <a:pt x="303276" y="0"/>
                </a:lnTo>
                <a:lnTo>
                  <a:pt x="303276" y="1266443"/>
                </a:lnTo>
                <a:lnTo>
                  <a:pt x="0" y="1266443"/>
                </a:lnTo>
                <a:lnTo>
                  <a:pt x="0" y="0"/>
                </a:lnTo>
              </a:path>
            </a:pathLst>
          </a:custGeom>
          <a:solidFill>
            <a:srgbClr val="ED7D31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3"/>
          <p:cNvSpPr/>
          <p:nvPr/>
        </p:nvSpPr>
        <p:spPr>
          <a:xfrm>
            <a:off x="853186" y="4838446"/>
            <a:ext cx="4862067" cy="21844"/>
          </a:xfrm>
          <a:custGeom>
            <a:avLst/>
            <a:gdLst>
              <a:gd name="connsiteX0" fmla="*/ 6350 w 4862067"/>
              <a:gd name="connsiteY0" fmla="*/ 6350 h 21844"/>
              <a:gd name="connsiteX1" fmla="*/ 4855717 w 4862067"/>
              <a:gd name="connsiteY1" fmla="*/ 6350 h 2184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4862067" h="21844">
                <a:moveTo>
                  <a:pt x="6350" y="6350"/>
                </a:moveTo>
                <a:lnTo>
                  <a:pt x="4855717" y="6350"/>
                </a:lnTo>
              </a:path>
            </a:pathLst>
          </a:custGeom>
          <a:ln w="12700">
            <a:solidFill>
              <a:srgbClr val="D9D9D9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 3"/>
          <p:cNvSpPr/>
          <p:nvPr/>
        </p:nvSpPr>
        <p:spPr>
          <a:xfrm>
            <a:off x="2081783" y="1604772"/>
            <a:ext cx="108204" cy="109727"/>
          </a:xfrm>
          <a:custGeom>
            <a:avLst/>
            <a:gdLst>
              <a:gd name="connsiteX0" fmla="*/ 0 w 108204"/>
              <a:gd name="connsiteY0" fmla="*/ 109727 h 109727"/>
              <a:gd name="connsiteX1" fmla="*/ 108204 w 108204"/>
              <a:gd name="connsiteY1" fmla="*/ 109727 h 109727"/>
              <a:gd name="connsiteX2" fmla="*/ 108204 w 108204"/>
              <a:gd name="connsiteY2" fmla="*/ 0 h 109727"/>
              <a:gd name="connsiteX3" fmla="*/ 0 w 108204"/>
              <a:gd name="connsiteY3" fmla="*/ 0 h 109727"/>
              <a:gd name="connsiteX4" fmla="*/ 0 w 108204"/>
              <a:gd name="connsiteY4" fmla="*/ 109727 h 10972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8204" h="109727">
                <a:moveTo>
                  <a:pt x="0" y="109727"/>
                </a:moveTo>
                <a:lnTo>
                  <a:pt x="108204" y="109727"/>
                </a:lnTo>
                <a:lnTo>
                  <a:pt x="108204" y="0"/>
                </a:lnTo>
                <a:lnTo>
                  <a:pt x="0" y="0"/>
                </a:lnTo>
                <a:lnTo>
                  <a:pt x="0" y="109727"/>
                </a:lnTo>
              </a:path>
            </a:pathLst>
          </a:custGeom>
          <a:solidFill>
            <a:srgbClr val="ED7D31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 3"/>
          <p:cNvSpPr/>
          <p:nvPr/>
        </p:nvSpPr>
        <p:spPr>
          <a:xfrm>
            <a:off x="3713988" y="1604772"/>
            <a:ext cx="109728" cy="109727"/>
          </a:xfrm>
          <a:custGeom>
            <a:avLst/>
            <a:gdLst>
              <a:gd name="connsiteX0" fmla="*/ 0 w 109728"/>
              <a:gd name="connsiteY0" fmla="*/ 109727 h 109727"/>
              <a:gd name="connsiteX1" fmla="*/ 109727 w 109728"/>
              <a:gd name="connsiteY1" fmla="*/ 109727 h 109727"/>
              <a:gd name="connsiteX2" fmla="*/ 109727 w 109728"/>
              <a:gd name="connsiteY2" fmla="*/ 0 h 109727"/>
              <a:gd name="connsiteX3" fmla="*/ 0 w 109728"/>
              <a:gd name="connsiteY3" fmla="*/ 0 h 109727"/>
              <a:gd name="connsiteX4" fmla="*/ 0 w 109728"/>
              <a:gd name="connsiteY4" fmla="*/ 109727 h 10972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9728" h="109727">
                <a:moveTo>
                  <a:pt x="0" y="109727"/>
                </a:moveTo>
                <a:lnTo>
                  <a:pt x="109727" y="109727"/>
                </a:lnTo>
                <a:lnTo>
                  <a:pt x="109727" y="0"/>
                </a:lnTo>
                <a:lnTo>
                  <a:pt x="0" y="0"/>
                </a:lnTo>
                <a:lnTo>
                  <a:pt x="0" y="109727"/>
                </a:lnTo>
              </a:path>
            </a:pathLst>
          </a:custGeom>
          <a:solidFill>
            <a:srgbClr val="FFC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6300" y="1536700"/>
            <a:ext cx="203200" cy="203200"/>
          </a:xfrm>
          <a:prstGeom prst="rect">
            <a:avLst/>
          </a:prstGeom>
          <a:noFill/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6300" y="3365500"/>
            <a:ext cx="203200" cy="203200"/>
          </a:xfrm>
          <a:prstGeom prst="rect">
            <a:avLst/>
          </a:prstGeom>
          <a:noFill/>
        </p:spPr>
      </p:pic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6300" y="5194300"/>
            <a:ext cx="203200" cy="2032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711200" y="254000"/>
            <a:ext cx="10230365" cy="1007968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600"/>
              </a:lnSpc>
              <a:tabLst>
                <a:tab pos="838200" algn="l"/>
              </a:tabLst>
            </a:pPr>
            <a:r>
              <a:rPr lang="en-US" altLang="zh-CN" sz="2795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Needs</a:t>
            </a:r>
            <a:r>
              <a:rPr lang="zh-CN" altLang="en-US" sz="2795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：</a:t>
            </a:r>
            <a:r>
              <a:rPr lang="en-US" altLang="zh-CN" sz="2795" dirty="0" err="1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对生活有清晰明确的规划</a:t>
            </a:r>
            <a:r>
              <a:rPr lang="en-US" altLang="zh-CN" sz="2795" dirty="0" err="1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，兼顾短期与长期、理想与现实</a:t>
            </a:r>
            <a:endParaRPr lang="en-US" altLang="zh-CN" sz="2795" dirty="0" smtClean="0">
              <a:solidFill>
                <a:srgbClr val="404040"/>
              </a:solidFill>
              <a:latin typeface="Microsoft YaHei UI" pitchFamily="18" charset="0"/>
              <a:cs typeface="Microsoft YaHei UI" pitchFamily="18" charset="0"/>
            </a:endParaRP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900"/>
              </a:lnSpc>
              <a:tabLst>
                <a:tab pos="838200" algn="l"/>
              </a:tabLst>
            </a:pPr>
            <a:r>
              <a:rPr lang="en-US" altLang="zh-CN" dirty="0" smtClean="0"/>
              <a:t>	</a:t>
            </a:r>
            <a:r>
              <a:rPr lang="en-US" altLang="zh-CN" sz="200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95后对未来有规划的比例超过其他年龄段</a:t>
            </a:r>
          </a:p>
        </p:txBody>
      </p:sp>
      <p:sp>
        <p:nvSpPr>
          <p:cNvPr id="21" name="TextBox 1"/>
          <p:cNvSpPr txBox="1"/>
          <p:nvPr/>
        </p:nvSpPr>
        <p:spPr>
          <a:xfrm>
            <a:off x="647700" y="6464300"/>
            <a:ext cx="10591800" cy="7112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100"/>
              </a:lnSpc>
              <a:tabLst>
                <a:tab pos="50800" algn="l"/>
              </a:tabLst>
            </a:pPr>
            <a:r>
              <a:rPr lang="en-US" altLang="zh-CN" sz="1200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数据来源：2015年4月MUX用研95后专题研究一期调研问卷（Wise投放），N=11488人，其中，00后2439人，95后3160人，90后2086人，80后2258人，80前1545人</a:t>
            </a:r>
          </a:p>
          <a:p>
            <a:pPr>
              <a:lnSpc>
                <a:spcPts val="1300"/>
              </a:lnSpc>
              <a:tabLst>
                <a:tab pos="50800" algn="l"/>
              </a:tabLst>
            </a:pPr>
            <a:r>
              <a:rPr lang="en-US" altLang="zh-CN" sz="1202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Q:请问对于您个人未来的计划，如升学、出国或选择什么样的工作，您目前是？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100"/>
              </a:lnSpc>
              <a:tabLst>
                <a:tab pos="50800" algn="l"/>
              </a:tabLst>
            </a:pPr>
            <a:r>
              <a:rPr lang="en-US" altLang="zh-CN" dirty="0" smtClean="0"/>
              <a:t>	</a:t>
            </a:r>
            <a:r>
              <a:rPr lang="en-US" altLang="zh-CN" sz="996" b="1" dirty="0" smtClean="0">
                <a:solidFill>
                  <a:srgbClr val="7F7F7F"/>
                </a:solidFill>
                <a:latin typeface="Century" pitchFamily="18" charset="0"/>
                <a:cs typeface="Century" pitchFamily="18" charset="0"/>
              </a:rPr>
              <a:t>12</a:t>
            </a:r>
          </a:p>
        </p:txBody>
      </p:sp>
      <p:sp>
        <p:nvSpPr>
          <p:cNvPr id="22" name="TextBox 1"/>
          <p:cNvSpPr txBox="1"/>
          <p:nvPr/>
        </p:nvSpPr>
        <p:spPr>
          <a:xfrm>
            <a:off x="2032000" y="4229100"/>
            <a:ext cx="546100" cy="241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/>
            </a:pPr>
            <a:r>
              <a:rPr lang="en-US" altLang="zh-CN" sz="1598" dirty="0" smtClean="0">
                <a:solidFill>
                  <a:srgbClr val="000000"/>
                </a:solidFill>
                <a:latin typeface="Century" pitchFamily="18" charset="0"/>
                <a:cs typeface="Century" pitchFamily="18" charset="0"/>
              </a:rPr>
              <a:t>19.5%</a:t>
            </a:r>
          </a:p>
        </p:txBody>
      </p:sp>
      <p:sp>
        <p:nvSpPr>
          <p:cNvPr id="23" name="TextBox 1"/>
          <p:cNvSpPr txBox="1"/>
          <p:nvPr/>
        </p:nvSpPr>
        <p:spPr>
          <a:xfrm>
            <a:off x="2997200" y="4267200"/>
            <a:ext cx="546100" cy="241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/>
            </a:pPr>
            <a:r>
              <a:rPr lang="en-US" altLang="zh-CN" sz="1596" dirty="0" smtClean="0">
                <a:solidFill>
                  <a:srgbClr val="000000"/>
                </a:solidFill>
                <a:latin typeface="Century" pitchFamily="18" charset="0"/>
                <a:cs typeface="Century" pitchFamily="18" charset="0"/>
              </a:rPr>
              <a:t>18.5%</a:t>
            </a:r>
          </a:p>
        </p:txBody>
      </p:sp>
      <p:sp>
        <p:nvSpPr>
          <p:cNvPr id="24" name="TextBox 1"/>
          <p:cNvSpPr txBox="1"/>
          <p:nvPr/>
        </p:nvSpPr>
        <p:spPr>
          <a:xfrm>
            <a:off x="3975100" y="4318000"/>
            <a:ext cx="546100" cy="241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/>
            </a:pPr>
            <a:r>
              <a:rPr lang="en-US" altLang="zh-CN" sz="1596" dirty="0" smtClean="0">
                <a:solidFill>
                  <a:srgbClr val="000000"/>
                </a:solidFill>
                <a:latin typeface="Century" pitchFamily="18" charset="0"/>
                <a:cs typeface="Century" pitchFamily="18" charset="0"/>
              </a:rPr>
              <a:t>16.9%</a:t>
            </a:r>
          </a:p>
        </p:txBody>
      </p:sp>
      <p:sp>
        <p:nvSpPr>
          <p:cNvPr id="25" name="TextBox 1"/>
          <p:cNvSpPr txBox="1"/>
          <p:nvPr/>
        </p:nvSpPr>
        <p:spPr>
          <a:xfrm>
            <a:off x="4940300" y="4356100"/>
            <a:ext cx="546100" cy="241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/>
            </a:pPr>
            <a:r>
              <a:rPr lang="en-US" altLang="zh-CN" sz="1596" dirty="0" smtClean="0">
                <a:solidFill>
                  <a:srgbClr val="000000"/>
                </a:solidFill>
                <a:latin typeface="Century" pitchFamily="18" charset="0"/>
                <a:cs typeface="Century" pitchFamily="18" charset="0"/>
              </a:rPr>
              <a:t>15.9%</a:t>
            </a:r>
          </a:p>
        </p:txBody>
      </p:sp>
      <p:sp>
        <p:nvSpPr>
          <p:cNvPr id="26" name="TextBox 1"/>
          <p:cNvSpPr txBox="1"/>
          <p:nvPr/>
        </p:nvSpPr>
        <p:spPr>
          <a:xfrm>
            <a:off x="1066800" y="2362200"/>
            <a:ext cx="546100" cy="1358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/>
            </a:pPr>
            <a:r>
              <a:rPr lang="en-US" altLang="zh-CN" sz="1596" dirty="0" smtClean="0">
                <a:solidFill>
                  <a:srgbClr val="000000"/>
                </a:solidFill>
                <a:latin typeface="Century" pitchFamily="18" charset="0"/>
                <a:cs typeface="Century" pitchFamily="18" charset="0"/>
              </a:rPr>
              <a:t>32.5%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800"/>
              </a:lnSpc>
              <a:tabLst/>
            </a:pPr>
            <a:r>
              <a:rPr lang="en-US" altLang="zh-CN" sz="1598" dirty="0" smtClean="0">
                <a:solidFill>
                  <a:srgbClr val="000000"/>
                </a:solidFill>
                <a:latin typeface="Century" pitchFamily="18" charset="0"/>
                <a:cs typeface="Century" pitchFamily="18" charset="0"/>
              </a:rPr>
              <a:t>41.0%</a:t>
            </a:r>
          </a:p>
        </p:txBody>
      </p:sp>
      <p:sp>
        <p:nvSpPr>
          <p:cNvPr id="27" name="TextBox 1"/>
          <p:cNvSpPr txBox="1"/>
          <p:nvPr/>
        </p:nvSpPr>
        <p:spPr>
          <a:xfrm>
            <a:off x="2032000" y="2184400"/>
            <a:ext cx="546100" cy="241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/>
            </a:pPr>
            <a:r>
              <a:rPr lang="en-US" altLang="zh-CN" sz="1596" dirty="0" smtClean="0">
                <a:solidFill>
                  <a:srgbClr val="000000"/>
                </a:solidFill>
                <a:latin typeface="Century" pitchFamily="18" charset="0"/>
                <a:cs typeface="Century" pitchFamily="18" charset="0"/>
              </a:rPr>
              <a:t>59.4%</a:t>
            </a:r>
          </a:p>
        </p:txBody>
      </p:sp>
      <p:sp>
        <p:nvSpPr>
          <p:cNvPr id="28" name="TextBox 1"/>
          <p:cNvSpPr txBox="1"/>
          <p:nvPr/>
        </p:nvSpPr>
        <p:spPr>
          <a:xfrm>
            <a:off x="2997200" y="2235200"/>
            <a:ext cx="546100" cy="241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/>
            </a:pPr>
            <a:r>
              <a:rPr lang="en-US" altLang="zh-CN" sz="1598" dirty="0" smtClean="0">
                <a:solidFill>
                  <a:srgbClr val="000000"/>
                </a:solidFill>
                <a:latin typeface="Century" pitchFamily="18" charset="0"/>
                <a:cs typeface="Century" pitchFamily="18" charset="0"/>
              </a:rPr>
              <a:t>58.8%</a:t>
            </a:r>
          </a:p>
        </p:txBody>
      </p:sp>
      <p:sp>
        <p:nvSpPr>
          <p:cNvPr id="29" name="TextBox 1"/>
          <p:cNvSpPr txBox="1"/>
          <p:nvPr/>
        </p:nvSpPr>
        <p:spPr>
          <a:xfrm>
            <a:off x="3975100" y="2590800"/>
            <a:ext cx="546100" cy="241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/>
            </a:pPr>
            <a:r>
              <a:rPr lang="en-US" altLang="zh-CN" sz="1596" dirty="0" smtClean="0">
                <a:solidFill>
                  <a:srgbClr val="000000"/>
                </a:solidFill>
                <a:latin typeface="Century" pitchFamily="18" charset="0"/>
                <a:cs typeface="Century" pitchFamily="18" charset="0"/>
              </a:rPr>
              <a:t>49.9%</a:t>
            </a:r>
          </a:p>
        </p:txBody>
      </p:sp>
      <p:sp>
        <p:nvSpPr>
          <p:cNvPr id="30" name="TextBox 1"/>
          <p:cNvSpPr txBox="1"/>
          <p:nvPr/>
        </p:nvSpPr>
        <p:spPr>
          <a:xfrm>
            <a:off x="4940300" y="3086100"/>
            <a:ext cx="546100" cy="241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/>
            </a:pPr>
            <a:r>
              <a:rPr lang="en-US" altLang="zh-CN" sz="1596" dirty="0" smtClean="0">
                <a:solidFill>
                  <a:srgbClr val="000000"/>
                </a:solidFill>
                <a:latin typeface="Century" pitchFamily="18" charset="0"/>
                <a:cs typeface="Century" pitchFamily="18" charset="0"/>
              </a:rPr>
              <a:t>36.8%</a:t>
            </a:r>
          </a:p>
        </p:txBody>
      </p:sp>
      <p:sp>
        <p:nvSpPr>
          <p:cNvPr id="31" name="TextBox 1"/>
          <p:cNvSpPr txBox="1"/>
          <p:nvPr/>
        </p:nvSpPr>
        <p:spPr>
          <a:xfrm>
            <a:off x="1117600" y="4965700"/>
            <a:ext cx="419100" cy="241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/>
            </a:pPr>
            <a:r>
              <a:rPr lang="en-US" altLang="zh-CN" sz="1598" dirty="0" smtClean="0">
                <a:solidFill>
                  <a:srgbClr val="000000"/>
                </a:solidFill>
                <a:latin typeface="Century" pitchFamily="18" charset="0"/>
                <a:cs typeface="Century" pitchFamily="18" charset="0"/>
              </a:rPr>
              <a:t>00</a:t>
            </a:r>
            <a:r>
              <a:rPr lang="en-US" altLang="zh-CN" sz="1598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后</a:t>
            </a:r>
          </a:p>
        </p:txBody>
      </p:sp>
      <p:sp>
        <p:nvSpPr>
          <p:cNvPr id="1024" name="TextBox 1"/>
          <p:cNvSpPr txBox="1"/>
          <p:nvPr/>
        </p:nvSpPr>
        <p:spPr>
          <a:xfrm>
            <a:off x="2095500" y="4965700"/>
            <a:ext cx="419100" cy="241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/>
            </a:pPr>
            <a:r>
              <a:rPr lang="en-US" altLang="zh-CN" sz="1598" dirty="0" smtClean="0">
                <a:solidFill>
                  <a:srgbClr val="000000"/>
                </a:solidFill>
                <a:latin typeface="Century" pitchFamily="18" charset="0"/>
                <a:cs typeface="Century" pitchFamily="18" charset="0"/>
              </a:rPr>
              <a:t>95</a:t>
            </a:r>
            <a:r>
              <a:rPr lang="en-US" altLang="zh-CN" sz="1598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后</a:t>
            </a:r>
          </a:p>
        </p:txBody>
      </p:sp>
      <p:sp>
        <p:nvSpPr>
          <p:cNvPr id="1025" name="TextBox 1"/>
          <p:cNvSpPr txBox="1"/>
          <p:nvPr/>
        </p:nvSpPr>
        <p:spPr>
          <a:xfrm>
            <a:off x="3060700" y="4965700"/>
            <a:ext cx="419100" cy="241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/>
            </a:pPr>
            <a:r>
              <a:rPr lang="en-US" altLang="zh-CN" sz="1598" dirty="0" smtClean="0">
                <a:solidFill>
                  <a:srgbClr val="000000"/>
                </a:solidFill>
                <a:latin typeface="Century" pitchFamily="18" charset="0"/>
                <a:cs typeface="Century" pitchFamily="18" charset="0"/>
              </a:rPr>
              <a:t>90</a:t>
            </a:r>
            <a:r>
              <a:rPr lang="en-US" altLang="zh-CN" sz="1598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后</a:t>
            </a:r>
          </a:p>
        </p:txBody>
      </p:sp>
      <p:sp>
        <p:nvSpPr>
          <p:cNvPr id="1026" name="TextBox 1"/>
          <p:cNvSpPr txBox="1"/>
          <p:nvPr/>
        </p:nvSpPr>
        <p:spPr>
          <a:xfrm>
            <a:off x="4038600" y="4965700"/>
            <a:ext cx="419100" cy="241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/>
            </a:pPr>
            <a:r>
              <a:rPr lang="en-US" altLang="zh-CN" sz="1598" dirty="0" smtClean="0">
                <a:solidFill>
                  <a:srgbClr val="000000"/>
                </a:solidFill>
                <a:latin typeface="Century" pitchFamily="18" charset="0"/>
                <a:cs typeface="Century" pitchFamily="18" charset="0"/>
              </a:rPr>
              <a:t>80</a:t>
            </a:r>
            <a:r>
              <a:rPr lang="en-US" altLang="zh-CN" sz="1598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后</a:t>
            </a:r>
          </a:p>
        </p:txBody>
      </p:sp>
      <p:sp>
        <p:nvSpPr>
          <p:cNvPr id="1028" name="TextBox 1"/>
          <p:cNvSpPr txBox="1"/>
          <p:nvPr/>
        </p:nvSpPr>
        <p:spPr>
          <a:xfrm>
            <a:off x="5003800" y="4965700"/>
            <a:ext cx="419100" cy="241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/>
            </a:pPr>
            <a:r>
              <a:rPr lang="en-US" altLang="zh-CN" sz="1598" dirty="0" smtClean="0">
                <a:solidFill>
                  <a:srgbClr val="000000"/>
                </a:solidFill>
                <a:latin typeface="Century" pitchFamily="18" charset="0"/>
                <a:cs typeface="Century" pitchFamily="18" charset="0"/>
              </a:rPr>
              <a:t>80</a:t>
            </a:r>
            <a:r>
              <a:rPr lang="en-US" altLang="zh-CN" sz="1598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前</a:t>
            </a:r>
          </a:p>
        </p:txBody>
      </p:sp>
      <p:sp>
        <p:nvSpPr>
          <p:cNvPr id="1029" name="TextBox 1"/>
          <p:cNvSpPr txBox="1"/>
          <p:nvPr/>
        </p:nvSpPr>
        <p:spPr>
          <a:xfrm>
            <a:off x="2235200" y="1549400"/>
            <a:ext cx="1206500" cy="1905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500"/>
              </a:lnSpc>
              <a:tabLst/>
            </a:pPr>
            <a:r>
              <a:rPr lang="en-US" altLang="zh-CN" sz="1596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有粗略的计划</a:t>
            </a:r>
          </a:p>
        </p:txBody>
      </p:sp>
      <p:sp>
        <p:nvSpPr>
          <p:cNvPr id="1030" name="TextBox 1"/>
          <p:cNvSpPr txBox="1"/>
          <p:nvPr/>
        </p:nvSpPr>
        <p:spPr>
          <a:xfrm>
            <a:off x="3860800" y="1549400"/>
            <a:ext cx="1206500" cy="1905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500"/>
              </a:lnSpc>
              <a:tabLst/>
            </a:pPr>
            <a:r>
              <a:rPr lang="en-US" altLang="zh-CN" sz="1596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有明确的计划</a:t>
            </a:r>
          </a:p>
        </p:txBody>
      </p:sp>
      <p:sp>
        <p:nvSpPr>
          <p:cNvPr id="1031" name="TextBox 1"/>
          <p:cNvSpPr txBox="1"/>
          <p:nvPr/>
        </p:nvSpPr>
        <p:spPr>
          <a:xfrm>
            <a:off x="6400800" y="5105400"/>
            <a:ext cx="2628900" cy="3175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500"/>
              </a:lnSpc>
              <a:tabLst/>
            </a:pPr>
            <a:r>
              <a:rPr lang="en-US" altLang="zh-CN" sz="200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学习</a:t>
            </a:r>
            <a:r>
              <a:rPr lang="en-US" altLang="zh-CN" sz="2004" dirty="0" smtClean="0">
                <a:solidFill>
                  <a:srgbClr val="404040"/>
                </a:solidFill>
                <a:latin typeface="Arial Unicode MS" pitchFamily="18" charset="0"/>
                <a:cs typeface="Arial Unicode MS" pitchFamily="18" charset="0"/>
              </a:rPr>
              <a:t>&amp;</a:t>
            </a:r>
            <a:r>
              <a:rPr lang="en-US" altLang="zh-CN" sz="200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恋爱，恋人</a:t>
            </a:r>
            <a:r>
              <a:rPr lang="en-US" altLang="zh-CN" sz="2004" dirty="0" smtClean="0">
                <a:solidFill>
                  <a:srgbClr val="404040"/>
                </a:solidFill>
                <a:latin typeface="Arial Unicode MS" pitchFamily="18" charset="0"/>
                <a:cs typeface="Arial Unicode MS" pitchFamily="18" charset="0"/>
              </a:rPr>
              <a:t>&amp;</a:t>
            </a:r>
            <a:r>
              <a:rPr lang="en-US" altLang="zh-CN" sz="200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父母</a:t>
            </a:r>
          </a:p>
        </p:txBody>
      </p:sp>
      <p:sp>
        <p:nvSpPr>
          <p:cNvPr id="1032" name="TextBox 1"/>
          <p:cNvSpPr txBox="1"/>
          <p:nvPr/>
        </p:nvSpPr>
        <p:spPr>
          <a:xfrm>
            <a:off x="6299200" y="1447800"/>
            <a:ext cx="6261100" cy="622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500"/>
              </a:lnSpc>
              <a:tabLst>
                <a:tab pos="101600" algn="l"/>
              </a:tabLst>
            </a:pPr>
            <a:r>
              <a:rPr lang="en-US" altLang="zh-CN" dirty="0" smtClean="0"/>
              <a:t>	</a:t>
            </a:r>
            <a:r>
              <a:rPr lang="en-US" altLang="zh-CN" sz="200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短期</a:t>
            </a:r>
            <a:r>
              <a:rPr lang="en-US" altLang="zh-CN" sz="2004" dirty="0" smtClean="0">
                <a:solidFill>
                  <a:srgbClr val="404040"/>
                </a:solidFill>
                <a:latin typeface="Arial Unicode MS" pitchFamily="18" charset="0"/>
                <a:cs typeface="Arial Unicode MS" pitchFamily="18" charset="0"/>
              </a:rPr>
              <a:t>&amp;</a:t>
            </a:r>
            <a:r>
              <a:rPr lang="en-US" altLang="zh-CN" sz="2004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长期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300"/>
              </a:lnSpc>
              <a:tabLst>
                <a:tab pos="101600" algn="l"/>
              </a:tabLst>
            </a:pPr>
            <a:r>
              <a:rPr lang="en-US" altLang="zh-CN" sz="1298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“2015年年底就要实习了，希望可以找到一份合适的工作，即使不是专业对口也好呀，</a:t>
            </a:r>
          </a:p>
        </p:txBody>
      </p:sp>
      <p:sp>
        <p:nvSpPr>
          <p:cNvPr id="1033" name="TextBox 1"/>
          <p:cNvSpPr txBox="1"/>
          <p:nvPr/>
        </p:nvSpPr>
        <p:spPr>
          <a:xfrm>
            <a:off x="6299200" y="5651500"/>
            <a:ext cx="6261100" cy="355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1296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“第一，考个好大学，最好是省外的，喜欢北大，就是考不上，真的想上北大。第二，</a:t>
            </a:r>
          </a:p>
          <a:p>
            <a:pPr>
              <a:lnSpc>
                <a:spcPts val="1500"/>
              </a:lnSpc>
              <a:tabLst/>
            </a:pPr>
            <a:r>
              <a:rPr lang="en-US" altLang="zh-CN" sz="1296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去趟日本，带上她一起，入看富士山的樱花，烂漫一把。第三，给爸妈买件生日礼物，</a:t>
            </a:r>
          </a:p>
        </p:txBody>
      </p:sp>
      <p:sp>
        <p:nvSpPr>
          <p:cNvPr id="1034" name="TextBox 1"/>
          <p:cNvSpPr txBox="1"/>
          <p:nvPr/>
        </p:nvSpPr>
        <p:spPr>
          <a:xfrm>
            <a:off x="6299200" y="6045200"/>
            <a:ext cx="13081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1296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用自己赚的钱。”</a:t>
            </a:r>
          </a:p>
        </p:txBody>
      </p:sp>
      <p:sp>
        <p:nvSpPr>
          <p:cNvPr id="1035" name="TextBox 1"/>
          <p:cNvSpPr txBox="1"/>
          <p:nvPr/>
        </p:nvSpPr>
        <p:spPr>
          <a:xfrm>
            <a:off x="10756900" y="6045200"/>
            <a:ext cx="18034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1296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—高中男生，富雪樱恋空</a:t>
            </a:r>
          </a:p>
        </p:txBody>
      </p:sp>
      <p:sp>
        <p:nvSpPr>
          <p:cNvPr id="1036" name="TextBox 1"/>
          <p:cNvSpPr txBox="1"/>
          <p:nvPr/>
        </p:nvSpPr>
        <p:spPr>
          <a:xfrm>
            <a:off x="6299200" y="2120900"/>
            <a:ext cx="6261100" cy="1752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>
                <a:tab pos="101600" algn="l"/>
              </a:tabLst>
            </a:pPr>
            <a:r>
              <a:rPr lang="en-US" altLang="zh-CN" sz="1296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合适不是薪资什么的合适，而是我要有兴趣全身心投入进去为了做这件事情，这才是适</a:t>
            </a:r>
          </a:p>
          <a:p>
            <a:pPr>
              <a:lnSpc>
                <a:spcPts val="1500"/>
              </a:lnSpc>
              <a:tabLst>
                <a:tab pos="101600" algn="l"/>
              </a:tabLst>
            </a:pPr>
            <a:r>
              <a:rPr lang="en-US" altLang="zh-CN" sz="1296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合的好工作。另一件事啊，找个谈得来的男朋友吧，以前的同学都有结婚的了，我还八</a:t>
            </a:r>
          </a:p>
          <a:p>
            <a:pPr>
              <a:lnSpc>
                <a:spcPts val="1600"/>
              </a:lnSpc>
              <a:tabLst>
                <a:tab pos="101600" algn="l"/>
              </a:tabLst>
            </a:pPr>
            <a:r>
              <a:rPr lang="en-US" altLang="zh-CN" sz="1296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字没一撇，谈两年男朋友要结婚啦，我不要做剩女呀，我的白马王子⁄(⁄</a:t>
            </a:r>
            <a:r>
              <a:rPr lang="en-US" altLang="zh-CN" sz="12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296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⁄•⁄ω⁄•⁄</a:t>
            </a:r>
            <a:r>
              <a:rPr lang="en-US" altLang="zh-CN" sz="12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296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⁄)⁄赶快</a:t>
            </a:r>
          </a:p>
          <a:p>
            <a:pPr>
              <a:lnSpc>
                <a:spcPts val="1400"/>
              </a:lnSpc>
              <a:tabLst>
                <a:tab pos="101600" algn="l"/>
              </a:tabLst>
            </a:pPr>
            <a:r>
              <a:rPr lang="en-US" altLang="zh-CN" sz="1296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萌萌哒投入我的怀抱吧。”</a:t>
            </a:r>
            <a:r>
              <a:rPr lang="en-US" altLang="zh-CN" sz="1296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</a:t>
            </a:r>
            <a:r>
              <a:rPr lang="en-US" altLang="zh-CN" sz="1296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—大学女生，太帅被人发现了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700"/>
              </a:lnSpc>
              <a:tabLst>
                <a:tab pos="101600" algn="l"/>
              </a:tabLst>
            </a:pPr>
            <a:r>
              <a:rPr lang="en-US" altLang="zh-CN" dirty="0" smtClean="0"/>
              <a:t>	</a:t>
            </a:r>
            <a:r>
              <a:rPr lang="en-US" altLang="zh-CN" sz="200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现实的工作</a:t>
            </a:r>
            <a:r>
              <a:rPr lang="en-US" altLang="zh-CN" sz="2006" dirty="0" smtClean="0">
                <a:solidFill>
                  <a:srgbClr val="404040"/>
                </a:solidFill>
                <a:latin typeface="Arial Unicode MS" pitchFamily="18" charset="0"/>
                <a:cs typeface="Arial Unicode MS" pitchFamily="18" charset="0"/>
              </a:rPr>
              <a:t>+</a:t>
            </a:r>
            <a:r>
              <a:rPr lang="en-US" altLang="zh-CN" sz="200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兴趣</a:t>
            </a:r>
            <a:r>
              <a:rPr lang="en-US" altLang="zh-CN" sz="2006" dirty="0" smtClean="0">
                <a:solidFill>
                  <a:srgbClr val="404040"/>
                </a:solidFill>
                <a:latin typeface="Arial Unicode MS" pitchFamily="18" charset="0"/>
                <a:cs typeface="Arial Unicode MS" pitchFamily="18" charset="0"/>
              </a:rPr>
              <a:t>&amp;</a:t>
            </a:r>
            <a:r>
              <a:rPr lang="en-US" altLang="zh-CN" sz="2006" dirty="0" smtClean="0">
                <a:solidFill>
                  <a:srgbClr val="404040"/>
                </a:solidFill>
                <a:latin typeface="Microsoft YaHei UI" pitchFamily="18" charset="0"/>
                <a:cs typeface="Microsoft YaHei UI" pitchFamily="18" charset="0"/>
              </a:rPr>
              <a:t>理想</a:t>
            </a:r>
          </a:p>
          <a:p>
            <a:pPr>
              <a:lnSpc>
                <a:spcPts val="2100"/>
              </a:lnSpc>
              <a:tabLst>
                <a:tab pos="101600" algn="l"/>
              </a:tabLst>
            </a:pPr>
            <a:r>
              <a:rPr lang="en-US" altLang="zh-CN" sz="1296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“希望能在一到两年内考上造价员的证书，找到能够挂靠的单位或公司，希望能在这个</a:t>
            </a:r>
          </a:p>
        </p:txBody>
      </p:sp>
      <p:sp>
        <p:nvSpPr>
          <p:cNvPr id="1037" name="TextBox 1"/>
          <p:cNvSpPr txBox="1"/>
          <p:nvPr/>
        </p:nvSpPr>
        <p:spPr>
          <a:xfrm>
            <a:off x="6299200" y="3924300"/>
            <a:ext cx="62611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1296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过程中得到社会经验。想成立一个城市手绘的组织，但我的手绘水平并不高，所以这会</a:t>
            </a:r>
          </a:p>
        </p:txBody>
      </p:sp>
      <p:sp>
        <p:nvSpPr>
          <p:cNvPr id="1038" name="TextBox 1"/>
          <p:cNvSpPr txBox="1"/>
          <p:nvPr/>
        </p:nvSpPr>
        <p:spPr>
          <a:xfrm>
            <a:off x="6299200" y="4114800"/>
            <a:ext cx="6261100" cy="546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>
                <a:tab pos="4381500" algn="l"/>
              </a:tabLst>
            </a:pPr>
            <a:r>
              <a:rPr lang="en-US" altLang="zh-CN" sz="1296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是一个长久的目标。听说有导游证去景点可以免费，感觉诱惑很大，希望能抽出时间了</a:t>
            </a:r>
          </a:p>
          <a:p>
            <a:pPr>
              <a:lnSpc>
                <a:spcPts val="1500"/>
              </a:lnSpc>
              <a:tabLst>
                <a:tab pos="4381500" algn="l"/>
              </a:tabLst>
            </a:pPr>
            <a:r>
              <a:rPr lang="en-US" altLang="zh-CN" sz="1296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解和学习一下导游证的相关知识。最想实现的就是能够开一个自己的工作室。”</a:t>
            </a:r>
          </a:p>
          <a:p>
            <a:pPr>
              <a:lnSpc>
                <a:spcPts val="1500"/>
              </a:lnSpc>
              <a:tabLst>
                <a:tab pos="4381500" algn="l"/>
              </a:tabLst>
            </a:pPr>
            <a:r>
              <a:rPr lang="en-US" altLang="zh-CN" dirty="0" smtClean="0"/>
              <a:t>	</a:t>
            </a:r>
            <a:r>
              <a:rPr lang="en-US" altLang="zh-CN" sz="1296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--大学男生，Pacific</a:t>
            </a:r>
            <a:r>
              <a:rPr lang="en-US" altLang="zh-CN" sz="12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296" dirty="0" smtClean="0">
                <a:solidFill>
                  <a:srgbClr val="000000"/>
                </a:solidFill>
                <a:latin typeface="Microsoft YaHei UI" pitchFamily="18" charset="0"/>
                <a:cs typeface="Microsoft YaHei UI" pitchFamily="18" charset="0"/>
              </a:rPr>
              <a:t>Rim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358</Words>
  <Application>Microsoft Office PowerPoint</Application>
  <PresentationFormat>自定义</PresentationFormat>
  <Paragraphs>202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winlesson_user</dc:creator>
  <cp:lastModifiedBy>梁婧</cp:lastModifiedBy>
  <cp:revision>10</cp:revision>
  <dcterms:created xsi:type="dcterms:W3CDTF">2006-08-16T00:00:00Z</dcterms:created>
  <dcterms:modified xsi:type="dcterms:W3CDTF">2017-10-10T07:09:27Z</dcterms:modified>
</cp:coreProperties>
</file>