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90295" y="1122680"/>
            <a:ext cx="9577705" cy="1873885"/>
          </a:xfrm>
        </p:spPr>
        <p:txBody>
          <a:bodyPr/>
          <a:p>
            <a:r>
              <a:rPr lang="zh-CN" altLang="en-US"/>
              <a:t>康龙公共卫生移动办公系统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/>
              <a:t>独特价值</a:t>
            </a:r>
            <a:r>
              <a:rPr lang="en-US" altLang="zh-CN"/>
              <a:t>+</a:t>
            </a:r>
            <a:r>
              <a:rPr lang="zh-CN" altLang="en-US"/>
              <a:t>客户画像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独特价值画布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73225"/>
            <a:ext cx="10515600" cy="4618355"/>
          </a:xfrm>
        </p:spPr>
        <p:txBody>
          <a:bodyPr>
            <a:normAutofit fontScale="90000" lnSpcReduction="20000"/>
          </a:bodyPr>
          <a:p>
            <a:r>
              <a:rPr lang="en-US" altLang="zh-CN"/>
              <a:t>unlike</a:t>
            </a:r>
            <a:r>
              <a:rPr lang="zh-CN" altLang="en-US"/>
              <a:t>：导通、卫宁、荣科、冠新等</a:t>
            </a:r>
            <a:r>
              <a:rPr lang="en-US" altLang="zh-CN"/>
              <a:t>PC</a:t>
            </a:r>
            <a:r>
              <a:rPr lang="zh-CN" altLang="en-US"/>
              <a:t>电子档案</a:t>
            </a:r>
            <a:r>
              <a:rPr lang="zh-CN" altLang="en-US"/>
              <a:t>系统，以及其他多种全科医生一体机产品</a:t>
            </a:r>
            <a:r>
              <a:rPr lang="zh-CN" altLang="en-US"/>
              <a:t>；</a:t>
            </a:r>
            <a:endParaRPr lang="zh-CN" altLang="en-US"/>
          </a:p>
          <a:p>
            <a:r>
              <a:rPr lang="en-US" altLang="zh-CN"/>
              <a:t>our</a:t>
            </a:r>
            <a:r>
              <a:rPr lang="zh-CN" altLang="en-US"/>
              <a:t>：康龙公共卫生移动办公系统；</a:t>
            </a:r>
            <a:endParaRPr lang="zh-CN" altLang="en-US"/>
          </a:p>
          <a:p>
            <a:r>
              <a:rPr lang="en-US" altLang="zh-CN"/>
              <a:t>helps</a:t>
            </a:r>
            <a:r>
              <a:rPr lang="zh-CN" altLang="en-US"/>
              <a:t>：承担公卫工作的基层医疗机构和医生（村医、社区医生）；</a:t>
            </a:r>
            <a:endParaRPr lang="zh-CN" altLang="en-US"/>
          </a:p>
          <a:p>
            <a:r>
              <a:rPr lang="en-US" altLang="zh-CN"/>
              <a:t>who want to</a:t>
            </a:r>
            <a:r>
              <a:rPr lang="zh-CN" altLang="en-US"/>
              <a:t>：彻底改变当前公共卫生工作中的各种痛点：建档率低、</a:t>
            </a:r>
            <a:r>
              <a:rPr lang="zh-CN" altLang="en-US">
                <a:sym typeface="+mn-ea"/>
              </a:rPr>
              <a:t>档案造假、设备笨重不便携、</a:t>
            </a:r>
            <a:r>
              <a:rPr lang="zh-CN" altLang="en-US"/>
              <a:t>随访不便、调阅不便、整理困难、统计困难、医生消极、医院憋屈、卫生局被重罚等；</a:t>
            </a:r>
            <a:endParaRPr lang="zh-CN" altLang="en-US"/>
          </a:p>
          <a:p>
            <a:r>
              <a:rPr lang="en-US" altLang="zh-CN"/>
              <a:t>by</a:t>
            </a:r>
            <a:r>
              <a:rPr lang="zh-CN" altLang="en-US"/>
              <a:t>：</a:t>
            </a:r>
            <a:r>
              <a:rPr lang="zh-CN" altLang="en-US">
                <a:sym typeface="+mn-ea"/>
              </a:rPr>
              <a:t>终结纸张表格、</a:t>
            </a:r>
            <a:r>
              <a:rPr lang="zh-CN" altLang="en-US"/>
              <a:t>尽可能减少人工操作、缩短建档及随访时间，节省原本的大量统计报表的时间；</a:t>
            </a:r>
            <a:endParaRPr lang="zh-CN" altLang="en-US"/>
          </a:p>
          <a:p>
            <a:r>
              <a:rPr lang="en-US" altLang="zh-CN"/>
              <a:t>by</a:t>
            </a:r>
            <a:r>
              <a:rPr lang="zh-CN" altLang="en-US"/>
              <a:t>：增加移动便携终端、智能异常诊断、自动生成诊断书、离线建档、现场拍照留证、各种统计汇总、报表导出、档案打印等功能，大幅提高当地居民健康档案的建档率、利用率、档案真实度，大幅提高村医及社区医生的收入。</a:t>
            </a:r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客户画像画布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73225"/>
            <a:ext cx="10515600" cy="4618355"/>
          </a:xfrm>
        </p:spPr>
        <p:txBody>
          <a:bodyPr>
            <a:normAutofit fontScale="90000" lnSpcReduction="20000"/>
          </a:bodyPr>
          <a:p>
            <a:r>
              <a:rPr lang="en-US" altLang="zh-CN"/>
              <a:t>buyer persona</a:t>
            </a:r>
            <a:r>
              <a:rPr lang="zh-CN" altLang="en-US"/>
              <a:t>：地方卫生管理机构（县</a:t>
            </a:r>
            <a:r>
              <a:rPr lang="en-US" altLang="zh-CN"/>
              <a:t>/</a:t>
            </a:r>
            <a:r>
              <a:rPr lang="zh-CN" altLang="en-US"/>
              <a:t>区</a:t>
            </a:r>
            <a:r>
              <a:rPr lang="en-US" altLang="zh-CN"/>
              <a:t>/</a:t>
            </a:r>
            <a:r>
              <a:rPr lang="zh-CN" altLang="en-US"/>
              <a:t>市卫生局、卫计委），</a:t>
            </a:r>
            <a:r>
              <a:rPr lang="zh-CN" altLang="en-US">
                <a:sym typeface="+mn-ea"/>
              </a:rPr>
              <a:t>公卫信息化程度不高或深受现有系统缺点困扰，</a:t>
            </a:r>
            <a:r>
              <a:rPr lang="zh-CN" altLang="en-US"/>
              <a:t>本地公共卫生工作常年无法达到国家指标要求，甚至因此受到过上级批评或处罚，急迫需要改善现状，做出政绩。</a:t>
            </a:r>
            <a:endParaRPr lang="zh-CN" altLang="en-US"/>
          </a:p>
          <a:p>
            <a:r>
              <a:rPr lang="en-US" altLang="zh-CN"/>
              <a:t>content</a:t>
            </a:r>
            <a:r>
              <a:rPr lang="zh-CN" altLang="en-US"/>
              <a:t>：信息来源于国家十三五计划文件指导、上级文件指导、基层医院和医生的实际情况反映、中间人推荐、</a:t>
            </a:r>
            <a:r>
              <a:rPr lang="zh-CN" altLang="en-US">
                <a:sym typeface="+mn-ea"/>
              </a:rPr>
              <a:t>我方产品介绍资料、</a:t>
            </a:r>
            <a:r>
              <a:rPr lang="zh-CN" altLang="en-US"/>
              <a:t>兄弟县市的示范、试点参观等。</a:t>
            </a:r>
            <a:endParaRPr lang="zh-CN" altLang="en-US"/>
          </a:p>
          <a:p>
            <a:r>
              <a:rPr lang="en-US" altLang="zh-CN"/>
              <a:t>buying process</a:t>
            </a:r>
            <a:r>
              <a:rPr lang="zh-CN" altLang="en-US"/>
              <a:t>：前期公关</a:t>
            </a:r>
            <a:r>
              <a:rPr lang="en-US" altLang="zh-CN"/>
              <a:t>-&gt;</a:t>
            </a:r>
            <a:r>
              <a:rPr lang="zh-CN" altLang="en-US"/>
              <a:t>约见客户</a:t>
            </a:r>
            <a:r>
              <a:rPr lang="en-US" altLang="zh-CN"/>
              <a:t>-&gt;</a:t>
            </a:r>
            <a:r>
              <a:rPr lang="zh-CN" altLang="en-US"/>
              <a:t>介绍产品</a:t>
            </a:r>
            <a:r>
              <a:rPr lang="en-US" altLang="zh-CN"/>
              <a:t>-&gt;</a:t>
            </a:r>
            <a:r>
              <a:rPr lang="zh-CN" altLang="en-US"/>
              <a:t>邀请参考</a:t>
            </a:r>
            <a:r>
              <a:rPr lang="zh-CN" altLang="en-US">
                <a:sym typeface="+mn-ea"/>
              </a:rPr>
              <a:t>试点</a:t>
            </a:r>
            <a:r>
              <a:rPr lang="en-US" altLang="zh-CN">
                <a:sym typeface="+mn-ea"/>
              </a:rPr>
              <a:t>-&gt;</a:t>
            </a:r>
            <a:r>
              <a:rPr lang="zh-CN" altLang="en-US">
                <a:sym typeface="+mn-ea"/>
              </a:rPr>
              <a:t>价格及需求</a:t>
            </a:r>
            <a:r>
              <a:rPr lang="zh-CN" altLang="en-US">
                <a:sym typeface="+mn-ea"/>
              </a:rPr>
              <a:t>谈判</a:t>
            </a:r>
            <a:r>
              <a:rPr lang="en-US" altLang="zh-CN">
                <a:sym typeface="+mn-ea"/>
              </a:rPr>
              <a:t>-&gt;</a:t>
            </a:r>
            <a:r>
              <a:rPr lang="zh-CN" altLang="en-US">
                <a:sym typeface="+mn-ea"/>
              </a:rPr>
              <a:t>采购合同</a:t>
            </a:r>
            <a:r>
              <a:rPr lang="en-US" altLang="zh-CN">
                <a:sym typeface="+mn-ea"/>
              </a:rPr>
              <a:t>-&gt;</a:t>
            </a:r>
            <a:r>
              <a:rPr lang="zh-CN" altLang="en-US">
                <a:sym typeface="+mn-ea"/>
              </a:rPr>
              <a:t>项目实施</a:t>
            </a:r>
            <a:r>
              <a:rPr lang="en-US" altLang="zh-CN">
                <a:sym typeface="+mn-ea"/>
              </a:rPr>
              <a:t>-&gt;</a:t>
            </a:r>
            <a:r>
              <a:rPr lang="zh-CN" altLang="en-US">
                <a:sym typeface="+mn-ea"/>
              </a:rPr>
              <a:t>培训</a:t>
            </a:r>
            <a:r>
              <a:rPr lang="en-US" altLang="zh-CN">
                <a:sym typeface="+mn-ea"/>
              </a:rPr>
              <a:t>-&gt;</a:t>
            </a:r>
            <a:r>
              <a:rPr lang="zh-CN" altLang="en-US">
                <a:sym typeface="+mn-ea"/>
              </a:rPr>
              <a:t>首年付款</a:t>
            </a:r>
            <a:r>
              <a:rPr lang="en-US" altLang="zh-CN">
                <a:sym typeface="+mn-ea"/>
              </a:rPr>
              <a:t>-&gt;</a:t>
            </a:r>
            <a:r>
              <a:rPr lang="zh-CN" altLang="en-US">
                <a:sym typeface="+mn-ea"/>
              </a:rPr>
              <a:t>以后</a:t>
            </a:r>
            <a:r>
              <a:rPr lang="zh-CN" altLang="en-US">
                <a:sym typeface="+mn-ea"/>
              </a:rPr>
              <a:t>按年付费</a:t>
            </a:r>
            <a:r>
              <a:rPr lang="zh-CN" altLang="en-US"/>
              <a:t>；因客户工作按年考核，所以年底为客户最佳采购时间。</a:t>
            </a:r>
            <a:endParaRPr lang="zh-CN" altLang="en-US"/>
          </a:p>
          <a:p>
            <a:r>
              <a:rPr lang="en-US" altLang="zh-CN"/>
              <a:t>Influencers,Stakehodlers,Buying team</a:t>
            </a:r>
            <a:r>
              <a:rPr lang="zh-CN" altLang="en-US"/>
              <a:t>：地方</a:t>
            </a:r>
            <a:r>
              <a:rPr lang="en-US" altLang="zh-CN">
                <a:sym typeface="+mn-ea"/>
              </a:rPr>
              <a:t>“</a:t>
            </a:r>
            <a:r>
              <a:rPr lang="zh-CN" altLang="en-US"/>
              <a:t>卫生局</a:t>
            </a:r>
            <a:r>
              <a:rPr lang="en-US" altLang="zh-CN"/>
              <a:t>+</a:t>
            </a:r>
            <a:r>
              <a:rPr lang="zh-CN" altLang="en-US"/>
              <a:t>财政局</a:t>
            </a:r>
            <a:r>
              <a:rPr lang="en-US" altLang="zh-CN">
                <a:sym typeface="+mn-ea"/>
              </a:rPr>
              <a:t>”</a:t>
            </a:r>
            <a:r>
              <a:rPr lang="zh-CN" altLang="en-US"/>
              <a:t>为出钱人（也可以分散为当地各基层医院）；各基层医院院长为内部影响者；上级（市</a:t>
            </a:r>
            <a:r>
              <a:rPr lang="en-US" altLang="zh-CN"/>
              <a:t>/</a:t>
            </a:r>
            <a:r>
              <a:rPr lang="zh-CN" altLang="en-US"/>
              <a:t>省）领导</a:t>
            </a:r>
            <a:r>
              <a:rPr lang="en-US" altLang="zh-CN"/>
              <a:t>/</a:t>
            </a:r>
            <a:r>
              <a:rPr lang="zh-CN" altLang="en-US"/>
              <a:t>专家、已采购该系统的兄弟县市为外部影响者；当地卫生局（可能还有财政局）、各基层医院属于购买团队，卫生局（画像客户）在其中扮演决策角色；卫生局一把手（可能需要财政局参与）批准。</a:t>
            </a:r>
            <a:endParaRPr lang="en-US" alt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825</Words>
  <Application>WPS 演示</Application>
  <PresentationFormat>宽屏</PresentationFormat>
  <Paragraphs>20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Arial Unicode MS</vt:lpstr>
      <vt:lpstr>Calibri Light</vt:lpstr>
      <vt:lpstr>Calibri</vt:lpstr>
      <vt:lpstr>微软雅黑</vt:lpstr>
      <vt:lpstr>Office 主题</vt:lpstr>
      <vt:lpstr>PowerPoint 演示文稿</vt:lpstr>
      <vt:lpstr>PowerPoint 演示文稿</vt:lpstr>
      <vt:lpstr>独特价值画布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ZG</cp:lastModifiedBy>
  <cp:revision>25</cp:revision>
  <dcterms:created xsi:type="dcterms:W3CDTF">2015-05-05T08:02:00Z</dcterms:created>
  <dcterms:modified xsi:type="dcterms:W3CDTF">2017-10-04T10:22:23Z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2052-10.1.0.6876</vt:lpwstr>
  </property>
</Properties>
</file>