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3" r:id="rId3"/>
    <p:sldId id="274" r:id="rId4"/>
    <p:sldId id="275" r:id="rId5"/>
    <p:sldId id="278" r:id="rId6"/>
    <p:sldId id="279" r:id="rId7"/>
    <p:sldId id="281" r:id="rId8"/>
    <p:sldId id="282" r:id="rId9"/>
    <p:sldId id="280" r:id="rId10"/>
    <p:sldId id="283" r:id="rId11"/>
    <p:sldId id="284" r:id="rId12"/>
    <p:sldId id="285" r:id="rId13"/>
    <p:sldId id="27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0" userDrawn="1">
          <p15:clr>
            <a:srgbClr val="A4A3A4"/>
          </p15:clr>
        </p15:guide>
        <p15:guide id="4" pos="3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70" autoAdjust="0"/>
  </p:normalViewPr>
  <p:slideViewPr>
    <p:cSldViewPr snapToGrid="0">
      <p:cViewPr varScale="1">
        <p:scale>
          <a:sx n="64" d="100"/>
          <a:sy n="64" d="100"/>
        </p:scale>
        <p:origin x="876" y="66"/>
      </p:cViewPr>
      <p:guideLst>
        <p:guide orient="horz" pos="2160"/>
        <p:guide pos="3840"/>
        <p:guide pos="30"/>
        <p:guide pos="3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9E0A40-C9C8-44E3-A2E8-AB6D73A7B096}" type="doc">
      <dgm:prSet loTypeId="urn:microsoft.com/office/officeart/2005/8/layout/arrow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49D9E65-4482-4C18-B33E-02420FE221F5}">
      <dgm:prSet phldrT="[文本]" custT="1"/>
      <dgm:spPr>
        <a:xfrm>
          <a:off x="2259755" y="0"/>
          <a:ext cx="3717030" cy="1873303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n-US" altLang="zh-CN" sz="3600" b="1" dirty="0">
              <a:solidFill>
                <a:srgbClr val="BD392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2.0g/</a:t>
          </a:r>
          <a:r>
            <a:rPr kumimoji="0" lang="en-US" altLang="zh-CN" sz="3600" b="1" i="0" u="none" strike="noStrike" cap="none" normalizeH="0" baseline="0" dirty="0">
              <a:ln>
                <a:noFill/>
              </a:ln>
              <a:solidFill>
                <a:srgbClr val="BD3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rPr>
            <a:t>m</a:t>
          </a:r>
          <a:r>
            <a:rPr kumimoji="0" lang="en-US" altLang="zh-CN" sz="3600" b="1" i="0" u="none" strike="noStrike" cap="none" normalizeH="0" baseline="30000" dirty="0">
              <a:ln>
                <a:noFill/>
              </a:ln>
              <a:solidFill>
                <a:srgbClr val="BD3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rPr>
            <a:t>2</a:t>
          </a:r>
          <a:endParaRPr lang="zh-CN" altLang="en-US" sz="3600" b="1" dirty="0">
            <a:solidFill>
              <a:srgbClr val="BD392F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B67C8A95-E4F3-49ED-98C5-822B13E72716}" type="parTrans" cxnId="{DB020793-6947-4C8A-8670-0E2AD7067C7D}">
      <dgm:prSet/>
      <dgm:spPr/>
      <dgm:t>
        <a:bodyPr/>
        <a:lstStyle/>
        <a:p>
          <a:endParaRPr lang="zh-CN" altLang="en-US"/>
        </a:p>
      </dgm:t>
    </dgm:pt>
    <dgm:pt modelId="{2E46B0CB-8018-4C22-A530-C131C42F985C}" type="sibTrans" cxnId="{DB020793-6947-4C8A-8670-0E2AD7067C7D}">
      <dgm:prSet/>
      <dgm:spPr/>
      <dgm:t>
        <a:bodyPr/>
        <a:lstStyle/>
        <a:p>
          <a:endParaRPr lang="zh-CN" altLang="en-US"/>
        </a:p>
      </dgm:t>
    </dgm:pt>
    <dgm:pt modelId="{4EBEFC27-E68C-40E9-840D-F9D0D673771D}">
      <dgm:prSet phldrT="[文本]" custT="1"/>
      <dgm:spPr>
        <a:xfrm>
          <a:off x="2916873" y="2029412"/>
          <a:ext cx="3717030" cy="1873303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0.8g/</a:t>
          </a:r>
          <a:r>
            <a:rPr kumimoji="0" lang="en-US" altLang="zh-CN" sz="36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rPr>
            <a:t>m</a:t>
          </a:r>
          <a:r>
            <a:rPr kumimoji="0" lang="en-US" altLang="zh-CN" sz="3600" b="0" i="0" u="none" strike="noStrike" kern="1200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rPr>
            <a:t>2</a:t>
          </a:r>
          <a:endParaRPr lang="zh-CN" altLang="en-US" sz="3600" b="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9A274C7E-173A-4B2E-BA0E-7CDE8DE8290E}" type="parTrans" cxnId="{1D1F3F3B-778F-412E-AA90-2017FD6D0507}">
      <dgm:prSet/>
      <dgm:spPr/>
      <dgm:t>
        <a:bodyPr/>
        <a:lstStyle/>
        <a:p>
          <a:endParaRPr lang="zh-CN" altLang="en-US"/>
        </a:p>
      </dgm:t>
    </dgm:pt>
    <dgm:pt modelId="{627CE480-C4AE-4FE8-A137-894C6689477D}" type="sibTrans" cxnId="{1D1F3F3B-778F-412E-AA90-2017FD6D0507}">
      <dgm:prSet/>
      <dgm:spPr/>
      <dgm:t>
        <a:bodyPr/>
        <a:lstStyle/>
        <a:p>
          <a:endParaRPr lang="zh-CN" altLang="en-US"/>
        </a:p>
      </dgm:t>
    </dgm:pt>
    <dgm:pt modelId="{2A7DAEAA-9868-49E8-BB4B-E1A401397135}" type="pres">
      <dgm:prSet presAssocID="{EA9E0A40-C9C8-44E3-A2E8-AB6D73A7B096}" presName="compositeShape" presStyleCnt="0">
        <dgm:presLayoutVars>
          <dgm:chMax val="2"/>
          <dgm:dir/>
          <dgm:resizeHandles val="exact"/>
        </dgm:presLayoutVars>
      </dgm:prSet>
      <dgm:spPr/>
    </dgm:pt>
    <dgm:pt modelId="{FE882E34-28ED-4537-B431-9B7BEF49C663}" type="pres">
      <dgm:prSet presAssocID="{549D9E65-4482-4C18-B33E-02420FE221F5}" presName="upArrow" presStyleLbl="node1" presStyleIdx="0" presStyleCnt="2"/>
      <dgm:spPr>
        <a:xfrm>
          <a:off x="3650" y="0"/>
          <a:ext cx="2190392" cy="1873303"/>
        </a:xfrm>
        <a:prstGeom prst="upArrow">
          <a:avLst/>
        </a:prstGeom>
        <a:solidFill>
          <a:srgbClr val="BD392F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17F2056C-2C72-4C57-8E04-075ABA7FD29A}" type="pres">
      <dgm:prSet presAssocID="{549D9E65-4482-4C18-B33E-02420FE221F5}" presName="upArrowText" presStyleLbl="revTx" presStyleIdx="0" presStyleCnt="2">
        <dgm:presLayoutVars>
          <dgm:chMax val="0"/>
          <dgm:bulletEnabled val="1"/>
        </dgm:presLayoutVars>
      </dgm:prSet>
      <dgm:spPr/>
    </dgm:pt>
    <dgm:pt modelId="{7C641384-0CAE-4E35-9621-02A6ACC03FAD}" type="pres">
      <dgm:prSet presAssocID="{4EBEFC27-E68C-40E9-840D-F9D0D673771D}" presName="downArrow" presStyleLbl="node1" presStyleIdx="1" presStyleCnt="2"/>
      <dgm:spPr>
        <a:xfrm>
          <a:off x="660768" y="2029412"/>
          <a:ext cx="2190392" cy="1873303"/>
        </a:xfrm>
        <a:prstGeom prst="downArrow">
          <a:avLst/>
        </a:prstGeom>
        <a:solidFill>
          <a:srgbClr val="1EA18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68176D30-A041-477B-88B2-FCD1946A73FB}" type="pres">
      <dgm:prSet presAssocID="{4EBEFC27-E68C-40E9-840D-F9D0D673771D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B0F6EE07-3EDF-4C01-BCF7-1E9A05A6E324}" type="presOf" srcId="{EA9E0A40-C9C8-44E3-A2E8-AB6D73A7B096}" destId="{2A7DAEAA-9868-49E8-BB4B-E1A401397135}" srcOrd="0" destOrd="0" presId="urn:microsoft.com/office/officeart/2005/8/layout/arrow4"/>
    <dgm:cxn modelId="{84DDF837-7F3D-4493-BC83-4F565688DA70}" type="presOf" srcId="{549D9E65-4482-4C18-B33E-02420FE221F5}" destId="{17F2056C-2C72-4C57-8E04-075ABA7FD29A}" srcOrd="0" destOrd="0" presId="urn:microsoft.com/office/officeart/2005/8/layout/arrow4"/>
    <dgm:cxn modelId="{1D1F3F3B-778F-412E-AA90-2017FD6D0507}" srcId="{EA9E0A40-C9C8-44E3-A2E8-AB6D73A7B096}" destId="{4EBEFC27-E68C-40E9-840D-F9D0D673771D}" srcOrd="1" destOrd="0" parTransId="{9A274C7E-173A-4B2E-BA0E-7CDE8DE8290E}" sibTransId="{627CE480-C4AE-4FE8-A137-894C6689477D}"/>
    <dgm:cxn modelId="{5E464D85-982F-447A-BAAA-73754B6A5322}" type="presOf" srcId="{4EBEFC27-E68C-40E9-840D-F9D0D673771D}" destId="{68176D30-A041-477B-88B2-FCD1946A73FB}" srcOrd="0" destOrd="0" presId="urn:microsoft.com/office/officeart/2005/8/layout/arrow4"/>
    <dgm:cxn modelId="{DB020793-6947-4C8A-8670-0E2AD7067C7D}" srcId="{EA9E0A40-C9C8-44E3-A2E8-AB6D73A7B096}" destId="{549D9E65-4482-4C18-B33E-02420FE221F5}" srcOrd="0" destOrd="0" parTransId="{B67C8A95-E4F3-49ED-98C5-822B13E72716}" sibTransId="{2E46B0CB-8018-4C22-A530-C131C42F985C}"/>
    <dgm:cxn modelId="{A439B5E4-EF99-4A3D-8912-D73C5C141DED}" type="presParOf" srcId="{2A7DAEAA-9868-49E8-BB4B-E1A401397135}" destId="{FE882E34-28ED-4537-B431-9B7BEF49C663}" srcOrd="0" destOrd="0" presId="urn:microsoft.com/office/officeart/2005/8/layout/arrow4"/>
    <dgm:cxn modelId="{F2EF7D61-EF65-4AF0-8166-CDB66D015AB5}" type="presParOf" srcId="{2A7DAEAA-9868-49E8-BB4B-E1A401397135}" destId="{17F2056C-2C72-4C57-8E04-075ABA7FD29A}" srcOrd="1" destOrd="0" presId="urn:microsoft.com/office/officeart/2005/8/layout/arrow4"/>
    <dgm:cxn modelId="{DB51B15D-979E-481F-98FA-703E2E82F5DA}" type="presParOf" srcId="{2A7DAEAA-9868-49E8-BB4B-E1A401397135}" destId="{7C641384-0CAE-4E35-9621-02A6ACC03FAD}" srcOrd="2" destOrd="0" presId="urn:microsoft.com/office/officeart/2005/8/layout/arrow4"/>
    <dgm:cxn modelId="{9F0286FD-F06B-4E2D-B06C-1CECB5A89E5D}" type="presParOf" srcId="{2A7DAEAA-9868-49E8-BB4B-E1A401397135}" destId="{68176D30-A041-477B-88B2-FCD1946A73FB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882E34-28ED-4537-B431-9B7BEF49C663}">
      <dsp:nvSpPr>
        <dsp:cNvPr id="0" name=""/>
        <dsp:cNvSpPr/>
      </dsp:nvSpPr>
      <dsp:spPr>
        <a:xfrm>
          <a:off x="3650" y="0"/>
          <a:ext cx="2190392" cy="1873303"/>
        </a:xfrm>
        <a:prstGeom prst="upArrow">
          <a:avLst/>
        </a:prstGeom>
        <a:solidFill>
          <a:srgbClr val="BD392F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F2056C-2C72-4C57-8E04-075ABA7FD29A}">
      <dsp:nvSpPr>
        <dsp:cNvPr id="0" name=""/>
        <dsp:cNvSpPr/>
      </dsp:nvSpPr>
      <dsp:spPr>
        <a:xfrm>
          <a:off x="2259755" y="0"/>
          <a:ext cx="3717030" cy="1873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0" rIns="256032" bIns="256032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1" kern="1200" dirty="0">
              <a:solidFill>
                <a:srgbClr val="BD392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2.0g/</a:t>
          </a:r>
          <a:r>
            <a:rPr kumimoji="0" lang="en-US" altLang="zh-CN" sz="3600" b="1" i="0" u="none" strike="noStrike" kern="1200" cap="none" normalizeH="0" baseline="0" dirty="0">
              <a:ln>
                <a:noFill/>
              </a:ln>
              <a:solidFill>
                <a:srgbClr val="BD3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rPr>
            <a:t>m</a:t>
          </a:r>
          <a:r>
            <a:rPr kumimoji="0" lang="en-US" altLang="zh-CN" sz="3600" b="1" i="0" u="none" strike="noStrike" kern="1200" cap="none" normalizeH="0" baseline="30000" dirty="0">
              <a:ln>
                <a:noFill/>
              </a:ln>
              <a:solidFill>
                <a:srgbClr val="BD3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rPr>
            <a:t>2</a:t>
          </a:r>
          <a:endParaRPr lang="zh-CN" altLang="en-US" sz="3600" b="1" kern="1200" dirty="0">
            <a:solidFill>
              <a:srgbClr val="BD392F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2259755" y="0"/>
        <a:ext cx="3717030" cy="1873303"/>
      </dsp:txXfrm>
    </dsp:sp>
    <dsp:sp modelId="{7C641384-0CAE-4E35-9621-02A6ACC03FAD}">
      <dsp:nvSpPr>
        <dsp:cNvPr id="0" name=""/>
        <dsp:cNvSpPr/>
      </dsp:nvSpPr>
      <dsp:spPr>
        <a:xfrm>
          <a:off x="660768" y="2029412"/>
          <a:ext cx="2190392" cy="1873303"/>
        </a:xfrm>
        <a:prstGeom prst="downArrow">
          <a:avLst/>
        </a:prstGeom>
        <a:solidFill>
          <a:srgbClr val="1EA18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76D30-A041-477B-88B2-FCD1946A73FB}">
      <dsp:nvSpPr>
        <dsp:cNvPr id="0" name=""/>
        <dsp:cNvSpPr/>
      </dsp:nvSpPr>
      <dsp:spPr>
        <a:xfrm>
          <a:off x="2916873" y="2029412"/>
          <a:ext cx="3717030" cy="1873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0" rIns="256032" bIns="256032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0.8g/</a:t>
          </a:r>
          <a:r>
            <a:rPr kumimoji="0" lang="en-US" altLang="zh-CN" sz="36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rPr>
            <a:t>m</a:t>
          </a:r>
          <a:r>
            <a:rPr kumimoji="0" lang="en-US" altLang="zh-CN" sz="3600" b="0" i="0" u="none" strike="noStrike" kern="1200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rPr>
            <a:t>2</a:t>
          </a:r>
          <a:endParaRPr lang="zh-CN" altLang="en-US" sz="3600" b="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2916873" y="2029412"/>
        <a:ext cx="3717030" cy="18733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0A707B-0261-418A-A5BD-4B808A4E0A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FC0C3C-2BE1-4B7D-ABCF-B6EA88D568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9F5E7-6E6C-4D83-9435-7F56BA5E6F15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112F95-83E4-4536-A01C-14CDA0BD1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F4844A-3543-4A48-8703-CD34887883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2882D-FD59-4B35-A4FF-7B5923D14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2910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5B48F-977F-4E46-847D-88E03B1BD98D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55FB6-539B-4C15-8E6A-0029487F6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5289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655FB6-539B-4C15-8E6A-0029487F651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13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655FB6-539B-4C15-8E6A-0029487F65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837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68046E-1C12-4130-BFEA-71DFD7F2F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29820A-946E-46D0-8F5F-953DC0D5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BB19CC-46E7-42C7-A412-9F16D8528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DDEF-8A23-4329-BFFD-2AED5472ED53}" type="datetime5">
              <a:rPr lang="zh-CN" altLang="en-US" smtClean="0"/>
              <a:t>2017/11/14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10559B-0079-4977-B129-A32DD1FF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公司部门</a:t>
            </a:r>
            <a:r>
              <a:rPr lang="en-US" altLang="zh-CN" dirty="0"/>
              <a:t>/</a:t>
            </a:r>
            <a:r>
              <a:rPr lang="zh-CN" altLang="en-US" dirty="0"/>
              <a:t>创始人 郭欣然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0B95C9-09E3-4E3A-9AD3-53905C78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550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6D09D3-A3E4-4ABE-AB33-74D8E269E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035461-5C2D-41D4-8940-863E154EA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BFA07DD-929E-4855-AD1A-D1EFA3E638AE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4266D7-F40E-48F9-BE14-61A0F1F8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公司部门</a:t>
            </a:r>
            <a:r>
              <a:rPr lang="en-US" altLang="zh-CN" dirty="0"/>
              <a:t>/</a:t>
            </a:r>
            <a:r>
              <a:rPr lang="zh-CN" altLang="en-US" dirty="0"/>
              <a:t>创始人 郭欣然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DEEF95-8735-482B-96B4-7A4D99BE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6C049A7-C2A3-41AA-809F-E0628A502A2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7D51025F-7667-4884-AFE4-899DEF83D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5636" y="0"/>
            <a:ext cx="474072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单击此处编辑标题</a:t>
            </a:r>
          </a:p>
        </p:txBody>
      </p:sp>
      <p:sp>
        <p:nvSpPr>
          <p:cNvPr id="12" name="Rectangle 48">
            <a:extLst>
              <a:ext uri="{FF2B5EF4-FFF2-40B4-BE49-F238E27FC236}">
                <a16:creationId xmlns:a16="http://schemas.microsoft.com/office/drawing/2014/main" id="{52576BF0-2B34-40E2-A3C0-3C6C67D3D9F0}"/>
              </a:ext>
            </a:extLst>
          </p:cNvPr>
          <p:cNvSpPr/>
          <p:nvPr userDrawn="1"/>
        </p:nvSpPr>
        <p:spPr>
          <a:xfrm>
            <a:off x="5718037" y="1235334"/>
            <a:ext cx="776519" cy="4571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670" tIns="22836" rIns="45670" bIns="22836" rtlCol="0" anchor="ctr"/>
          <a:lstStyle/>
          <a:p>
            <a:pPr algn="ctr" defTabSz="914217"/>
            <a:endParaRPr 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409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045E5B-4225-4194-80A2-3713ED48F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64B131-8DC0-4117-8CCA-AB87FD966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6190F2-CA60-4F95-BD36-2164D8608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290A-2D66-4549-9569-65D71AEAB6B0}" type="datetime5">
              <a:rPr lang="zh-CN" altLang="en-US" smtClean="0"/>
              <a:t>2017/11/14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4A4F92-57A8-4909-AAC4-BC6AEED8E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公司部门</a:t>
            </a:r>
            <a:r>
              <a:rPr lang="en-US" altLang="zh-CN" dirty="0"/>
              <a:t>/</a:t>
            </a:r>
            <a:r>
              <a:rPr lang="zh-CN" altLang="en-US" dirty="0"/>
              <a:t>创始人 郭欣然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FB0227-CDCC-4764-B974-BB5CA7D1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0">
            <a:extLst>
              <a:ext uri="{FF2B5EF4-FFF2-40B4-BE49-F238E27FC236}">
                <a16:creationId xmlns:a16="http://schemas.microsoft.com/office/drawing/2014/main" id="{EA0D8EA1-3F08-4A54-B453-CF3E8C84D2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5636" y="0"/>
            <a:ext cx="474072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单击此处编辑标题</a:t>
            </a:r>
          </a:p>
        </p:txBody>
      </p:sp>
      <p:sp>
        <p:nvSpPr>
          <p:cNvPr id="9" name="Rectangle 48">
            <a:extLst>
              <a:ext uri="{FF2B5EF4-FFF2-40B4-BE49-F238E27FC236}">
                <a16:creationId xmlns:a16="http://schemas.microsoft.com/office/drawing/2014/main" id="{954A5940-780F-41A9-A717-52F0797CA09D}"/>
              </a:ext>
            </a:extLst>
          </p:cNvPr>
          <p:cNvSpPr/>
          <p:nvPr userDrawn="1"/>
        </p:nvSpPr>
        <p:spPr>
          <a:xfrm>
            <a:off x="5718037" y="1235334"/>
            <a:ext cx="776519" cy="4571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670" tIns="22836" rIns="45670" bIns="22836" rtlCol="0" anchor="ctr"/>
          <a:lstStyle/>
          <a:p>
            <a:pPr algn="ctr" defTabSz="914217"/>
            <a:endParaRPr 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777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75D665-EFFA-4FB5-9D62-EA6654064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E8A5-FBF5-4668-B37F-533E5FF29373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35D008-DA85-4D58-BC9F-643ECC4CA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公司部门</a:t>
            </a:r>
            <a:r>
              <a:rPr lang="en-US" altLang="zh-CN" dirty="0"/>
              <a:t>/</a:t>
            </a:r>
            <a:r>
              <a:rPr lang="zh-CN" altLang="en-US" dirty="0"/>
              <a:t>创始人 郭欣然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375710-2DFC-482C-8F08-2C4505C8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0">
            <a:extLst>
              <a:ext uri="{FF2B5EF4-FFF2-40B4-BE49-F238E27FC236}">
                <a16:creationId xmlns:a16="http://schemas.microsoft.com/office/drawing/2014/main" id="{F66573FB-CABE-489E-80E5-6BDC4B4E7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5636" y="0"/>
            <a:ext cx="474072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Rectangle 48">
            <a:extLst>
              <a:ext uri="{FF2B5EF4-FFF2-40B4-BE49-F238E27FC236}">
                <a16:creationId xmlns:a16="http://schemas.microsoft.com/office/drawing/2014/main" id="{4D8999CF-D2E9-46DF-A24B-68CC5E3DFA5E}"/>
              </a:ext>
            </a:extLst>
          </p:cNvPr>
          <p:cNvSpPr/>
          <p:nvPr userDrawn="1"/>
        </p:nvSpPr>
        <p:spPr>
          <a:xfrm>
            <a:off x="5718037" y="1235334"/>
            <a:ext cx="776519" cy="4571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670" tIns="22836" rIns="45670" bIns="22836" rtlCol="0" anchor="ctr"/>
          <a:lstStyle/>
          <a:p>
            <a:pPr algn="ctr" defTabSz="914217"/>
            <a:endParaRPr 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856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387BE5-037C-4714-B219-98F89C29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EAFD-301E-4066-B0E7-A237732986E0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9E9760-39A1-471B-B1CB-FAB6B18F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公司部门</a:t>
            </a:r>
            <a:r>
              <a:rPr lang="en-US" altLang="zh-CN" dirty="0"/>
              <a:t>/</a:t>
            </a:r>
            <a:r>
              <a:rPr lang="zh-CN" altLang="en-US" dirty="0"/>
              <a:t>创始人 郭欣然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63B39-8EF1-46BA-9B1D-F7BE0790C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73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2497DA-4F41-47FC-ADB2-324486F1A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D41E16-3AEC-4E0E-8201-05E64450EC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6EC8264-D567-48AC-9336-0E61220892C8}" type="datetime5">
              <a:rPr lang="zh-CN" altLang="en-US" smtClean="0"/>
              <a:t>2017/11/14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8A5B30-699D-4946-8F2A-9A291612E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公司部门</a:t>
            </a:r>
            <a:r>
              <a:rPr lang="en-US" altLang="zh-CN" dirty="0"/>
              <a:t>/</a:t>
            </a:r>
            <a:r>
              <a:rPr lang="zh-CN" altLang="en-US" dirty="0"/>
              <a:t>创始人</a:t>
            </a:r>
            <a:r>
              <a:rPr lang="en-US" altLang="zh-CN" dirty="0"/>
              <a:t> </a:t>
            </a:r>
            <a:r>
              <a:rPr lang="zh-CN" altLang="en-US" dirty="0"/>
              <a:t>郭欣然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CD3265-B4E4-4601-9752-A56E8220F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6C049A7-C2A3-41AA-809F-E0628A502A2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3B9B6CE-F611-4E16-833D-F60E56F974ED}"/>
              </a:ext>
            </a:extLst>
          </p:cNvPr>
          <p:cNvGrpSpPr/>
          <p:nvPr userDrawn="1"/>
        </p:nvGrpSpPr>
        <p:grpSpPr>
          <a:xfrm>
            <a:off x="21070" y="23813"/>
            <a:ext cx="2098675" cy="824944"/>
            <a:chOff x="42140" y="9051"/>
            <a:chExt cx="2098675" cy="824944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673CFD5F-2B16-4862-9F2C-77D8C59D8788}"/>
                </a:ext>
              </a:extLst>
            </p:cNvPr>
            <p:cNvSpPr txBox="1">
              <a:spLocks/>
            </p:cNvSpPr>
            <p:nvPr/>
          </p:nvSpPr>
          <p:spPr>
            <a:xfrm>
              <a:off x="590564" y="9051"/>
              <a:ext cx="1550251" cy="824944"/>
            </a:xfrm>
            <a:prstGeom prst="rect">
              <a:avLst/>
            </a:prstGeom>
          </p:spPr>
          <p:txBody>
            <a:bodyPr vert="horz" lIns="108745" tIns="54373" rIns="108745" bIns="54373" rtlCol="0" anchor="ctr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 defTabSz="543818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6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Lato Regular"/>
                </a:rPr>
                <a:t>新予环保</a:t>
              </a:r>
              <a:endParaRPr lang="en-US" altLang="zh-CN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Lato Regular"/>
              </a:endParaRPr>
            </a:p>
            <a:p>
              <a:pPr algn="dist" defTabSz="543818">
                <a:lnSpc>
                  <a:spcPct val="100000"/>
                </a:lnSpc>
                <a:spcBef>
                  <a:spcPts val="0"/>
                </a:spcBef>
              </a:pPr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New Universe</a:t>
              </a: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C51339E-2C24-4F34-A6D8-F585075D69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57" r="20503" b="23280"/>
            <a:stretch/>
          </p:blipFill>
          <p:spPr>
            <a:xfrm>
              <a:off x="42140" y="133523"/>
              <a:ext cx="608329" cy="576000"/>
            </a:xfrm>
            <a:prstGeom prst="rect">
              <a:avLst/>
            </a:prstGeom>
          </p:spPr>
        </p:pic>
      </p:grpSp>
      <p:sp>
        <p:nvSpPr>
          <p:cNvPr id="21" name="标题占位符 20">
            <a:extLst>
              <a:ext uri="{FF2B5EF4-FFF2-40B4-BE49-F238E27FC236}">
                <a16:creationId xmlns:a16="http://schemas.microsoft.com/office/drawing/2014/main" id="{B934AC41-3ABA-429A-B3BF-8A469F2E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5356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54F11-514F-4F09-8618-14E5D9E2A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新一代空气净化材料</a:t>
            </a: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04E82752-00AB-406F-A8AA-695871EE4C7F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altLang="zh-CN" dirty="0"/>
              <a:t>——</a:t>
            </a:r>
            <a:r>
              <a:rPr lang="zh-CN" altLang="en-US" dirty="0"/>
              <a:t>北京新予环保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FA9321-B189-49AB-96AB-55ACE1B4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0DCD0-8930-4672-96C4-52601689900F}" type="datetime5">
              <a:rPr lang="zh-CN" altLang="en-US" smtClean="0"/>
              <a:t>2017/11/14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B63BAD-FA3D-4501-9BD5-7D5D7B79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513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06F5B41F-5FA7-4C36-A429-A815873C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653" y="0"/>
            <a:ext cx="7250694" cy="1325563"/>
          </a:xfrm>
        </p:spPr>
        <p:txBody>
          <a:bodyPr/>
          <a:lstStyle/>
          <a:p>
            <a:pPr algn="ctr"/>
            <a:r>
              <a:rPr lang="zh-CN" altLang="en-US" dirty="0"/>
              <a:t>一、新一代驻极滤材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118325-21D0-49B5-86FD-DE4C4BA284E7}"/>
              </a:ext>
            </a:extLst>
          </p:cNvPr>
          <p:cNvSpPr txBox="1"/>
          <p:nvPr/>
        </p:nvSpPr>
        <p:spPr>
          <a:xfrm>
            <a:off x="2280227" y="1980876"/>
            <a:ext cx="1547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滤材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滤芯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06107269-853E-4D9E-B49A-EC5001A9844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5074" y="2406650"/>
            <a:ext cx="0" cy="3802063"/>
          </a:xfrm>
          <a:prstGeom prst="line">
            <a:avLst/>
          </a:prstGeom>
          <a:noFill/>
          <a:ln w="38100">
            <a:solidFill>
              <a:schemeClr val="bg1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63E55B6-C64D-4195-9CE5-B807209C65E9}"/>
              </a:ext>
            </a:extLst>
          </p:cNvPr>
          <p:cNvGrpSpPr/>
          <p:nvPr/>
        </p:nvGrpSpPr>
        <p:grpSpPr>
          <a:xfrm>
            <a:off x="5891212" y="1565379"/>
            <a:ext cx="2401887" cy="4759221"/>
            <a:chOff x="5891212" y="1565379"/>
            <a:chExt cx="2401887" cy="4759221"/>
          </a:xfrm>
        </p:grpSpPr>
        <p:sp>
          <p:nvSpPr>
            <p:cNvPr id="14" name="文本框 5">
              <a:extLst>
                <a:ext uri="{FF2B5EF4-FFF2-40B4-BE49-F238E27FC236}">
                  <a16:creationId xmlns:a16="http://schemas.microsoft.com/office/drawing/2014/main" id="{EEDFB90B-3B2F-48A5-B4BB-183075D90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1212" y="2406650"/>
              <a:ext cx="240188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熔喷无纺布</a:t>
              </a:r>
            </a:p>
          </p:txBody>
        </p:sp>
        <p:sp>
          <p:nvSpPr>
            <p:cNvPr id="15" name="KSO_Shape">
              <a:extLst>
                <a:ext uri="{FF2B5EF4-FFF2-40B4-BE49-F238E27FC236}">
                  <a16:creationId xmlns:a16="http://schemas.microsoft.com/office/drawing/2014/main" id="{FCFC706A-FB0B-41DC-88EC-53FADC1DB5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653212" y="3240087"/>
              <a:ext cx="877888" cy="461963"/>
            </a:xfrm>
            <a:custGeom>
              <a:avLst/>
              <a:gdLst>
                <a:gd name="T0" fmla="*/ 17233039 w 494328"/>
                <a:gd name="T1" fmla="*/ 3878738 h 324036"/>
                <a:gd name="T2" fmla="*/ 18039123 w 494328"/>
                <a:gd name="T3" fmla="*/ 2915207 h 324036"/>
                <a:gd name="T4" fmla="*/ 18039123 w 494328"/>
                <a:gd name="T5" fmla="*/ 3295697 h 324036"/>
                <a:gd name="T6" fmla="*/ 17233039 w 494328"/>
                <a:gd name="T7" fmla="*/ 2915207 h 324036"/>
                <a:gd name="T8" fmla="*/ 15462133 w 494328"/>
                <a:gd name="T9" fmla="*/ 2915207 h 324036"/>
                <a:gd name="T10" fmla="*/ 22387147 w 494328"/>
                <a:gd name="T11" fmla="*/ 2712667 h 324036"/>
                <a:gd name="T12" fmla="*/ 18039123 w 494328"/>
                <a:gd name="T13" fmla="*/ 2332165 h 324036"/>
                <a:gd name="T14" fmla="*/ 18039123 w 494328"/>
                <a:gd name="T15" fmla="*/ 2712667 h 324036"/>
                <a:gd name="T16" fmla="*/ 17233039 w 494328"/>
                <a:gd name="T17" fmla="*/ 2332165 h 324036"/>
                <a:gd name="T18" fmla="*/ 15462133 w 494328"/>
                <a:gd name="T19" fmla="*/ 2332165 h 324036"/>
                <a:gd name="T20" fmla="*/ 14656052 w 494328"/>
                <a:gd name="T21" fmla="*/ 2712667 h 324036"/>
                <a:gd name="T22" fmla="*/ 10308056 w 494328"/>
                <a:gd name="T23" fmla="*/ 2332165 h 324036"/>
                <a:gd name="T24" fmla="*/ 10308056 w 494328"/>
                <a:gd name="T25" fmla="*/ 2712667 h 324036"/>
                <a:gd name="T26" fmla="*/ 9502044 w 494328"/>
                <a:gd name="T27" fmla="*/ 2332165 h 324036"/>
                <a:gd name="T28" fmla="*/ 7731024 w 494328"/>
                <a:gd name="T29" fmla="*/ 2332165 h 324036"/>
                <a:gd name="T30" fmla="*/ 6924949 w 494328"/>
                <a:gd name="T31" fmla="*/ 2712667 h 324036"/>
                <a:gd name="T32" fmla="*/ 2577014 w 494328"/>
                <a:gd name="T33" fmla="*/ 2332165 h 324036"/>
                <a:gd name="T34" fmla="*/ 2577014 w 494328"/>
                <a:gd name="T35" fmla="*/ 2712667 h 324036"/>
                <a:gd name="T36" fmla="*/ 1770999 w 494328"/>
                <a:gd name="T37" fmla="*/ 2332165 h 324036"/>
                <a:gd name="T38" fmla="*/ 0 w 494328"/>
                <a:gd name="T39" fmla="*/ 2332165 h 324036"/>
                <a:gd name="T40" fmla="*/ 24964166 w 494328"/>
                <a:gd name="T41" fmla="*/ 2421140 h 324036"/>
                <a:gd name="T42" fmla="*/ 25770235 w 494328"/>
                <a:gd name="T43" fmla="*/ 1749133 h 324036"/>
                <a:gd name="T44" fmla="*/ 25770235 w 494328"/>
                <a:gd name="T45" fmla="*/ 2129608 h 324036"/>
                <a:gd name="T46" fmla="*/ 22387147 w 494328"/>
                <a:gd name="T47" fmla="*/ 1749133 h 324036"/>
                <a:gd name="T48" fmla="*/ 20616155 w 494328"/>
                <a:gd name="T49" fmla="*/ 1749133 h 324036"/>
                <a:gd name="T50" fmla="*/ 19810086 w 494328"/>
                <a:gd name="T51" fmla="*/ 2129608 h 324036"/>
                <a:gd name="T52" fmla="*/ 15462133 w 494328"/>
                <a:gd name="T53" fmla="*/ 1749133 h 324036"/>
                <a:gd name="T54" fmla="*/ 15462133 w 494328"/>
                <a:gd name="T55" fmla="*/ 2129608 h 324036"/>
                <a:gd name="T56" fmla="*/ 14656052 w 494328"/>
                <a:gd name="T57" fmla="*/ 1749133 h 324036"/>
                <a:gd name="T58" fmla="*/ 12885103 w 494328"/>
                <a:gd name="T59" fmla="*/ 1749133 h 324036"/>
                <a:gd name="T60" fmla="*/ 12079027 w 494328"/>
                <a:gd name="T61" fmla="*/ 2129608 h 324036"/>
                <a:gd name="T62" fmla="*/ 7731024 w 494328"/>
                <a:gd name="T63" fmla="*/ 1749133 h 324036"/>
                <a:gd name="T64" fmla="*/ 7731024 w 494328"/>
                <a:gd name="T65" fmla="*/ 2129608 h 324036"/>
                <a:gd name="T66" fmla="*/ 6924949 w 494328"/>
                <a:gd name="T67" fmla="*/ 1749133 h 324036"/>
                <a:gd name="T68" fmla="*/ 5154028 w 494328"/>
                <a:gd name="T69" fmla="*/ 1749133 h 324036"/>
                <a:gd name="T70" fmla="*/ 4347952 w 494328"/>
                <a:gd name="T71" fmla="*/ 2129608 h 324036"/>
                <a:gd name="T72" fmla="*/ 0 w 494328"/>
                <a:gd name="T73" fmla="*/ 1749133 h 324036"/>
                <a:gd name="T74" fmla="*/ 0 w 494328"/>
                <a:gd name="T75" fmla="*/ 2129608 h 324036"/>
                <a:gd name="T76" fmla="*/ 24964166 w 494328"/>
                <a:gd name="T77" fmla="*/ 1457608 h 324036"/>
                <a:gd name="T78" fmla="*/ 23193160 w 494328"/>
                <a:gd name="T79" fmla="*/ 1457608 h 324036"/>
                <a:gd name="T80" fmla="*/ 22387147 w 494328"/>
                <a:gd name="T81" fmla="*/ 1546575 h 324036"/>
                <a:gd name="T82" fmla="*/ 18039123 w 494328"/>
                <a:gd name="T83" fmla="*/ 1166093 h 324036"/>
                <a:gd name="T84" fmla="*/ 18039123 w 494328"/>
                <a:gd name="T85" fmla="*/ 1546575 h 324036"/>
                <a:gd name="T86" fmla="*/ 17233039 w 494328"/>
                <a:gd name="T87" fmla="*/ 1166093 h 324036"/>
                <a:gd name="T88" fmla="*/ 15462133 w 494328"/>
                <a:gd name="T89" fmla="*/ 1166093 h 324036"/>
                <a:gd name="T90" fmla="*/ 14656052 w 494328"/>
                <a:gd name="T91" fmla="*/ 1546575 h 324036"/>
                <a:gd name="T92" fmla="*/ 10308056 w 494328"/>
                <a:gd name="T93" fmla="*/ 1166093 h 324036"/>
                <a:gd name="T94" fmla="*/ 10308056 w 494328"/>
                <a:gd name="T95" fmla="*/ 1546575 h 324036"/>
                <a:gd name="T96" fmla="*/ 9502044 w 494328"/>
                <a:gd name="T97" fmla="*/ 1166093 h 324036"/>
                <a:gd name="T98" fmla="*/ 7731024 w 494328"/>
                <a:gd name="T99" fmla="*/ 1166093 h 324036"/>
                <a:gd name="T100" fmla="*/ 6924949 w 494328"/>
                <a:gd name="T101" fmla="*/ 1546575 h 324036"/>
                <a:gd name="T102" fmla="*/ 2577014 w 494328"/>
                <a:gd name="T103" fmla="*/ 1166093 h 324036"/>
                <a:gd name="T104" fmla="*/ 2577014 w 494328"/>
                <a:gd name="T105" fmla="*/ 1546575 h 324036"/>
                <a:gd name="T106" fmla="*/ 1770999 w 494328"/>
                <a:gd name="T107" fmla="*/ 1166093 h 324036"/>
                <a:gd name="T108" fmla="*/ 0 w 494328"/>
                <a:gd name="T109" fmla="*/ 1166093 h 324036"/>
                <a:gd name="T110" fmla="*/ 19810086 w 494328"/>
                <a:gd name="T111" fmla="*/ 963531 h 324036"/>
                <a:gd name="T112" fmla="*/ 15462133 w 494328"/>
                <a:gd name="T113" fmla="*/ 583041 h 324036"/>
                <a:gd name="T114" fmla="*/ 15462133 w 494328"/>
                <a:gd name="T115" fmla="*/ 963531 h 324036"/>
                <a:gd name="T116" fmla="*/ 17233039 w 494328"/>
                <a:gd name="T117" fmla="*/ 0 h 324036"/>
                <a:gd name="T118" fmla="*/ 15462133 w 494328"/>
                <a:gd name="T119" fmla="*/ 0 h 3240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494328"/>
                <a:gd name="T181" fmla="*/ 0 h 324036"/>
                <a:gd name="T182" fmla="*/ 494328 w 494328"/>
                <a:gd name="T183" fmla="*/ 324036 h 3240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494328" h="324036">
                  <a:moveTo>
                    <a:pt x="277525" y="292250"/>
                  </a:moveTo>
                  <a:lnTo>
                    <a:pt x="309311" y="292250"/>
                  </a:lnTo>
                  <a:lnTo>
                    <a:pt x="309311" y="324036"/>
                  </a:lnTo>
                  <a:lnTo>
                    <a:pt x="277525" y="324036"/>
                  </a:lnTo>
                  <a:lnTo>
                    <a:pt x="277525" y="292250"/>
                  </a:lnTo>
                  <a:close/>
                  <a:moveTo>
                    <a:pt x="323779" y="243541"/>
                  </a:moveTo>
                  <a:lnTo>
                    <a:pt x="355565" y="243541"/>
                  </a:lnTo>
                  <a:lnTo>
                    <a:pt x="355565" y="275328"/>
                  </a:lnTo>
                  <a:lnTo>
                    <a:pt x="323779" y="275328"/>
                  </a:lnTo>
                  <a:lnTo>
                    <a:pt x="323779" y="243541"/>
                  </a:lnTo>
                  <a:close/>
                  <a:moveTo>
                    <a:pt x="277525" y="243541"/>
                  </a:moveTo>
                  <a:lnTo>
                    <a:pt x="309311" y="243541"/>
                  </a:lnTo>
                  <a:lnTo>
                    <a:pt x="309311" y="275328"/>
                  </a:lnTo>
                  <a:lnTo>
                    <a:pt x="277525" y="275328"/>
                  </a:lnTo>
                  <a:lnTo>
                    <a:pt x="277525" y="243541"/>
                  </a:lnTo>
                  <a:close/>
                  <a:moveTo>
                    <a:pt x="370033" y="194833"/>
                  </a:moveTo>
                  <a:lnTo>
                    <a:pt x="401820" y="194833"/>
                  </a:lnTo>
                  <a:lnTo>
                    <a:pt x="401820" y="226620"/>
                  </a:lnTo>
                  <a:lnTo>
                    <a:pt x="370033" y="226620"/>
                  </a:lnTo>
                  <a:lnTo>
                    <a:pt x="370033" y="194833"/>
                  </a:lnTo>
                  <a:close/>
                  <a:moveTo>
                    <a:pt x="323779" y="194833"/>
                  </a:moveTo>
                  <a:lnTo>
                    <a:pt x="355565" y="194833"/>
                  </a:lnTo>
                  <a:lnTo>
                    <a:pt x="355565" y="226620"/>
                  </a:lnTo>
                  <a:lnTo>
                    <a:pt x="323779" y="226620"/>
                  </a:lnTo>
                  <a:lnTo>
                    <a:pt x="323779" y="194833"/>
                  </a:lnTo>
                  <a:close/>
                  <a:moveTo>
                    <a:pt x="277525" y="194833"/>
                  </a:moveTo>
                  <a:lnTo>
                    <a:pt x="309311" y="194833"/>
                  </a:lnTo>
                  <a:lnTo>
                    <a:pt x="309311" y="226620"/>
                  </a:lnTo>
                  <a:lnTo>
                    <a:pt x="277525" y="226620"/>
                  </a:lnTo>
                  <a:lnTo>
                    <a:pt x="277525" y="194833"/>
                  </a:lnTo>
                  <a:close/>
                  <a:moveTo>
                    <a:pt x="231271" y="194833"/>
                  </a:moveTo>
                  <a:lnTo>
                    <a:pt x="263057" y="194833"/>
                  </a:lnTo>
                  <a:lnTo>
                    <a:pt x="263057" y="226620"/>
                  </a:lnTo>
                  <a:lnTo>
                    <a:pt x="231271" y="226620"/>
                  </a:lnTo>
                  <a:lnTo>
                    <a:pt x="231271" y="194833"/>
                  </a:lnTo>
                  <a:close/>
                  <a:moveTo>
                    <a:pt x="185016" y="194833"/>
                  </a:moveTo>
                  <a:lnTo>
                    <a:pt x="216803" y="194833"/>
                  </a:lnTo>
                  <a:lnTo>
                    <a:pt x="216803" y="226620"/>
                  </a:lnTo>
                  <a:lnTo>
                    <a:pt x="185016" y="226620"/>
                  </a:lnTo>
                  <a:lnTo>
                    <a:pt x="185016" y="194833"/>
                  </a:lnTo>
                  <a:close/>
                  <a:moveTo>
                    <a:pt x="138762" y="194833"/>
                  </a:moveTo>
                  <a:lnTo>
                    <a:pt x="170549" y="194833"/>
                  </a:lnTo>
                  <a:lnTo>
                    <a:pt x="170549" y="226620"/>
                  </a:lnTo>
                  <a:lnTo>
                    <a:pt x="138762" y="226620"/>
                  </a:lnTo>
                  <a:lnTo>
                    <a:pt x="138762" y="194833"/>
                  </a:lnTo>
                  <a:close/>
                  <a:moveTo>
                    <a:pt x="92508" y="194833"/>
                  </a:moveTo>
                  <a:lnTo>
                    <a:pt x="124294" y="194833"/>
                  </a:lnTo>
                  <a:lnTo>
                    <a:pt x="124294" y="226620"/>
                  </a:lnTo>
                  <a:lnTo>
                    <a:pt x="92508" y="226620"/>
                  </a:lnTo>
                  <a:lnTo>
                    <a:pt x="92508" y="194833"/>
                  </a:lnTo>
                  <a:close/>
                  <a:moveTo>
                    <a:pt x="46254" y="194833"/>
                  </a:moveTo>
                  <a:lnTo>
                    <a:pt x="78040" y="194833"/>
                  </a:lnTo>
                  <a:lnTo>
                    <a:pt x="78040" y="226620"/>
                  </a:lnTo>
                  <a:lnTo>
                    <a:pt x="46254" y="226620"/>
                  </a:lnTo>
                  <a:lnTo>
                    <a:pt x="46254" y="194833"/>
                  </a:lnTo>
                  <a:close/>
                  <a:moveTo>
                    <a:pt x="0" y="194833"/>
                  </a:moveTo>
                  <a:lnTo>
                    <a:pt x="31787" y="194833"/>
                  </a:lnTo>
                  <a:lnTo>
                    <a:pt x="31787" y="226620"/>
                  </a:lnTo>
                  <a:lnTo>
                    <a:pt x="0" y="226620"/>
                  </a:lnTo>
                  <a:lnTo>
                    <a:pt x="0" y="194833"/>
                  </a:lnTo>
                  <a:close/>
                  <a:moveTo>
                    <a:pt x="416287" y="170479"/>
                  </a:moveTo>
                  <a:lnTo>
                    <a:pt x="448074" y="170479"/>
                  </a:lnTo>
                  <a:lnTo>
                    <a:pt x="448074" y="202266"/>
                  </a:lnTo>
                  <a:lnTo>
                    <a:pt x="416287" y="202266"/>
                  </a:lnTo>
                  <a:lnTo>
                    <a:pt x="416287" y="170479"/>
                  </a:lnTo>
                  <a:close/>
                  <a:moveTo>
                    <a:pt x="462542" y="146125"/>
                  </a:moveTo>
                  <a:lnTo>
                    <a:pt x="494328" y="146125"/>
                  </a:lnTo>
                  <a:lnTo>
                    <a:pt x="494328" y="177911"/>
                  </a:lnTo>
                  <a:lnTo>
                    <a:pt x="462542" y="177911"/>
                  </a:lnTo>
                  <a:lnTo>
                    <a:pt x="462542" y="146125"/>
                  </a:lnTo>
                  <a:close/>
                  <a:moveTo>
                    <a:pt x="370033" y="146125"/>
                  </a:moveTo>
                  <a:lnTo>
                    <a:pt x="401820" y="146125"/>
                  </a:lnTo>
                  <a:lnTo>
                    <a:pt x="401820" y="177911"/>
                  </a:lnTo>
                  <a:lnTo>
                    <a:pt x="370033" y="177911"/>
                  </a:lnTo>
                  <a:lnTo>
                    <a:pt x="370033" y="146125"/>
                  </a:lnTo>
                  <a:close/>
                  <a:moveTo>
                    <a:pt x="323779" y="146125"/>
                  </a:moveTo>
                  <a:lnTo>
                    <a:pt x="355565" y="146125"/>
                  </a:lnTo>
                  <a:lnTo>
                    <a:pt x="355565" y="177911"/>
                  </a:lnTo>
                  <a:lnTo>
                    <a:pt x="323779" y="177911"/>
                  </a:lnTo>
                  <a:lnTo>
                    <a:pt x="323779" y="146125"/>
                  </a:lnTo>
                  <a:close/>
                  <a:moveTo>
                    <a:pt x="277525" y="146125"/>
                  </a:moveTo>
                  <a:lnTo>
                    <a:pt x="309311" y="146125"/>
                  </a:lnTo>
                  <a:lnTo>
                    <a:pt x="309311" y="177911"/>
                  </a:lnTo>
                  <a:lnTo>
                    <a:pt x="277525" y="177911"/>
                  </a:lnTo>
                  <a:lnTo>
                    <a:pt x="277525" y="146125"/>
                  </a:lnTo>
                  <a:close/>
                  <a:moveTo>
                    <a:pt x="231271" y="146125"/>
                  </a:moveTo>
                  <a:lnTo>
                    <a:pt x="263057" y="146125"/>
                  </a:lnTo>
                  <a:lnTo>
                    <a:pt x="263057" y="177911"/>
                  </a:lnTo>
                  <a:lnTo>
                    <a:pt x="231271" y="177911"/>
                  </a:lnTo>
                  <a:lnTo>
                    <a:pt x="231271" y="146125"/>
                  </a:lnTo>
                  <a:close/>
                  <a:moveTo>
                    <a:pt x="185016" y="146125"/>
                  </a:moveTo>
                  <a:lnTo>
                    <a:pt x="216803" y="146125"/>
                  </a:lnTo>
                  <a:lnTo>
                    <a:pt x="216803" y="177911"/>
                  </a:lnTo>
                  <a:lnTo>
                    <a:pt x="185016" y="177911"/>
                  </a:lnTo>
                  <a:lnTo>
                    <a:pt x="185016" y="146125"/>
                  </a:lnTo>
                  <a:close/>
                  <a:moveTo>
                    <a:pt x="138762" y="146125"/>
                  </a:moveTo>
                  <a:lnTo>
                    <a:pt x="170549" y="146125"/>
                  </a:lnTo>
                  <a:lnTo>
                    <a:pt x="170549" y="177911"/>
                  </a:lnTo>
                  <a:lnTo>
                    <a:pt x="138762" y="177911"/>
                  </a:lnTo>
                  <a:lnTo>
                    <a:pt x="138762" y="146125"/>
                  </a:lnTo>
                  <a:close/>
                  <a:moveTo>
                    <a:pt x="92508" y="146125"/>
                  </a:moveTo>
                  <a:lnTo>
                    <a:pt x="124294" y="146125"/>
                  </a:lnTo>
                  <a:lnTo>
                    <a:pt x="124294" y="177911"/>
                  </a:lnTo>
                  <a:lnTo>
                    <a:pt x="92508" y="177911"/>
                  </a:lnTo>
                  <a:lnTo>
                    <a:pt x="92508" y="146125"/>
                  </a:lnTo>
                  <a:close/>
                  <a:moveTo>
                    <a:pt x="46254" y="146125"/>
                  </a:moveTo>
                  <a:lnTo>
                    <a:pt x="78040" y="146125"/>
                  </a:lnTo>
                  <a:lnTo>
                    <a:pt x="78040" y="177911"/>
                  </a:lnTo>
                  <a:lnTo>
                    <a:pt x="46254" y="177911"/>
                  </a:lnTo>
                  <a:lnTo>
                    <a:pt x="46254" y="146125"/>
                  </a:lnTo>
                  <a:close/>
                  <a:moveTo>
                    <a:pt x="0" y="146125"/>
                  </a:moveTo>
                  <a:lnTo>
                    <a:pt x="31787" y="146125"/>
                  </a:lnTo>
                  <a:lnTo>
                    <a:pt x="31787" y="177911"/>
                  </a:lnTo>
                  <a:lnTo>
                    <a:pt x="0" y="177911"/>
                  </a:lnTo>
                  <a:lnTo>
                    <a:pt x="0" y="146125"/>
                  </a:lnTo>
                  <a:close/>
                  <a:moveTo>
                    <a:pt x="416287" y="121771"/>
                  </a:moveTo>
                  <a:lnTo>
                    <a:pt x="448074" y="121771"/>
                  </a:lnTo>
                  <a:lnTo>
                    <a:pt x="448074" y="153557"/>
                  </a:lnTo>
                  <a:lnTo>
                    <a:pt x="416287" y="153557"/>
                  </a:lnTo>
                  <a:lnTo>
                    <a:pt x="416287" y="121771"/>
                  </a:lnTo>
                  <a:close/>
                  <a:moveTo>
                    <a:pt x="370033" y="97417"/>
                  </a:moveTo>
                  <a:lnTo>
                    <a:pt x="401820" y="97417"/>
                  </a:lnTo>
                  <a:lnTo>
                    <a:pt x="401820" y="129203"/>
                  </a:lnTo>
                  <a:lnTo>
                    <a:pt x="370033" y="129203"/>
                  </a:lnTo>
                  <a:lnTo>
                    <a:pt x="370033" y="97417"/>
                  </a:lnTo>
                  <a:close/>
                  <a:moveTo>
                    <a:pt x="323779" y="97417"/>
                  </a:moveTo>
                  <a:lnTo>
                    <a:pt x="355565" y="97417"/>
                  </a:lnTo>
                  <a:lnTo>
                    <a:pt x="355565" y="129203"/>
                  </a:lnTo>
                  <a:lnTo>
                    <a:pt x="323779" y="129203"/>
                  </a:lnTo>
                  <a:lnTo>
                    <a:pt x="323779" y="97417"/>
                  </a:lnTo>
                  <a:close/>
                  <a:moveTo>
                    <a:pt x="277525" y="97417"/>
                  </a:moveTo>
                  <a:lnTo>
                    <a:pt x="309311" y="97417"/>
                  </a:lnTo>
                  <a:lnTo>
                    <a:pt x="309311" y="129203"/>
                  </a:lnTo>
                  <a:lnTo>
                    <a:pt x="277525" y="129203"/>
                  </a:lnTo>
                  <a:lnTo>
                    <a:pt x="277525" y="97417"/>
                  </a:lnTo>
                  <a:close/>
                  <a:moveTo>
                    <a:pt x="231271" y="97417"/>
                  </a:moveTo>
                  <a:lnTo>
                    <a:pt x="263057" y="97417"/>
                  </a:lnTo>
                  <a:lnTo>
                    <a:pt x="263057" y="129203"/>
                  </a:lnTo>
                  <a:lnTo>
                    <a:pt x="231271" y="129203"/>
                  </a:lnTo>
                  <a:lnTo>
                    <a:pt x="231271" y="97417"/>
                  </a:lnTo>
                  <a:close/>
                  <a:moveTo>
                    <a:pt x="185016" y="97417"/>
                  </a:moveTo>
                  <a:lnTo>
                    <a:pt x="216803" y="97417"/>
                  </a:lnTo>
                  <a:lnTo>
                    <a:pt x="216803" y="129203"/>
                  </a:lnTo>
                  <a:lnTo>
                    <a:pt x="185016" y="129203"/>
                  </a:lnTo>
                  <a:lnTo>
                    <a:pt x="185016" y="97417"/>
                  </a:lnTo>
                  <a:close/>
                  <a:moveTo>
                    <a:pt x="138762" y="97417"/>
                  </a:moveTo>
                  <a:lnTo>
                    <a:pt x="170549" y="97417"/>
                  </a:lnTo>
                  <a:lnTo>
                    <a:pt x="170549" y="129203"/>
                  </a:lnTo>
                  <a:lnTo>
                    <a:pt x="138762" y="129203"/>
                  </a:lnTo>
                  <a:lnTo>
                    <a:pt x="138762" y="97417"/>
                  </a:lnTo>
                  <a:close/>
                  <a:moveTo>
                    <a:pt x="92508" y="97417"/>
                  </a:moveTo>
                  <a:lnTo>
                    <a:pt x="124294" y="97417"/>
                  </a:lnTo>
                  <a:lnTo>
                    <a:pt x="124294" y="129203"/>
                  </a:lnTo>
                  <a:lnTo>
                    <a:pt x="92508" y="129203"/>
                  </a:lnTo>
                  <a:lnTo>
                    <a:pt x="92508" y="97417"/>
                  </a:lnTo>
                  <a:close/>
                  <a:moveTo>
                    <a:pt x="46254" y="97417"/>
                  </a:moveTo>
                  <a:lnTo>
                    <a:pt x="78040" y="97417"/>
                  </a:lnTo>
                  <a:lnTo>
                    <a:pt x="78040" y="129203"/>
                  </a:lnTo>
                  <a:lnTo>
                    <a:pt x="46254" y="129203"/>
                  </a:lnTo>
                  <a:lnTo>
                    <a:pt x="46254" y="97417"/>
                  </a:lnTo>
                  <a:close/>
                  <a:moveTo>
                    <a:pt x="0" y="97417"/>
                  </a:moveTo>
                  <a:lnTo>
                    <a:pt x="31787" y="97417"/>
                  </a:lnTo>
                  <a:lnTo>
                    <a:pt x="31787" y="129203"/>
                  </a:lnTo>
                  <a:lnTo>
                    <a:pt x="0" y="129203"/>
                  </a:lnTo>
                  <a:lnTo>
                    <a:pt x="0" y="97417"/>
                  </a:lnTo>
                  <a:close/>
                  <a:moveTo>
                    <a:pt x="323779" y="48708"/>
                  </a:moveTo>
                  <a:lnTo>
                    <a:pt x="355565" y="48708"/>
                  </a:lnTo>
                  <a:lnTo>
                    <a:pt x="355565" y="80495"/>
                  </a:lnTo>
                  <a:lnTo>
                    <a:pt x="323779" y="80495"/>
                  </a:lnTo>
                  <a:lnTo>
                    <a:pt x="323779" y="48708"/>
                  </a:lnTo>
                  <a:close/>
                  <a:moveTo>
                    <a:pt x="277525" y="48708"/>
                  </a:moveTo>
                  <a:lnTo>
                    <a:pt x="309311" y="48708"/>
                  </a:lnTo>
                  <a:lnTo>
                    <a:pt x="309311" y="80495"/>
                  </a:lnTo>
                  <a:lnTo>
                    <a:pt x="277525" y="80495"/>
                  </a:lnTo>
                  <a:lnTo>
                    <a:pt x="277525" y="48708"/>
                  </a:lnTo>
                  <a:close/>
                  <a:moveTo>
                    <a:pt x="277525" y="0"/>
                  </a:moveTo>
                  <a:lnTo>
                    <a:pt x="309311" y="0"/>
                  </a:lnTo>
                  <a:lnTo>
                    <a:pt x="309311" y="31787"/>
                  </a:lnTo>
                  <a:lnTo>
                    <a:pt x="277525" y="31787"/>
                  </a:lnTo>
                  <a:lnTo>
                    <a:pt x="277525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7">
              <a:extLst>
                <a:ext uri="{FF2B5EF4-FFF2-40B4-BE49-F238E27FC236}">
                  <a16:creationId xmlns:a16="http://schemas.microsoft.com/office/drawing/2014/main" id="{431E8DAE-4AB7-4C08-9DBD-0DE6C33AC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749" y="4121150"/>
              <a:ext cx="2184400" cy="5032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深度驻极</a:t>
              </a:r>
            </a:p>
          </p:txBody>
        </p:sp>
        <p:sp>
          <p:nvSpPr>
            <p:cNvPr id="17" name="KSO_Shape">
              <a:extLst>
                <a:ext uri="{FF2B5EF4-FFF2-40B4-BE49-F238E27FC236}">
                  <a16:creationId xmlns:a16="http://schemas.microsoft.com/office/drawing/2014/main" id="{E31C8D63-E40D-434D-B30E-A0B29AFCA38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654006" y="5042693"/>
              <a:ext cx="876300" cy="461963"/>
            </a:xfrm>
            <a:custGeom>
              <a:avLst/>
              <a:gdLst>
                <a:gd name="T0" fmla="*/ 17016044 w 494328"/>
                <a:gd name="T1" fmla="*/ 3878738 h 324036"/>
                <a:gd name="T2" fmla="*/ 17811948 w 494328"/>
                <a:gd name="T3" fmla="*/ 2915207 h 324036"/>
                <a:gd name="T4" fmla="*/ 17811948 w 494328"/>
                <a:gd name="T5" fmla="*/ 3295697 h 324036"/>
                <a:gd name="T6" fmla="*/ 17016044 w 494328"/>
                <a:gd name="T7" fmla="*/ 2915207 h 324036"/>
                <a:gd name="T8" fmla="*/ 15267387 w 494328"/>
                <a:gd name="T9" fmla="*/ 2915207 h 324036"/>
                <a:gd name="T10" fmla="*/ 22105208 w 494328"/>
                <a:gd name="T11" fmla="*/ 2712667 h 324036"/>
                <a:gd name="T12" fmla="*/ 17811948 w 494328"/>
                <a:gd name="T13" fmla="*/ 2332165 h 324036"/>
                <a:gd name="T14" fmla="*/ 17811948 w 494328"/>
                <a:gd name="T15" fmla="*/ 2712667 h 324036"/>
                <a:gd name="T16" fmla="*/ 17016044 w 494328"/>
                <a:gd name="T17" fmla="*/ 2332165 h 324036"/>
                <a:gd name="T18" fmla="*/ 15267387 w 494328"/>
                <a:gd name="T19" fmla="*/ 2332165 h 324036"/>
                <a:gd name="T20" fmla="*/ 14471501 w 494328"/>
                <a:gd name="T21" fmla="*/ 2712667 h 324036"/>
                <a:gd name="T22" fmla="*/ 10178233 w 494328"/>
                <a:gd name="T23" fmla="*/ 2332165 h 324036"/>
                <a:gd name="T24" fmla="*/ 10178233 w 494328"/>
                <a:gd name="T25" fmla="*/ 2712667 h 324036"/>
                <a:gd name="T26" fmla="*/ 9382365 w 494328"/>
                <a:gd name="T27" fmla="*/ 2332165 h 324036"/>
                <a:gd name="T28" fmla="*/ 7633693 w 494328"/>
                <a:gd name="T29" fmla="*/ 2332165 h 324036"/>
                <a:gd name="T30" fmla="*/ 6837759 w 494328"/>
                <a:gd name="T31" fmla="*/ 2712667 h 324036"/>
                <a:gd name="T32" fmla="*/ 2544558 w 494328"/>
                <a:gd name="T33" fmla="*/ 2332165 h 324036"/>
                <a:gd name="T34" fmla="*/ 2544558 w 494328"/>
                <a:gd name="T35" fmla="*/ 2712667 h 324036"/>
                <a:gd name="T36" fmla="*/ 1748679 w 494328"/>
                <a:gd name="T37" fmla="*/ 2332165 h 324036"/>
                <a:gd name="T38" fmla="*/ 0 w 494328"/>
                <a:gd name="T39" fmla="*/ 2332165 h 324036"/>
                <a:gd name="T40" fmla="*/ 24649755 w 494328"/>
                <a:gd name="T41" fmla="*/ 2421140 h 324036"/>
                <a:gd name="T42" fmla="*/ 25445701 w 494328"/>
                <a:gd name="T43" fmla="*/ 1749133 h 324036"/>
                <a:gd name="T44" fmla="*/ 25445701 w 494328"/>
                <a:gd name="T45" fmla="*/ 2129608 h 324036"/>
                <a:gd name="T46" fmla="*/ 22105208 w 494328"/>
                <a:gd name="T47" fmla="*/ 1749133 h 324036"/>
                <a:gd name="T48" fmla="*/ 20356509 w 494328"/>
                <a:gd name="T49" fmla="*/ 1749133 h 324036"/>
                <a:gd name="T50" fmla="*/ 19560576 w 494328"/>
                <a:gd name="T51" fmla="*/ 2129608 h 324036"/>
                <a:gd name="T52" fmla="*/ 15267387 w 494328"/>
                <a:gd name="T53" fmla="*/ 1749133 h 324036"/>
                <a:gd name="T54" fmla="*/ 15267387 w 494328"/>
                <a:gd name="T55" fmla="*/ 2129608 h 324036"/>
                <a:gd name="T56" fmla="*/ 14471501 w 494328"/>
                <a:gd name="T57" fmla="*/ 1749133 h 324036"/>
                <a:gd name="T58" fmla="*/ 12722837 w 494328"/>
                <a:gd name="T59" fmla="*/ 1749133 h 324036"/>
                <a:gd name="T60" fmla="*/ 11926926 w 494328"/>
                <a:gd name="T61" fmla="*/ 2129608 h 324036"/>
                <a:gd name="T62" fmla="*/ 7633693 w 494328"/>
                <a:gd name="T63" fmla="*/ 1749133 h 324036"/>
                <a:gd name="T64" fmla="*/ 7633693 w 494328"/>
                <a:gd name="T65" fmla="*/ 2129608 h 324036"/>
                <a:gd name="T66" fmla="*/ 6837759 w 494328"/>
                <a:gd name="T67" fmla="*/ 1749133 h 324036"/>
                <a:gd name="T68" fmla="*/ 5089127 w 494328"/>
                <a:gd name="T69" fmla="*/ 1749133 h 324036"/>
                <a:gd name="T70" fmla="*/ 4293181 w 494328"/>
                <a:gd name="T71" fmla="*/ 2129608 h 324036"/>
                <a:gd name="T72" fmla="*/ 0 w 494328"/>
                <a:gd name="T73" fmla="*/ 1749133 h 324036"/>
                <a:gd name="T74" fmla="*/ 0 w 494328"/>
                <a:gd name="T75" fmla="*/ 2129608 h 324036"/>
                <a:gd name="T76" fmla="*/ 24649755 w 494328"/>
                <a:gd name="T77" fmla="*/ 1457608 h 324036"/>
                <a:gd name="T78" fmla="*/ 22901070 w 494328"/>
                <a:gd name="T79" fmla="*/ 1457608 h 324036"/>
                <a:gd name="T80" fmla="*/ 22105208 w 494328"/>
                <a:gd name="T81" fmla="*/ 1546575 h 324036"/>
                <a:gd name="T82" fmla="*/ 17811948 w 494328"/>
                <a:gd name="T83" fmla="*/ 1166093 h 324036"/>
                <a:gd name="T84" fmla="*/ 17811948 w 494328"/>
                <a:gd name="T85" fmla="*/ 1546575 h 324036"/>
                <a:gd name="T86" fmla="*/ 17016044 w 494328"/>
                <a:gd name="T87" fmla="*/ 1166093 h 324036"/>
                <a:gd name="T88" fmla="*/ 15267387 w 494328"/>
                <a:gd name="T89" fmla="*/ 1166093 h 324036"/>
                <a:gd name="T90" fmla="*/ 14471501 w 494328"/>
                <a:gd name="T91" fmla="*/ 1546575 h 324036"/>
                <a:gd name="T92" fmla="*/ 10178233 w 494328"/>
                <a:gd name="T93" fmla="*/ 1166093 h 324036"/>
                <a:gd name="T94" fmla="*/ 10178233 w 494328"/>
                <a:gd name="T95" fmla="*/ 1546575 h 324036"/>
                <a:gd name="T96" fmla="*/ 9382365 w 494328"/>
                <a:gd name="T97" fmla="*/ 1166093 h 324036"/>
                <a:gd name="T98" fmla="*/ 7633693 w 494328"/>
                <a:gd name="T99" fmla="*/ 1166093 h 324036"/>
                <a:gd name="T100" fmla="*/ 6837759 w 494328"/>
                <a:gd name="T101" fmla="*/ 1546575 h 324036"/>
                <a:gd name="T102" fmla="*/ 2544558 w 494328"/>
                <a:gd name="T103" fmla="*/ 1166093 h 324036"/>
                <a:gd name="T104" fmla="*/ 2544558 w 494328"/>
                <a:gd name="T105" fmla="*/ 1546575 h 324036"/>
                <a:gd name="T106" fmla="*/ 1748679 w 494328"/>
                <a:gd name="T107" fmla="*/ 1166093 h 324036"/>
                <a:gd name="T108" fmla="*/ 0 w 494328"/>
                <a:gd name="T109" fmla="*/ 1166093 h 324036"/>
                <a:gd name="T110" fmla="*/ 19560576 w 494328"/>
                <a:gd name="T111" fmla="*/ 963531 h 324036"/>
                <a:gd name="T112" fmla="*/ 15267387 w 494328"/>
                <a:gd name="T113" fmla="*/ 583041 h 324036"/>
                <a:gd name="T114" fmla="*/ 15267387 w 494328"/>
                <a:gd name="T115" fmla="*/ 963531 h 324036"/>
                <a:gd name="T116" fmla="*/ 17016044 w 494328"/>
                <a:gd name="T117" fmla="*/ 0 h 324036"/>
                <a:gd name="T118" fmla="*/ 15267387 w 494328"/>
                <a:gd name="T119" fmla="*/ 0 h 3240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494328"/>
                <a:gd name="T181" fmla="*/ 0 h 324036"/>
                <a:gd name="T182" fmla="*/ 494328 w 494328"/>
                <a:gd name="T183" fmla="*/ 324036 h 3240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494328" h="324036">
                  <a:moveTo>
                    <a:pt x="277525" y="292250"/>
                  </a:moveTo>
                  <a:lnTo>
                    <a:pt x="309311" y="292250"/>
                  </a:lnTo>
                  <a:lnTo>
                    <a:pt x="309311" y="324036"/>
                  </a:lnTo>
                  <a:lnTo>
                    <a:pt x="277525" y="324036"/>
                  </a:lnTo>
                  <a:lnTo>
                    <a:pt x="277525" y="292250"/>
                  </a:lnTo>
                  <a:close/>
                  <a:moveTo>
                    <a:pt x="323779" y="243541"/>
                  </a:moveTo>
                  <a:lnTo>
                    <a:pt x="355565" y="243541"/>
                  </a:lnTo>
                  <a:lnTo>
                    <a:pt x="355565" y="275328"/>
                  </a:lnTo>
                  <a:lnTo>
                    <a:pt x="323779" y="275328"/>
                  </a:lnTo>
                  <a:lnTo>
                    <a:pt x="323779" y="243541"/>
                  </a:lnTo>
                  <a:close/>
                  <a:moveTo>
                    <a:pt x="277525" y="243541"/>
                  </a:moveTo>
                  <a:lnTo>
                    <a:pt x="309311" y="243541"/>
                  </a:lnTo>
                  <a:lnTo>
                    <a:pt x="309311" y="275328"/>
                  </a:lnTo>
                  <a:lnTo>
                    <a:pt x="277525" y="275328"/>
                  </a:lnTo>
                  <a:lnTo>
                    <a:pt x="277525" y="243541"/>
                  </a:lnTo>
                  <a:close/>
                  <a:moveTo>
                    <a:pt x="370033" y="194833"/>
                  </a:moveTo>
                  <a:lnTo>
                    <a:pt x="401820" y="194833"/>
                  </a:lnTo>
                  <a:lnTo>
                    <a:pt x="401820" y="226620"/>
                  </a:lnTo>
                  <a:lnTo>
                    <a:pt x="370033" y="226620"/>
                  </a:lnTo>
                  <a:lnTo>
                    <a:pt x="370033" y="194833"/>
                  </a:lnTo>
                  <a:close/>
                  <a:moveTo>
                    <a:pt x="323779" y="194833"/>
                  </a:moveTo>
                  <a:lnTo>
                    <a:pt x="355565" y="194833"/>
                  </a:lnTo>
                  <a:lnTo>
                    <a:pt x="355565" y="226620"/>
                  </a:lnTo>
                  <a:lnTo>
                    <a:pt x="323779" y="226620"/>
                  </a:lnTo>
                  <a:lnTo>
                    <a:pt x="323779" y="194833"/>
                  </a:lnTo>
                  <a:close/>
                  <a:moveTo>
                    <a:pt x="277525" y="194833"/>
                  </a:moveTo>
                  <a:lnTo>
                    <a:pt x="309311" y="194833"/>
                  </a:lnTo>
                  <a:lnTo>
                    <a:pt x="309311" y="226620"/>
                  </a:lnTo>
                  <a:lnTo>
                    <a:pt x="277525" y="226620"/>
                  </a:lnTo>
                  <a:lnTo>
                    <a:pt x="277525" y="194833"/>
                  </a:lnTo>
                  <a:close/>
                  <a:moveTo>
                    <a:pt x="231271" y="194833"/>
                  </a:moveTo>
                  <a:lnTo>
                    <a:pt x="263057" y="194833"/>
                  </a:lnTo>
                  <a:lnTo>
                    <a:pt x="263057" y="226620"/>
                  </a:lnTo>
                  <a:lnTo>
                    <a:pt x="231271" y="226620"/>
                  </a:lnTo>
                  <a:lnTo>
                    <a:pt x="231271" y="194833"/>
                  </a:lnTo>
                  <a:close/>
                  <a:moveTo>
                    <a:pt x="185016" y="194833"/>
                  </a:moveTo>
                  <a:lnTo>
                    <a:pt x="216803" y="194833"/>
                  </a:lnTo>
                  <a:lnTo>
                    <a:pt x="216803" y="226620"/>
                  </a:lnTo>
                  <a:lnTo>
                    <a:pt x="185016" y="226620"/>
                  </a:lnTo>
                  <a:lnTo>
                    <a:pt x="185016" y="194833"/>
                  </a:lnTo>
                  <a:close/>
                  <a:moveTo>
                    <a:pt x="138762" y="194833"/>
                  </a:moveTo>
                  <a:lnTo>
                    <a:pt x="170549" y="194833"/>
                  </a:lnTo>
                  <a:lnTo>
                    <a:pt x="170549" y="226620"/>
                  </a:lnTo>
                  <a:lnTo>
                    <a:pt x="138762" y="226620"/>
                  </a:lnTo>
                  <a:lnTo>
                    <a:pt x="138762" y="194833"/>
                  </a:lnTo>
                  <a:close/>
                  <a:moveTo>
                    <a:pt x="92508" y="194833"/>
                  </a:moveTo>
                  <a:lnTo>
                    <a:pt x="124294" y="194833"/>
                  </a:lnTo>
                  <a:lnTo>
                    <a:pt x="124294" y="226620"/>
                  </a:lnTo>
                  <a:lnTo>
                    <a:pt x="92508" y="226620"/>
                  </a:lnTo>
                  <a:lnTo>
                    <a:pt x="92508" y="194833"/>
                  </a:lnTo>
                  <a:close/>
                  <a:moveTo>
                    <a:pt x="46254" y="194833"/>
                  </a:moveTo>
                  <a:lnTo>
                    <a:pt x="78040" y="194833"/>
                  </a:lnTo>
                  <a:lnTo>
                    <a:pt x="78040" y="226620"/>
                  </a:lnTo>
                  <a:lnTo>
                    <a:pt x="46254" y="226620"/>
                  </a:lnTo>
                  <a:lnTo>
                    <a:pt x="46254" y="194833"/>
                  </a:lnTo>
                  <a:close/>
                  <a:moveTo>
                    <a:pt x="0" y="194833"/>
                  </a:moveTo>
                  <a:lnTo>
                    <a:pt x="31787" y="194833"/>
                  </a:lnTo>
                  <a:lnTo>
                    <a:pt x="31787" y="226620"/>
                  </a:lnTo>
                  <a:lnTo>
                    <a:pt x="0" y="226620"/>
                  </a:lnTo>
                  <a:lnTo>
                    <a:pt x="0" y="194833"/>
                  </a:lnTo>
                  <a:close/>
                  <a:moveTo>
                    <a:pt x="416287" y="170479"/>
                  </a:moveTo>
                  <a:lnTo>
                    <a:pt x="448074" y="170479"/>
                  </a:lnTo>
                  <a:lnTo>
                    <a:pt x="448074" y="202266"/>
                  </a:lnTo>
                  <a:lnTo>
                    <a:pt x="416287" y="202266"/>
                  </a:lnTo>
                  <a:lnTo>
                    <a:pt x="416287" y="170479"/>
                  </a:lnTo>
                  <a:close/>
                  <a:moveTo>
                    <a:pt x="462542" y="146125"/>
                  </a:moveTo>
                  <a:lnTo>
                    <a:pt x="494328" y="146125"/>
                  </a:lnTo>
                  <a:lnTo>
                    <a:pt x="494328" y="177911"/>
                  </a:lnTo>
                  <a:lnTo>
                    <a:pt x="462542" y="177911"/>
                  </a:lnTo>
                  <a:lnTo>
                    <a:pt x="462542" y="146125"/>
                  </a:lnTo>
                  <a:close/>
                  <a:moveTo>
                    <a:pt x="370033" y="146125"/>
                  </a:moveTo>
                  <a:lnTo>
                    <a:pt x="401820" y="146125"/>
                  </a:lnTo>
                  <a:lnTo>
                    <a:pt x="401820" y="177911"/>
                  </a:lnTo>
                  <a:lnTo>
                    <a:pt x="370033" y="177911"/>
                  </a:lnTo>
                  <a:lnTo>
                    <a:pt x="370033" y="146125"/>
                  </a:lnTo>
                  <a:close/>
                  <a:moveTo>
                    <a:pt x="323779" y="146125"/>
                  </a:moveTo>
                  <a:lnTo>
                    <a:pt x="355565" y="146125"/>
                  </a:lnTo>
                  <a:lnTo>
                    <a:pt x="355565" y="177911"/>
                  </a:lnTo>
                  <a:lnTo>
                    <a:pt x="323779" y="177911"/>
                  </a:lnTo>
                  <a:lnTo>
                    <a:pt x="323779" y="146125"/>
                  </a:lnTo>
                  <a:close/>
                  <a:moveTo>
                    <a:pt x="277525" y="146125"/>
                  </a:moveTo>
                  <a:lnTo>
                    <a:pt x="309311" y="146125"/>
                  </a:lnTo>
                  <a:lnTo>
                    <a:pt x="309311" y="177911"/>
                  </a:lnTo>
                  <a:lnTo>
                    <a:pt x="277525" y="177911"/>
                  </a:lnTo>
                  <a:lnTo>
                    <a:pt x="277525" y="146125"/>
                  </a:lnTo>
                  <a:close/>
                  <a:moveTo>
                    <a:pt x="231271" y="146125"/>
                  </a:moveTo>
                  <a:lnTo>
                    <a:pt x="263057" y="146125"/>
                  </a:lnTo>
                  <a:lnTo>
                    <a:pt x="263057" y="177911"/>
                  </a:lnTo>
                  <a:lnTo>
                    <a:pt x="231271" y="177911"/>
                  </a:lnTo>
                  <a:lnTo>
                    <a:pt x="231271" y="146125"/>
                  </a:lnTo>
                  <a:close/>
                  <a:moveTo>
                    <a:pt x="185016" y="146125"/>
                  </a:moveTo>
                  <a:lnTo>
                    <a:pt x="216803" y="146125"/>
                  </a:lnTo>
                  <a:lnTo>
                    <a:pt x="216803" y="177911"/>
                  </a:lnTo>
                  <a:lnTo>
                    <a:pt x="185016" y="177911"/>
                  </a:lnTo>
                  <a:lnTo>
                    <a:pt x="185016" y="146125"/>
                  </a:lnTo>
                  <a:close/>
                  <a:moveTo>
                    <a:pt x="138762" y="146125"/>
                  </a:moveTo>
                  <a:lnTo>
                    <a:pt x="170549" y="146125"/>
                  </a:lnTo>
                  <a:lnTo>
                    <a:pt x="170549" y="177911"/>
                  </a:lnTo>
                  <a:lnTo>
                    <a:pt x="138762" y="177911"/>
                  </a:lnTo>
                  <a:lnTo>
                    <a:pt x="138762" y="146125"/>
                  </a:lnTo>
                  <a:close/>
                  <a:moveTo>
                    <a:pt x="92508" y="146125"/>
                  </a:moveTo>
                  <a:lnTo>
                    <a:pt x="124294" y="146125"/>
                  </a:lnTo>
                  <a:lnTo>
                    <a:pt x="124294" y="177911"/>
                  </a:lnTo>
                  <a:lnTo>
                    <a:pt x="92508" y="177911"/>
                  </a:lnTo>
                  <a:lnTo>
                    <a:pt x="92508" y="146125"/>
                  </a:lnTo>
                  <a:close/>
                  <a:moveTo>
                    <a:pt x="46254" y="146125"/>
                  </a:moveTo>
                  <a:lnTo>
                    <a:pt x="78040" y="146125"/>
                  </a:lnTo>
                  <a:lnTo>
                    <a:pt x="78040" y="177911"/>
                  </a:lnTo>
                  <a:lnTo>
                    <a:pt x="46254" y="177911"/>
                  </a:lnTo>
                  <a:lnTo>
                    <a:pt x="46254" y="146125"/>
                  </a:lnTo>
                  <a:close/>
                  <a:moveTo>
                    <a:pt x="0" y="146125"/>
                  </a:moveTo>
                  <a:lnTo>
                    <a:pt x="31787" y="146125"/>
                  </a:lnTo>
                  <a:lnTo>
                    <a:pt x="31787" y="177911"/>
                  </a:lnTo>
                  <a:lnTo>
                    <a:pt x="0" y="177911"/>
                  </a:lnTo>
                  <a:lnTo>
                    <a:pt x="0" y="146125"/>
                  </a:lnTo>
                  <a:close/>
                  <a:moveTo>
                    <a:pt x="416287" y="121771"/>
                  </a:moveTo>
                  <a:lnTo>
                    <a:pt x="448074" y="121771"/>
                  </a:lnTo>
                  <a:lnTo>
                    <a:pt x="448074" y="153557"/>
                  </a:lnTo>
                  <a:lnTo>
                    <a:pt x="416287" y="153557"/>
                  </a:lnTo>
                  <a:lnTo>
                    <a:pt x="416287" y="121771"/>
                  </a:lnTo>
                  <a:close/>
                  <a:moveTo>
                    <a:pt x="370033" y="97417"/>
                  </a:moveTo>
                  <a:lnTo>
                    <a:pt x="401820" y="97417"/>
                  </a:lnTo>
                  <a:lnTo>
                    <a:pt x="401820" y="129203"/>
                  </a:lnTo>
                  <a:lnTo>
                    <a:pt x="370033" y="129203"/>
                  </a:lnTo>
                  <a:lnTo>
                    <a:pt x="370033" y="97417"/>
                  </a:lnTo>
                  <a:close/>
                  <a:moveTo>
                    <a:pt x="323779" y="97417"/>
                  </a:moveTo>
                  <a:lnTo>
                    <a:pt x="355565" y="97417"/>
                  </a:lnTo>
                  <a:lnTo>
                    <a:pt x="355565" y="129203"/>
                  </a:lnTo>
                  <a:lnTo>
                    <a:pt x="323779" y="129203"/>
                  </a:lnTo>
                  <a:lnTo>
                    <a:pt x="323779" y="97417"/>
                  </a:lnTo>
                  <a:close/>
                  <a:moveTo>
                    <a:pt x="277525" y="97417"/>
                  </a:moveTo>
                  <a:lnTo>
                    <a:pt x="309311" y="97417"/>
                  </a:lnTo>
                  <a:lnTo>
                    <a:pt x="309311" y="129203"/>
                  </a:lnTo>
                  <a:lnTo>
                    <a:pt x="277525" y="129203"/>
                  </a:lnTo>
                  <a:lnTo>
                    <a:pt x="277525" y="97417"/>
                  </a:lnTo>
                  <a:close/>
                  <a:moveTo>
                    <a:pt x="231271" y="97417"/>
                  </a:moveTo>
                  <a:lnTo>
                    <a:pt x="263057" y="97417"/>
                  </a:lnTo>
                  <a:lnTo>
                    <a:pt x="263057" y="129203"/>
                  </a:lnTo>
                  <a:lnTo>
                    <a:pt x="231271" y="129203"/>
                  </a:lnTo>
                  <a:lnTo>
                    <a:pt x="231271" y="97417"/>
                  </a:lnTo>
                  <a:close/>
                  <a:moveTo>
                    <a:pt x="185016" y="97417"/>
                  </a:moveTo>
                  <a:lnTo>
                    <a:pt x="216803" y="97417"/>
                  </a:lnTo>
                  <a:lnTo>
                    <a:pt x="216803" y="129203"/>
                  </a:lnTo>
                  <a:lnTo>
                    <a:pt x="185016" y="129203"/>
                  </a:lnTo>
                  <a:lnTo>
                    <a:pt x="185016" y="97417"/>
                  </a:lnTo>
                  <a:close/>
                  <a:moveTo>
                    <a:pt x="138762" y="97417"/>
                  </a:moveTo>
                  <a:lnTo>
                    <a:pt x="170549" y="97417"/>
                  </a:lnTo>
                  <a:lnTo>
                    <a:pt x="170549" y="129203"/>
                  </a:lnTo>
                  <a:lnTo>
                    <a:pt x="138762" y="129203"/>
                  </a:lnTo>
                  <a:lnTo>
                    <a:pt x="138762" y="97417"/>
                  </a:lnTo>
                  <a:close/>
                  <a:moveTo>
                    <a:pt x="92508" y="97417"/>
                  </a:moveTo>
                  <a:lnTo>
                    <a:pt x="124294" y="97417"/>
                  </a:lnTo>
                  <a:lnTo>
                    <a:pt x="124294" y="129203"/>
                  </a:lnTo>
                  <a:lnTo>
                    <a:pt x="92508" y="129203"/>
                  </a:lnTo>
                  <a:lnTo>
                    <a:pt x="92508" y="97417"/>
                  </a:lnTo>
                  <a:close/>
                  <a:moveTo>
                    <a:pt x="46254" y="97417"/>
                  </a:moveTo>
                  <a:lnTo>
                    <a:pt x="78040" y="97417"/>
                  </a:lnTo>
                  <a:lnTo>
                    <a:pt x="78040" y="129203"/>
                  </a:lnTo>
                  <a:lnTo>
                    <a:pt x="46254" y="129203"/>
                  </a:lnTo>
                  <a:lnTo>
                    <a:pt x="46254" y="97417"/>
                  </a:lnTo>
                  <a:close/>
                  <a:moveTo>
                    <a:pt x="0" y="97417"/>
                  </a:moveTo>
                  <a:lnTo>
                    <a:pt x="31787" y="97417"/>
                  </a:lnTo>
                  <a:lnTo>
                    <a:pt x="31787" y="129203"/>
                  </a:lnTo>
                  <a:lnTo>
                    <a:pt x="0" y="129203"/>
                  </a:lnTo>
                  <a:lnTo>
                    <a:pt x="0" y="97417"/>
                  </a:lnTo>
                  <a:close/>
                  <a:moveTo>
                    <a:pt x="323779" y="48708"/>
                  </a:moveTo>
                  <a:lnTo>
                    <a:pt x="355565" y="48708"/>
                  </a:lnTo>
                  <a:lnTo>
                    <a:pt x="355565" y="80495"/>
                  </a:lnTo>
                  <a:lnTo>
                    <a:pt x="323779" y="80495"/>
                  </a:lnTo>
                  <a:lnTo>
                    <a:pt x="323779" y="48708"/>
                  </a:lnTo>
                  <a:close/>
                  <a:moveTo>
                    <a:pt x="277525" y="48708"/>
                  </a:moveTo>
                  <a:lnTo>
                    <a:pt x="309311" y="48708"/>
                  </a:lnTo>
                  <a:lnTo>
                    <a:pt x="309311" y="80495"/>
                  </a:lnTo>
                  <a:lnTo>
                    <a:pt x="277525" y="80495"/>
                  </a:lnTo>
                  <a:lnTo>
                    <a:pt x="277525" y="48708"/>
                  </a:lnTo>
                  <a:close/>
                  <a:moveTo>
                    <a:pt x="277525" y="0"/>
                  </a:moveTo>
                  <a:lnTo>
                    <a:pt x="309311" y="0"/>
                  </a:lnTo>
                  <a:lnTo>
                    <a:pt x="309311" y="31787"/>
                  </a:lnTo>
                  <a:lnTo>
                    <a:pt x="277525" y="31787"/>
                  </a:lnTo>
                  <a:lnTo>
                    <a:pt x="277525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KSO_Shape">
              <a:extLst>
                <a:ext uri="{FF2B5EF4-FFF2-40B4-BE49-F238E27FC236}">
                  <a16:creationId xmlns:a16="http://schemas.microsoft.com/office/drawing/2014/main" id="{461F2E6F-2957-4BAF-A748-1BA4EC139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6499" y="4159250"/>
              <a:ext cx="227013" cy="465138"/>
            </a:xfrm>
            <a:custGeom>
              <a:avLst/>
              <a:gdLst>
                <a:gd name="T0" fmla="*/ 0 w 1491342"/>
                <a:gd name="T1" fmla="*/ 0 h 2231572"/>
                <a:gd name="T2" fmla="*/ 0 w 1491342"/>
                <a:gd name="T3" fmla="*/ 4 h 2231572"/>
                <a:gd name="T4" fmla="*/ 0 w 1491342"/>
                <a:gd name="T5" fmla="*/ 5 h 2231572"/>
                <a:gd name="T6" fmla="*/ 0 w 1491342"/>
                <a:gd name="T7" fmla="*/ 8 h 2231572"/>
                <a:gd name="T8" fmla="*/ 0 w 1491342"/>
                <a:gd name="T9" fmla="*/ 4 h 2231572"/>
                <a:gd name="T10" fmla="*/ 0 w 1491342"/>
                <a:gd name="T11" fmla="*/ 4 h 2231572"/>
                <a:gd name="T12" fmla="*/ 0 w 1491342"/>
                <a:gd name="T13" fmla="*/ 0 h 22315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1342"/>
                <a:gd name="T22" fmla="*/ 0 h 2231572"/>
                <a:gd name="T23" fmla="*/ 1491342 w 1491342"/>
                <a:gd name="T24" fmla="*/ 2231572 h 22315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1342" h="2231572">
                  <a:moveTo>
                    <a:pt x="1491342" y="0"/>
                  </a:moveTo>
                  <a:lnTo>
                    <a:pt x="32657" y="1143000"/>
                  </a:lnTo>
                  <a:lnTo>
                    <a:pt x="685800" y="1284515"/>
                  </a:lnTo>
                  <a:lnTo>
                    <a:pt x="0" y="2231572"/>
                  </a:lnTo>
                  <a:lnTo>
                    <a:pt x="1404257" y="1143000"/>
                  </a:lnTo>
                  <a:lnTo>
                    <a:pt x="794657" y="990600"/>
                  </a:lnTo>
                  <a:lnTo>
                    <a:pt x="149134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KSO_Shape">
              <a:extLst>
                <a:ext uri="{FF2B5EF4-FFF2-40B4-BE49-F238E27FC236}">
                  <a16:creationId xmlns:a16="http://schemas.microsoft.com/office/drawing/2014/main" id="{A49C43D0-F951-447A-A37F-22F0FDF1B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0637" y="4159250"/>
              <a:ext cx="227012" cy="465138"/>
            </a:xfrm>
            <a:custGeom>
              <a:avLst/>
              <a:gdLst>
                <a:gd name="T0" fmla="*/ 0 w 1491342"/>
                <a:gd name="T1" fmla="*/ 0 h 2231572"/>
                <a:gd name="T2" fmla="*/ 0 w 1491342"/>
                <a:gd name="T3" fmla="*/ 4 h 2231572"/>
                <a:gd name="T4" fmla="*/ 0 w 1491342"/>
                <a:gd name="T5" fmla="*/ 5 h 2231572"/>
                <a:gd name="T6" fmla="*/ 0 w 1491342"/>
                <a:gd name="T7" fmla="*/ 8 h 2231572"/>
                <a:gd name="T8" fmla="*/ 0 w 1491342"/>
                <a:gd name="T9" fmla="*/ 4 h 2231572"/>
                <a:gd name="T10" fmla="*/ 0 w 1491342"/>
                <a:gd name="T11" fmla="*/ 4 h 2231572"/>
                <a:gd name="T12" fmla="*/ 0 w 1491342"/>
                <a:gd name="T13" fmla="*/ 0 h 22315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1342"/>
                <a:gd name="T22" fmla="*/ 0 h 2231572"/>
                <a:gd name="T23" fmla="*/ 1491342 w 1491342"/>
                <a:gd name="T24" fmla="*/ 2231572 h 22315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1342" h="2231572">
                  <a:moveTo>
                    <a:pt x="1491342" y="0"/>
                  </a:moveTo>
                  <a:lnTo>
                    <a:pt x="32657" y="1143000"/>
                  </a:lnTo>
                  <a:lnTo>
                    <a:pt x="685800" y="1284515"/>
                  </a:lnTo>
                  <a:lnTo>
                    <a:pt x="0" y="2231572"/>
                  </a:lnTo>
                  <a:lnTo>
                    <a:pt x="1404257" y="1143000"/>
                  </a:lnTo>
                  <a:lnTo>
                    <a:pt x="794657" y="990600"/>
                  </a:lnTo>
                  <a:lnTo>
                    <a:pt x="149134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5">
              <a:extLst>
                <a:ext uri="{FF2B5EF4-FFF2-40B4-BE49-F238E27FC236}">
                  <a16:creationId xmlns:a16="http://schemas.microsoft.com/office/drawing/2014/main" id="{1EBEAADF-0BBC-472F-9B34-8434E1184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7287" y="5924550"/>
              <a:ext cx="1709737" cy="400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驻极无纺布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8C0E7C4-76FC-415D-88CF-A236F857FFEE}"/>
                </a:ext>
              </a:extLst>
            </p:cNvPr>
            <p:cNvSpPr txBox="1"/>
            <p:nvPr/>
          </p:nvSpPr>
          <p:spPr>
            <a:xfrm>
              <a:off x="6538157" y="1565379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工艺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6803D4C-99F0-4542-A625-2C46D30C6CA3}"/>
              </a:ext>
            </a:extLst>
          </p:cNvPr>
          <p:cNvGrpSpPr/>
          <p:nvPr/>
        </p:nvGrpSpPr>
        <p:grpSpPr>
          <a:xfrm>
            <a:off x="9344818" y="1565378"/>
            <a:ext cx="2525713" cy="4759282"/>
            <a:chOff x="9344818" y="1565378"/>
            <a:chExt cx="2525713" cy="4759282"/>
          </a:xfrm>
        </p:grpSpPr>
        <p:sp>
          <p:nvSpPr>
            <p:cNvPr id="23" name="文本框 12">
              <a:extLst>
                <a:ext uri="{FF2B5EF4-FFF2-40B4-BE49-F238E27FC236}">
                  <a16:creationId xmlns:a16="http://schemas.microsoft.com/office/drawing/2014/main" id="{D37D0565-8297-4ED8-AFA3-44840EF7F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1487" y="2406650"/>
              <a:ext cx="206216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sz="2000" kern="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物理拦截</a:t>
              </a:r>
              <a:endPara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24" name="KSO_Shape">
              <a:extLst>
                <a:ext uri="{FF2B5EF4-FFF2-40B4-BE49-F238E27FC236}">
                  <a16:creationId xmlns:a16="http://schemas.microsoft.com/office/drawing/2014/main" id="{0C19C771-ED0A-475E-B125-A9838E4BCF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933675" y="4174624"/>
              <a:ext cx="2880000" cy="468000"/>
            </a:xfrm>
            <a:custGeom>
              <a:avLst/>
              <a:gdLst>
                <a:gd name="T0" fmla="*/ 2147483647 w 774393"/>
                <a:gd name="T1" fmla="*/ 0 h 488564"/>
                <a:gd name="T2" fmla="*/ 2147483647 w 774393"/>
                <a:gd name="T3" fmla="*/ 5236 h 488564"/>
                <a:gd name="T4" fmla="*/ 2147483647 w 774393"/>
                <a:gd name="T5" fmla="*/ 155590 h 488564"/>
                <a:gd name="T6" fmla="*/ 2147483647 w 774393"/>
                <a:gd name="T7" fmla="*/ 187863 h 488564"/>
                <a:gd name="T8" fmla="*/ 2147483647 w 774393"/>
                <a:gd name="T9" fmla="*/ 188783 h 488564"/>
                <a:gd name="T10" fmla="*/ 2147483647 w 774393"/>
                <a:gd name="T11" fmla="*/ 221975 h 488564"/>
                <a:gd name="T12" fmla="*/ 2147483647 w 774393"/>
                <a:gd name="T13" fmla="*/ 372328 h 488564"/>
                <a:gd name="T14" fmla="*/ 2147483647 w 774393"/>
                <a:gd name="T15" fmla="*/ 377563 h 488564"/>
                <a:gd name="T16" fmla="*/ 2147483647 w 774393"/>
                <a:gd name="T17" fmla="*/ 227073 h 488564"/>
                <a:gd name="T18" fmla="*/ 1018646119 w 774393"/>
                <a:gd name="T19" fmla="*/ 227073 h 488564"/>
                <a:gd name="T20" fmla="*/ 0 w 774393"/>
                <a:gd name="T21" fmla="*/ 188783 h 488564"/>
                <a:gd name="T22" fmla="*/ 1018646119 w 774393"/>
                <a:gd name="T23" fmla="*/ 150491 h 488564"/>
                <a:gd name="T24" fmla="*/ 2147483647 w 774393"/>
                <a:gd name="T25" fmla="*/ 150491 h 4885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74393"/>
                <a:gd name="T40" fmla="*/ 0 h 488564"/>
                <a:gd name="T41" fmla="*/ 774393 w 774393"/>
                <a:gd name="T42" fmla="*/ 488564 h 48856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74393" h="488564">
                  <a:moveTo>
                    <a:pt x="334450" y="0"/>
                  </a:moveTo>
                  <a:cubicBezTo>
                    <a:pt x="342152" y="1107"/>
                    <a:pt x="348652" y="3741"/>
                    <a:pt x="354663" y="6775"/>
                  </a:cubicBezTo>
                  <a:lnTo>
                    <a:pt x="740120" y="201332"/>
                  </a:lnTo>
                  <a:cubicBezTo>
                    <a:pt x="762969" y="212864"/>
                    <a:pt x="774393" y="227980"/>
                    <a:pt x="774393" y="243094"/>
                  </a:cubicBezTo>
                  <a:cubicBezTo>
                    <a:pt x="774393" y="243491"/>
                    <a:pt x="774384" y="243888"/>
                    <a:pt x="774168" y="244283"/>
                  </a:cubicBezTo>
                  <a:cubicBezTo>
                    <a:pt x="774985" y="259790"/>
                    <a:pt x="763569" y="275398"/>
                    <a:pt x="740120" y="287233"/>
                  </a:cubicBezTo>
                  <a:lnTo>
                    <a:pt x="354665" y="481789"/>
                  </a:lnTo>
                  <a:lnTo>
                    <a:pt x="334450" y="488564"/>
                  </a:lnTo>
                  <a:lnTo>
                    <a:pt x="441607" y="293830"/>
                  </a:lnTo>
                  <a:lnTo>
                    <a:pt x="49548" y="293830"/>
                  </a:lnTo>
                  <a:cubicBezTo>
                    <a:pt x="22184" y="293830"/>
                    <a:pt x="0" y="271647"/>
                    <a:pt x="0" y="244282"/>
                  </a:cubicBezTo>
                  <a:cubicBezTo>
                    <a:pt x="0" y="216918"/>
                    <a:pt x="22184" y="194734"/>
                    <a:pt x="49548" y="194734"/>
                  </a:cubicBezTo>
                  <a:lnTo>
                    <a:pt x="441607" y="194734"/>
                  </a:lnTo>
                  <a:lnTo>
                    <a:pt x="33445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14">
              <a:extLst>
                <a:ext uri="{FF2B5EF4-FFF2-40B4-BE49-F238E27FC236}">
                  <a16:creationId xmlns:a16="http://schemas.microsoft.com/office/drawing/2014/main" id="{D9D3AA27-10E3-4147-80AC-00F4B8DCB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4818" y="5924550"/>
              <a:ext cx="252571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sz="20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物理拦截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+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静电</a:t>
              </a:r>
              <a:r>
                <a:rPr lang="zh-CN" altLang="en-US" sz="20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捕捉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413F699-00D0-4827-AA16-EA5F34C5D346}"/>
                </a:ext>
              </a:extLst>
            </p:cNvPr>
            <p:cNvSpPr txBox="1"/>
            <p:nvPr/>
          </p:nvSpPr>
          <p:spPr>
            <a:xfrm>
              <a:off x="9392324" y="1565378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过滤原理</a:t>
              </a:r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EC687FB6-A921-4F50-92BB-E8FCC709FB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76" b="12400"/>
          <a:stretch/>
        </p:blipFill>
        <p:spPr>
          <a:xfrm>
            <a:off x="749224" y="2560475"/>
            <a:ext cx="4609225" cy="2520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EEA18B-5661-4EE6-8A40-3E76E450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6C29-B9E4-41A0-92E6-74B0E93A5B32}" type="datetime5">
              <a:rPr lang="zh-CN" altLang="en-US" smtClean="0"/>
              <a:t>2017/11/14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E0994C-B311-4139-BBB3-92BA7D2B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357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0312549E-963C-4908-9CE2-64345A35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静电捕捉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7FD488-660F-41BD-AFEB-48AAEC5E5C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13"/>
          <a:stretch/>
        </p:blipFill>
        <p:spPr>
          <a:xfrm>
            <a:off x="961204" y="2423990"/>
            <a:ext cx="4732360" cy="3240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39CACB0-0A54-46DB-8B93-546B52AF1CA2}"/>
              </a:ext>
            </a:extLst>
          </p:cNvPr>
          <p:cNvSpPr txBox="1"/>
          <p:nvPr/>
        </p:nvSpPr>
        <p:spPr>
          <a:xfrm>
            <a:off x="2618359" y="566449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过滤前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0424E33-755A-4BE4-9B44-A27122BFC5A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12"/>
          <a:stretch/>
        </p:blipFill>
        <p:spPr>
          <a:xfrm>
            <a:off x="6542414" y="2423990"/>
            <a:ext cx="4811386" cy="3240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6EFE287-06ED-4717-BF6A-4405FAFB1199}"/>
              </a:ext>
            </a:extLst>
          </p:cNvPr>
          <p:cNvSpPr txBox="1"/>
          <p:nvPr/>
        </p:nvSpPr>
        <p:spPr>
          <a:xfrm>
            <a:off x="7819204" y="566399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过滤香烟颗粒后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EAEF31A-5333-43A7-A373-C2042D18C84B}"/>
              </a:ext>
            </a:extLst>
          </p:cNvPr>
          <p:cNvGrpSpPr/>
          <p:nvPr/>
        </p:nvGrpSpPr>
        <p:grpSpPr>
          <a:xfrm>
            <a:off x="513087" y="1476375"/>
            <a:ext cx="6648588" cy="738664"/>
            <a:chOff x="513087" y="1476375"/>
            <a:chExt cx="6648588" cy="738664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DC63D6C-4546-4B86-BCCF-BDCD44EBD525}"/>
                </a:ext>
              </a:extLst>
            </p:cNvPr>
            <p:cNvSpPr txBox="1"/>
            <p:nvPr/>
          </p:nvSpPr>
          <p:spPr>
            <a:xfrm>
              <a:off x="1295400" y="1476375"/>
              <a:ext cx="586627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静电可有效捕捉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100nm以下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颗粒</a:t>
              </a:r>
              <a:endPara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222">
              <a:extLst>
                <a:ext uri="{FF2B5EF4-FFF2-40B4-BE49-F238E27FC236}">
                  <a16:creationId xmlns:a16="http://schemas.microsoft.com/office/drawing/2014/main" id="{A6C08245-0272-40A7-86B6-18F67E42BF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087" y="1524000"/>
              <a:ext cx="646914" cy="649763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rgbClr val="1EA1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BD12B5-6173-475B-B582-FB77E2585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6C44-DB01-474B-931B-1F616227FB93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8CF4ED-8B6E-43DE-8B90-86A6B40E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14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38B2AF4-CE96-4990-9F99-FB2C9138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高效率低阻力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54A45D07-7702-404D-8E90-8FD64E9818E6}"/>
              </a:ext>
            </a:extLst>
          </p:cNvPr>
          <p:cNvGrpSpPr/>
          <p:nvPr/>
        </p:nvGrpSpPr>
        <p:grpSpPr>
          <a:xfrm>
            <a:off x="6326167" y="1504938"/>
            <a:ext cx="4726889" cy="652450"/>
            <a:chOff x="1930687" y="4424814"/>
            <a:chExt cx="4726889" cy="652450"/>
          </a:xfrm>
        </p:grpSpPr>
        <p:sp>
          <p:nvSpPr>
            <p:cNvPr id="7" name="TextBox 42">
              <a:extLst>
                <a:ext uri="{FF2B5EF4-FFF2-40B4-BE49-F238E27FC236}">
                  <a16:creationId xmlns:a16="http://schemas.microsoft.com/office/drawing/2014/main" id="{8DF2AF75-1F6A-4820-AF01-BEB07522195A}"/>
                </a:ext>
              </a:extLst>
            </p:cNvPr>
            <p:cNvSpPr txBox="1"/>
            <p:nvPr/>
          </p:nvSpPr>
          <p:spPr>
            <a:xfrm>
              <a:off x="2401253" y="4424814"/>
              <a:ext cx="4256323" cy="652450"/>
            </a:xfrm>
            <a:prstGeom prst="rect">
              <a:avLst/>
            </a:prstGeom>
            <a:noFill/>
          </p:spPr>
          <p:txBody>
            <a:bodyPr wrap="square" lIns="219419" tIns="109710" rIns="219419" bIns="10971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rPr>
                <a:t>阻力是同效率材料的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rPr>
                <a:t>1/4</a:t>
              </a: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Lato Light"/>
              </a:endParaRPr>
            </a:p>
          </p:txBody>
        </p:sp>
        <p:sp>
          <p:nvSpPr>
            <p:cNvPr id="8" name="Freeform 222">
              <a:extLst>
                <a:ext uri="{FF2B5EF4-FFF2-40B4-BE49-F238E27FC236}">
                  <a16:creationId xmlns:a16="http://schemas.microsoft.com/office/drawing/2014/main" id="{65883BBB-B5B9-4524-842E-1375CCADD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rgbClr val="1EA1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5C7F34B-F3B5-4A40-AEBF-F6AF05A9F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204434"/>
              </p:ext>
            </p:extLst>
          </p:nvPr>
        </p:nvGraphicFramePr>
        <p:xfrm>
          <a:off x="990600" y="2413180"/>
          <a:ext cx="10210801" cy="3567895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3778281">
                  <a:extLst>
                    <a:ext uri="{9D8B030D-6E8A-4147-A177-3AD203B41FA5}">
                      <a16:colId xmlns:a16="http://schemas.microsoft.com/office/drawing/2014/main" val="1289108876"/>
                    </a:ext>
                  </a:extLst>
                </a:gridCol>
                <a:gridCol w="3216260">
                  <a:extLst>
                    <a:ext uri="{9D8B030D-6E8A-4147-A177-3AD203B41FA5}">
                      <a16:colId xmlns:a16="http://schemas.microsoft.com/office/drawing/2014/main" val="1766449747"/>
                    </a:ext>
                  </a:extLst>
                </a:gridCol>
                <a:gridCol w="3216260">
                  <a:extLst>
                    <a:ext uri="{9D8B030D-6E8A-4147-A177-3AD203B41FA5}">
                      <a16:colId xmlns:a16="http://schemas.microsoft.com/office/drawing/2014/main" val="313321189"/>
                    </a:ext>
                  </a:extLst>
                </a:gridCol>
              </a:tblGrid>
              <a:tr h="5959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样品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效率（</a:t>
                      </a:r>
                      <a:r>
                        <a:rPr lang="en-US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r>
                        <a:rPr lang="zh-CN" altLang="en-US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sz="2000" b="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阻力（</a:t>
                      </a:r>
                      <a:r>
                        <a:rPr lang="en-US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</a:t>
                      </a:r>
                      <a:r>
                        <a:rPr lang="zh-CN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sz="2000" b="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5531388"/>
                  </a:ext>
                </a:extLst>
              </a:tr>
              <a:tr h="7571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3200" b="1" kern="1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新一代驻极滤材</a:t>
                      </a:r>
                      <a:endParaRPr lang="zh-CN" sz="3200" b="1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1" kern="1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99.47</a:t>
                      </a:r>
                      <a:endParaRPr lang="zh-CN" sz="3200" b="1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1" kern="1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  <a:endParaRPr lang="zh-CN" sz="3200" b="1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4243457"/>
                  </a:ext>
                </a:extLst>
              </a:tr>
              <a:tr h="7382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泰达</a:t>
                      </a:r>
                      <a:r>
                        <a:rPr lang="en-US" altLang="zh-CN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-HEPA</a:t>
                      </a:r>
                      <a:r>
                        <a:rPr lang="zh-CN" altLang="en-US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滤材</a:t>
                      </a:r>
                      <a:endParaRPr lang="zh-CN" sz="2000" b="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98.91</a:t>
                      </a:r>
                      <a:endParaRPr lang="zh-CN" sz="2000" b="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140.6</a:t>
                      </a:r>
                      <a:endParaRPr lang="zh-CN" sz="2000" b="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2256019"/>
                  </a:ext>
                </a:extLst>
              </a:tr>
              <a:tr h="7382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飞利浦</a:t>
                      </a:r>
                      <a:r>
                        <a:rPr lang="en-US" altLang="zh-CN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-HEPA</a:t>
                      </a:r>
                      <a:r>
                        <a:rPr lang="zh-CN" altLang="en-US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滤材</a:t>
                      </a:r>
                      <a:endParaRPr lang="zh-CN" sz="2000" b="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87.9</a:t>
                      </a:r>
                      <a:endParaRPr lang="zh-CN" sz="2000" b="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</a:t>
                      </a:r>
                      <a:endParaRPr lang="zh-CN" sz="2000" b="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42526674"/>
                  </a:ext>
                </a:extLst>
              </a:tr>
              <a:tr h="7382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岳阳</a:t>
                      </a:r>
                      <a:r>
                        <a:rPr lang="en-US" altLang="zh-CN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-HEPA</a:t>
                      </a:r>
                      <a:r>
                        <a:rPr lang="zh-CN" altLang="en-US" sz="2000" b="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滤材</a:t>
                      </a:r>
                      <a:endParaRPr lang="zh-CN" sz="2000" b="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79.6</a:t>
                      </a:r>
                      <a:endParaRPr lang="zh-CN" sz="2000" b="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ato Light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</a:t>
                      </a:r>
                      <a:endParaRPr lang="zh-CN" sz="2000" b="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860173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4C928E6-30AF-4BF7-995A-5AEEBAEB1205}"/>
              </a:ext>
            </a:extLst>
          </p:cNvPr>
          <p:cNvSpPr txBox="1"/>
          <p:nvPr/>
        </p:nvSpPr>
        <p:spPr>
          <a:xfrm>
            <a:off x="7730619" y="6180629"/>
            <a:ext cx="4097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注：试验</a:t>
            </a:r>
            <a:r>
              <a:rPr lang="zh-CN" altLang="zh-CN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TSI8130@ 0.26µmNacl; 85L/min</a:t>
            </a:r>
            <a:endParaRPr lang="zh-CN" altLang="en-US" sz="1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87D500C-70F2-4012-A02F-B1D5C34F895F}"/>
              </a:ext>
            </a:extLst>
          </p:cNvPr>
          <p:cNvGrpSpPr/>
          <p:nvPr/>
        </p:nvGrpSpPr>
        <p:grpSpPr>
          <a:xfrm>
            <a:off x="513087" y="1444414"/>
            <a:ext cx="3579228" cy="738664"/>
            <a:chOff x="513087" y="1438320"/>
            <a:chExt cx="3579228" cy="738664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C2446CC-1197-49FB-B4CB-4BE5EE84139A}"/>
                </a:ext>
              </a:extLst>
            </p:cNvPr>
            <p:cNvSpPr txBox="1"/>
            <p:nvPr/>
          </p:nvSpPr>
          <p:spPr>
            <a:xfrm>
              <a:off x="1295400" y="1438320"/>
              <a:ext cx="2796915" cy="7386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效率提高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60%</a:t>
              </a:r>
            </a:p>
          </p:txBody>
        </p:sp>
        <p:sp>
          <p:nvSpPr>
            <p:cNvPr id="19" name="Freeform 222">
              <a:extLst>
                <a:ext uri="{FF2B5EF4-FFF2-40B4-BE49-F238E27FC236}">
                  <a16:creationId xmlns:a16="http://schemas.microsoft.com/office/drawing/2014/main" id="{A8802816-A799-4DC1-A8AE-05251D1021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087" y="1524000"/>
              <a:ext cx="646914" cy="649763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rgbClr val="1EA1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14ECB7-34DF-4E33-B974-BF2A14BB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1AF7A-EBD6-485A-AEE8-B1AADE508C32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453AB9-02E1-4CBC-A6C7-A4060755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006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57F2EE1-0B96-47A8-AD14-D3E3C7C65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寿命长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881679B-9AE4-4268-8F29-4B983F97BB1D}"/>
              </a:ext>
            </a:extLst>
          </p:cNvPr>
          <p:cNvGrpSpPr/>
          <p:nvPr/>
        </p:nvGrpSpPr>
        <p:grpSpPr>
          <a:xfrm>
            <a:off x="906246" y="2556794"/>
            <a:ext cx="6637554" cy="3902716"/>
            <a:chOff x="1143000" y="2142219"/>
            <a:chExt cx="6637554" cy="3902716"/>
          </a:xfrm>
        </p:grpSpPr>
        <p:graphicFrame>
          <p:nvGraphicFramePr>
            <p:cNvPr id="8" name="图示 7">
              <a:extLst>
                <a:ext uri="{FF2B5EF4-FFF2-40B4-BE49-F238E27FC236}">
                  <a16:creationId xmlns:a16="http://schemas.microsoft.com/office/drawing/2014/main" id="{BD0FA3B5-8DAE-4541-B95F-C7A7512AF0D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76712312"/>
                </p:ext>
              </p:extLst>
            </p:nvPr>
          </p:nvGraphicFramePr>
          <p:xfrm>
            <a:off x="1143000" y="2142219"/>
            <a:ext cx="6637554" cy="390271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ED4ECC87-7180-4F05-B622-E4AAC1020CCF}"/>
                </a:ext>
              </a:extLst>
            </p:cNvPr>
            <p:cNvSpPr txBox="1"/>
            <p:nvPr/>
          </p:nvSpPr>
          <p:spPr>
            <a:xfrm>
              <a:off x="2376714" y="4779685"/>
              <a:ext cx="10649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普通</a:t>
              </a: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2E7ED132-4F57-4D77-B5F5-70F0F8941B9A}"/>
                </a:ext>
              </a:extLst>
            </p:cNvPr>
            <p:cNvSpPr txBox="1"/>
            <p:nvPr/>
          </p:nvSpPr>
          <p:spPr>
            <a:xfrm>
              <a:off x="1763435" y="2697933"/>
              <a:ext cx="10649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驻极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D9813E02-0F9E-4CD8-A4C7-3BA595C18460}"/>
              </a:ext>
            </a:extLst>
          </p:cNvPr>
          <p:cNvSpPr txBox="1"/>
          <p:nvPr/>
        </p:nvSpPr>
        <p:spPr>
          <a:xfrm>
            <a:off x="294330" y="2388955"/>
            <a:ext cx="16384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容尘量实验</a:t>
            </a:r>
            <a:endParaRPr lang="en-US" altLang="zh-CN" sz="1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20g/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²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</a:p>
        </p:txBody>
      </p:sp>
      <p:pic>
        <p:nvPicPr>
          <p:cNvPr id="15" name="图片 2">
            <a:extLst>
              <a:ext uri="{FF2B5EF4-FFF2-40B4-BE49-F238E27FC236}">
                <a16:creationId xmlns:a16="http://schemas.microsoft.com/office/drawing/2014/main" id="{856BC815-F9EF-4643-AEA9-65D023547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838" y="2396350"/>
            <a:ext cx="5413196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72289113-C8E7-4D46-BC8B-23820CC9F7AB}"/>
              </a:ext>
            </a:extLst>
          </p:cNvPr>
          <p:cNvGrpSpPr/>
          <p:nvPr/>
        </p:nvGrpSpPr>
        <p:grpSpPr>
          <a:xfrm>
            <a:off x="513087" y="1476375"/>
            <a:ext cx="6648588" cy="697388"/>
            <a:chOff x="513087" y="1476375"/>
            <a:chExt cx="6648588" cy="697388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EEAA597-2954-463D-8A45-550C651ECECD}"/>
                </a:ext>
              </a:extLst>
            </p:cNvPr>
            <p:cNvSpPr txBox="1"/>
            <p:nvPr/>
          </p:nvSpPr>
          <p:spPr>
            <a:xfrm>
              <a:off x="1295400" y="1476375"/>
              <a:ext cx="5866275" cy="662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寿命延长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2.5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倍</a:t>
              </a:r>
              <a:endPara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22">
              <a:extLst>
                <a:ext uri="{FF2B5EF4-FFF2-40B4-BE49-F238E27FC236}">
                  <a16:creationId xmlns:a16="http://schemas.microsoft.com/office/drawing/2014/main" id="{FC0BEC32-4516-474E-8A61-7381537E7C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087" y="1524000"/>
              <a:ext cx="646914" cy="649763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rgbClr val="1EA1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FFB58C-B63E-4B01-9C07-56B0A843A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A4FA-F5EF-4822-AC88-3D8814C79BAF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59EB38-8455-4015-9BE3-2991A487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016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4BF13F5-37D2-4FF7-B18D-5A3C7842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防霉抑菌</a:t>
            </a:r>
          </a:p>
        </p:txBody>
      </p:sp>
      <p:pic>
        <p:nvPicPr>
          <p:cNvPr id="6" name="图片 5" descr="QQ图片20170206005144">
            <a:extLst>
              <a:ext uri="{FF2B5EF4-FFF2-40B4-BE49-F238E27FC236}">
                <a16:creationId xmlns:a16="http://schemas.microsoft.com/office/drawing/2014/main" id="{BE1C6F43-9DF8-4700-BB16-515B9CBD4B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485" t="44473" r="8054" b="-1"/>
          <a:stretch/>
        </p:blipFill>
        <p:spPr>
          <a:xfrm rot="16200000">
            <a:off x="1713821" y="2200917"/>
            <a:ext cx="3240000" cy="327904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036B205-FB20-4767-B8B2-D79FE81E6ADF}"/>
              </a:ext>
            </a:extLst>
          </p:cNvPr>
          <p:cNvSpPr txBox="1"/>
          <p:nvPr/>
        </p:nvSpPr>
        <p:spPr>
          <a:xfrm>
            <a:off x="1624695" y="5995150"/>
            <a:ext cx="6290008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实验菌种：金黄色葡萄球菌、大肠杆菌、白色葡萄球菌、空气自然菌</a:t>
            </a:r>
            <a:endParaRPr lang="zh-CN" altLang="en-US" sz="1400" dirty="0">
              <a:solidFill>
                <a:srgbClr val="4454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0F5A659-BADC-433A-A4FF-86857E111678}"/>
              </a:ext>
            </a:extLst>
          </p:cNvPr>
          <p:cNvGrpSpPr/>
          <p:nvPr/>
        </p:nvGrpSpPr>
        <p:grpSpPr>
          <a:xfrm>
            <a:off x="513087" y="1438320"/>
            <a:ext cx="6648588" cy="738664"/>
            <a:chOff x="513087" y="1438320"/>
            <a:chExt cx="6648588" cy="738664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2475700-C7A5-4973-BBBF-8E129F4FAEC0}"/>
                </a:ext>
              </a:extLst>
            </p:cNvPr>
            <p:cNvSpPr txBox="1"/>
            <p:nvPr/>
          </p:nvSpPr>
          <p:spPr>
            <a:xfrm>
              <a:off x="1295400" y="1438320"/>
              <a:ext cx="5866275" cy="7386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杀菌抑菌效率可达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99%</a:t>
              </a:r>
            </a:p>
          </p:txBody>
        </p:sp>
        <p:sp>
          <p:nvSpPr>
            <p:cNvPr id="10" name="Freeform 222">
              <a:extLst>
                <a:ext uri="{FF2B5EF4-FFF2-40B4-BE49-F238E27FC236}">
                  <a16:creationId xmlns:a16="http://schemas.microsoft.com/office/drawing/2014/main" id="{EB6C1070-B7EB-4326-A717-6DB36D0DB5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087" y="1524000"/>
              <a:ext cx="646914" cy="649763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rgbClr val="1EA1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134E1CF-FDA5-45BB-BA49-42E2BBEC9C1D}"/>
              </a:ext>
            </a:extLst>
          </p:cNvPr>
          <p:cNvSpPr txBox="1"/>
          <p:nvPr/>
        </p:nvSpPr>
        <p:spPr>
          <a:xfrm>
            <a:off x="2450281" y="547193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无驻极材料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F50EF0-6CD3-43D6-B706-2F826D5C8FE9}"/>
              </a:ext>
            </a:extLst>
          </p:cNvPr>
          <p:cNvSpPr txBox="1"/>
          <p:nvPr/>
        </p:nvSpPr>
        <p:spPr>
          <a:xfrm>
            <a:off x="6843228" y="5471930"/>
            <a:ext cx="221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驻极材料</a:t>
            </a:r>
            <a:endParaRPr lang="en-US" altLang="zh-CN" sz="2800" dirty="0">
              <a:solidFill>
                <a:srgbClr val="4454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QQ图片20170206005144">
            <a:extLst>
              <a:ext uri="{FF2B5EF4-FFF2-40B4-BE49-F238E27FC236}">
                <a16:creationId xmlns:a16="http://schemas.microsoft.com/office/drawing/2014/main" id="{A45E02D2-1AE5-44E3-A8BF-3D280C680B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05" t="52017" r="49584" b="-241"/>
          <a:stretch/>
        </p:blipFill>
        <p:spPr>
          <a:xfrm rot="16200000">
            <a:off x="6186820" y="2391014"/>
            <a:ext cx="3240000" cy="2898861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62AF41-D504-4B91-B28B-0CE68229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5400-5F6F-4282-A484-E48E95251E74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DD4D73-9C14-448E-8698-10EBE909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891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2E49D35-39F3-4FB1-A94F-E66A56A9A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636" y="0"/>
            <a:ext cx="4740728" cy="1325563"/>
          </a:xfrm>
        </p:spPr>
        <p:txBody>
          <a:bodyPr/>
          <a:lstStyle/>
          <a:p>
            <a:pPr algn="ctr"/>
            <a:r>
              <a:rPr lang="zh-CN" altLang="en-US" dirty="0"/>
              <a:t>二、除甲醛涂层</a:t>
            </a:r>
          </a:p>
        </p:txBody>
      </p:sp>
      <p:pic>
        <p:nvPicPr>
          <p:cNvPr id="6" name="图片 5" descr="QQ图片20170305001324.png">
            <a:extLst>
              <a:ext uri="{FF2B5EF4-FFF2-40B4-BE49-F238E27FC236}">
                <a16:creationId xmlns:a16="http://schemas.microsoft.com/office/drawing/2014/main" id="{813445C0-2D05-41CF-A7AD-EA56FF4D8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654" y="2289741"/>
            <a:ext cx="8028692" cy="432000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41E8F59-DAA8-4EBB-82E1-74A7AFF08B30}"/>
              </a:ext>
            </a:extLst>
          </p:cNvPr>
          <p:cNvGrpSpPr/>
          <p:nvPr/>
        </p:nvGrpSpPr>
        <p:grpSpPr>
          <a:xfrm>
            <a:off x="513087" y="1438320"/>
            <a:ext cx="10729536" cy="738664"/>
            <a:chOff x="513087" y="1438320"/>
            <a:chExt cx="10729536" cy="73866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5CB2EB-1710-4497-A9B1-304D06E90047}"/>
                </a:ext>
              </a:extLst>
            </p:cNvPr>
            <p:cNvSpPr txBox="1"/>
            <p:nvPr/>
          </p:nvSpPr>
          <p:spPr>
            <a:xfrm>
              <a:off x="1295400" y="1438320"/>
              <a:ext cx="9947223" cy="7386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甲醛去除效率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95%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以上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（市面产品的甲醛去除率约为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85%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222">
              <a:extLst>
                <a:ext uri="{FF2B5EF4-FFF2-40B4-BE49-F238E27FC236}">
                  <a16:creationId xmlns:a16="http://schemas.microsoft.com/office/drawing/2014/main" id="{25169BCA-FAB7-427D-804B-6702C1776F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087" y="1524000"/>
              <a:ext cx="646914" cy="649763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rgbClr val="1EA1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6D4207-5C59-41DA-9942-4A11D06C6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395CF-F538-4C08-B638-9D4A206D89A1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AB9350-0FAF-4AD6-9BB9-F54CFA1F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329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301E6-C7A3-4992-9083-2E85EC9C5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6858" y="0"/>
            <a:ext cx="5538285" cy="1325563"/>
          </a:xfrm>
        </p:spPr>
        <p:txBody>
          <a:bodyPr/>
          <a:lstStyle/>
          <a:p>
            <a:pPr algn="ctr"/>
            <a:r>
              <a:rPr lang="zh-CN" altLang="en-US" dirty="0"/>
              <a:t>三、负离子滤材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A1951AA4-D3E7-4E64-A43F-D5DE2D05CF3A}"/>
              </a:ext>
            </a:extLst>
          </p:cNvPr>
          <p:cNvGrpSpPr/>
          <p:nvPr/>
        </p:nvGrpSpPr>
        <p:grpSpPr>
          <a:xfrm>
            <a:off x="6326167" y="1504938"/>
            <a:ext cx="5336181" cy="652450"/>
            <a:chOff x="1930687" y="4424814"/>
            <a:chExt cx="5336181" cy="652450"/>
          </a:xfrm>
        </p:grpSpPr>
        <p:sp>
          <p:nvSpPr>
            <p:cNvPr id="7" name="TextBox 42">
              <a:extLst>
                <a:ext uri="{FF2B5EF4-FFF2-40B4-BE49-F238E27FC236}">
                  <a16:creationId xmlns:a16="http://schemas.microsoft.com/office/drawing/2014/main" id="{9F47F9A9-FAFD-4840-A7E9-314BF7EFBD0E}"/>
                </a:ext>
              </a:extLst>
            </p:cNvPr>
            <p:cNvSpPr txBox="1"/>
            <p:nvPr/>
          </p:nvSpPr>
          <p:spPr>
            <a:xfrm>
              <a:off x="2401253" y="4424814"/>
              <a:ext cx="4865615" cy="652450"/>
            </a:xfrm>
            <a:prstGeom prst="rect">
              <a:avLst/>
            </a:prstGeom>
            <a:noFill/>
          </p:spPr>
          <p:txBody>
            <a:bodyPr wrap="square" lIns="219419" tIns="109710" rIns="219419" bIns="10971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rPr>
                <a:t>具有保健</a:t>
              </a:r>
              <a:r>
                <a:rPr lang="zh-CN" altLang="en-US" sz="2800" kern="0" dirty="0">
                  <a:latin typeface="微软雅黑" pitchFamily="34" charset="-122"/>
                  <a:ea typeface="微软雅黑" pitchFamily="34" charset="-122"/>
                  <a:cs typeface="Lato Light"/>
                </a:rPr>
                <a:t>、</a:t>
              </a: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rPr>
                <a:t>净化、杀菌功效</a:t>
              </a: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Lato Light"/>
              </a:endParaRPr>
            </a:p>
          </p:txBody>
        </p:sp>
        <p:sp>
          <p:nvSpPr>
            <p:cNvPr id="8" name="Freeform 222">
              <a:extLst>
                <a:ext uri="{FF2B5EF4-FFF2-40B4-BE49-F238E27FC236}">
                  <a16:creationId xmlns:a16="http://schemas.microsoft.com/office/drawing/2014/main" id="{71622634-A458-4637-9685-B999CFE9EE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rgbClr val="1EA1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ED789F0-5A46-4DE9-9F6C-013538BC1052}"/>
              </a:ext>
            </a:extLst>
          </p:cNvPr>
          <p:cNvGrpSpPr/>
          <p:nvPr/>
        </p:nvGrpSpPr>
        <p:grpSpPr>
          <a:xfrm>
            <a:off x="513087" y="1444415"/>
            <a:ext cx="4103883" cy="738664"/>
            <a:chOff x="513087" y="1438321"/>
            <a:chExt cx="4103883" cy="738664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F770B61-9BFB-4D96-ADBD-0AB0B3D6226E}"/>
                </a:ext>
              </a:extLst>
            </p:cNvPr>
            <p:cNvSpPr txBox="1"/>
            <p:nvPr/>
          </p:nvSpPr>
          <p:spPr>
            <a:xfrm>
              <a:off x="1295400" y="1438321"/>
              <a:ext cx="3321570" cy="7386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可常温释放负离子</a:t>
              </a:r>
              <a:endPara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222">
              <a:extLst>
                <a:ext uri="{FF2B5EF4-FFF2-40B4-BE49-F238E27FC236}">
                  <a16:creationId xmlns:a16="http://schemas.microsoft.com/office/drawing/2014/main" id="{F12DBCAC-132F-4F48-B87F-BF12E777BE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087" y="1524000"/>
              <a:ext cx="646914" cy="649763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rgbClr val="1EA1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227DA026-BB69-43DF-BB6B-D3EE56A391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74" t="14234" r="34037" b="40839"/>
          <a:stretch/>
        </p:blipFill>
        <p:spPr>
          <a:xfrm>
            <a:off x="6844779" y="2194723"/>
            <a:ext cx="3783907" cy="3600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8F7D54C-55AA-418F-832A-8A02108F2E05}"/>
              </a:ext>
            </a:extLst>
          </p:cNvPr>
          <p:cNvSpPr txBox="1"/>
          <p:nvPr/>
        </p:nvSpPr>
        <p:spPr>
          <a:xfrm>
            <a:off x="6161417" y="5792730"/>
            <a:ext cx="57802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基从霉菌、病毒蛋白质表面抽取出氢（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F9DD406-8FC1-45E9-848C-CD35F573BB81}"/>
              </a:ext>
            </a:extLst>
          </p:cNvPr>
          <p:cNvSpPr txBox="1"/>
          <p:nvPr/>
        </p:nvSpPr>
        <p:spPr>
          <a:xfrm>
            <a:off x="627307" y="5806367"/>
            <a:ext cx="53991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释放密度：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/cm³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（城市公园水平）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25B199-0EC6-46E4-AEFD-00A97D44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C8106-355E-4502-BD7B-3AA9D3A1CC42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4AD588-FE08-448F-970E-DD38FE90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19" name="图片 18" descr="真能杀菌净化？编辑带你了解“负离子”真相">
            <a:extLst>
              <a:ext uri="{FF2B5EF4-FFF2-40B4-BE49-F238E27FC236}">
                <a16:creationId xmlns:a16="http://schemas.microsoft.com/office/drawing/2014/main" id="{B4A04EA9-C741-4B74-A090-B0AFE9A6C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067" y="2194723"/>
            <a:ext cx="3757119" cy="36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568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EE0B69C-9B6D-476B-A761-451E72BB6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应用领域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7E3BAB16-ECF4-4A6F-B2D0-71E4316DD2EC}"/>
              </a:ext>
            </a:extLst>
          </p:cNvPr>
          <p:cNvGrpSpPr/>
          <p:nvPr/>
        </p:nvGrpSpPr>
        <p:grpSpPr>
          <a:xfrm>
            <a:off x="9133450" y="3011202"/>
            <a:ext cx="2614205" cy="2560886"/>
            <a:chOff x="3393423" y="3043508"/>
            <a:chExt cx="2614205" cy="2560886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6D95E797-C422-494C-B51F-4F0C22285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93423" y="3043508"/>
              <a:ext cx="2614205" cy="2160000"/>
            </a:xfrm>
            <a:prstGeom prst="rect">
              <a:avLst/>
            </a:prstGeom>
          </p:spPr>
        </p:pic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7168D80-4C02-4FE0-8767-FC0F5480A038}"/>
                </a:ext>
              </a:extLst>
            </p:cNvPr>
            <p:cNvSpPr txBox="1"/>
            <p:nvPr/>
          </p:nvSpPr>
          <p:spPr>
            <a:xfrm>
              <a:off x="3915695" y="5235062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家用净化设备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33F3EB55-FF6B-4A34-8C37-5B810D4931FF}"/>
              </a:ext>
            </a:extLst>
          </p:cNvPr>
          <p:cNvGrpSpPr/>
          <p:nvPr/>
        </p:nvGrpSpPr>
        <p:grpSpPr>
          <a:xfrm>
            <a:off x="6250388" y="3603776"/>
            <a:ext cx="2614206" cy="2556130"/>
            <a:chOff x="471761" y="3603776"/>
            <a:chExt cx="2614206" cy="2556130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1C1FF4D0-E053-4C03-AFA9-0E8BBD14389B}"/>
                </a:ext>
              </a:extLst>
            </p:cNvPr>
            <p:cNvSpPr txBox="1"/>
            <p:nvPr/>
          </p:nvSpPr>
          <p:spPr>
            <a:xfrm>
              <a:off x="1224866" y="579057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暖通空调</a:t>
              </a:r>
            </a:p>
          </p:txBody>
        </p: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2B20CD46-F859-4876-AB5F-5D4392FDE0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4987" r="16030"/>
            <a:stretch/>
          </p:blipFill>
          <p:spPr>
            <a:xfrm>
              <a:off x="471761" y="3603776"/>
              <a:ext cx="2614206" cy="2160000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7AE1E8B-37AC-40D0-890D-90CA6A415EF8}"/>
              </a:ext>
            </a:extLst>
          </p:cNvPr>
          <p:cNvGrpSpPr/>
          <p:nvPr/>
        </p:nvGrpSpPr>
        <p:grpSpPr>
          <a:xfrm>
            <a:off x="513087" y="1438320"/>
            <a:ext cx="9950047" cy="738664"/>
            <a:chOff x="513087" y="1438320"/>
            <a:chExt cx="9950047" cy="738664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B2DE5E4-7371-45E6-8B91-681933574C31}"/>
                </a:ext>
              </a:extLst>
            </p:cNvPr>
            <p:cNvSpPr txBox="1"/>
            <p:nvPr/>
          </p:nvSpPr>
          <p:spPr>
            <a:xfrm>
              <a:off x="1295400" y="1438320"/>
              <a:ext cx="9167734" cy="7386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口罩、座舱空调滤芯、暖通空调滤芯、家用净化设备等</a:t>
              </a:r>
              <a:endPara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222">
              <a:extLst>
                <a:ext uri="{FF2B5EF4-FFF2-40B4-BE49-F238E27FC236}">
                  <a16:creationId xmlns:a16="http://schemas.microsoft.com/office/drawing/2014/main" id="{4336F7C1-5974-4D66-AED7-4AD45E1971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087" y="1524000"/>
              <a:ext cx="646914" cy="649763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rgbClr val="1EA1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580929F-A777-4388-A62E-A640FDE35D7C}"/>
              </a:ext>
            </a:extLst>
          </p:cNvPr>
          <p:cNvGrpSpPr/>
          <p:nvPr/>
        </p:nvGrpSpPr>
        <p:grpSpPr>
          <a:xfrm>
            <a:off x="481726" y="3642343"/>
            <a:ext cx="2616742" cy="2532553"/>
            <a:chOff x="481726" y="3642343"/>
            <a:chExt cx="2616742" cy="2532553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7C2A484-ADC8-4209-B3F8-5CF55803FC3D}"/>
                </a:ext>
              </a:extLst>
            </p:cNvPr>
            <p:cNvSpPr txBox="1"/>
            <p:nvPr/>
          </p:nvSpPr>
          <p:spPr>
            <a:xfrm>
              <a:off x="1468200" y="580556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口罩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1BD710F-AED5-4235-81A8-A3BCF06CE4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27878"/>
            <a:stretch/>
          </p:blipFill>
          <p:spPr>
            <a:xfrm>
              <a:off x="481726" y="3642343"/>
              <a:ext cx="2616742" cy="2160000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ED31590-285C-424C-A73F-3344F48A905E}"/>
              </a:ext>
            </a:extLst>
          </p:cNvPr>
          <p:cNvGrpSpPr/>
          <p:nvPr/>
        </p:nvGrpSpPr>
        <p:grpSpPr>
          <a:xfrm>
            <a:off x="3365330" y="3011202"/>
            <a:ext cx="2618195" cy="2559312"/>
            <a:chOff x="3365330" y="3011202"/>
            <a:chExt cx="2618195" cy="2559312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54FE4F23-756F-4385-A3E3-FBA17A5904E9}"/>
                </a:ext>
              </a:extLst>
            </p:cNvPr>
            <p:cNvSpPr txBox="1"/>
            <p:nvPr/>
          </p:nvSpPr>
          <p:spPr>
            <a:xfrm>
              <a:off x="4120430" y="5201182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座舱空调</a:t>
              </a: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602C837-9A11-41DB-AC11-006600F428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9312"/>
            <a:stretch/>
          </p:blipFill>
          <p:spPr>
            <a:xfrm>
              <a:off x="3365330" y="3011202"/>
              <a:ext cx="2618195" cy="2160000"/>
            </a:xfrm>
            <a:prstGeom prst="rect">
              <a:avLst/>
            </a:prstGeom>
          </p:spPr>
        </p:pic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A7D24C-4780-482A-9E5E-D4D76F42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F9329-688A-4B2D-8935-957B49154306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1EEBED-EE64-4574-A120-76CF475F3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84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F5EBF2-BCA1-411B-8254-BEF21083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F226-D218-4475-A6F5-1F3CE56FD3B9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8FE05B-5945-4FAA-978F-9E0E56DE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54E1824-0178-4356-9CD6-AE868A20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公司团队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0DD1C77-1D23-4484-B44B-D4755AC4FE5A}"/>
              </a:ext>
            </a:extLst>
          </p:cNvPr>
          <p:cNvGrpSpPr/>
          <p:nvPr/>
        </p:nvGrpSpPr>
        <p:grpSpPr>
          <a:xfrm>
            <a:off x="384719" y="1477009"/>
            <a:ext cx="5422161" cy="1800000"/>
            <a:chOff x="414699" y="1821779"/>
            <a:chExt cx="5422161" cy="1800000"/>
          </a:xfrm>
        </p:grpSpPr>
        <p:grpSp>
          <p:nvGrpSpPr>
            <p:cNvPr id="58" name="Group 1">
              <a:extLst>
                <a:ext uri="{FF2B5EF4-FFF2-40B4-BE49-F238E27FC236}">
                  <a16:creationId xmlns:a16="http://schemas.microsoft.com/office/drawing/2014/main" id="{23BE9041-6424-42EB-96B4-52DE24A57E5B}"/>
                </a:ext>
              </a:extLst>
            </p:cNvPr>
            <p:cNvGrpSpPr/>
            <p:nvPr/>
          </p:nvGrpSpPr>
          <p:grpSpPr>
            <a:xfrm>
              <a:off x="3088088" y="1850252"/>
              <a:ext cx="2037767" cy="714092"/>
              <a:chOff x="1859070" y="7374266"/>
              <a:chExt cx="4075534" cy="1428183"/>
            </a:xfrm>
          </p:grpSpPr>
          <p:sp>
            <p:nvSpPr>
              <p:cNvPr id="59" name="Content Placeholder 2">
                <a:extLst>
                  <a:ext uri="{FF2B5EF4-FFF2-40B4-BE49-F238E27FC236}">
                    <a16:creationId xmlns:a16="http://schemas.microsoft.com/office/drawing/2014/main" id="{9AA2740B-31AB-4350-948C-25FF6BC0691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984918" y="7374266"/>
                <a:ext cx="3648182" cy="790917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4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1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zh-CN" altLang="en-US" sz="21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Regular"/>
                  </a:rPr>
                  <a:t>郭欣然</a:t>
                </a:r>
                <a:endParaRPr kumimoji="0" lang="en-US" sz="215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Regular"/>
                </a:endParaRPr>
              </a:p>
            </p:txBody>
          </p:sp>
          <p:sp>
            <p:nvSpPr>
              <p:cNvPr id="60" name="Content Placeholder 2">
                <a:extLst>
                  <a:ext uri="{FF2B5EF4-FFF2-40B4-BE49-F238E27FC236}">
                    <a16:creationId xmlns:a16="http://schemas.microsoft.com/office/drawing/2014/main" id="{CCDDBEE5-B35F-4319-A28B-DDD6171A7BD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859070" y="8291337"/>
                <a:ext cx="4075534" cy="511112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4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1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Light"/>
                  </a:rPr>
                  <a:t>创始人、市场总监（全职）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endParaRPr>
              </a:p>
            </p:txBody>
          </p:sp>
          <p:grpSp>
            <p:nvGrpSpPr>
              <p:cNvPr id="61" name="Group 79">
                <a:extLst>
                  <a:ext uri="{FF2B5EF4-FFF2-40B4-BE49-F238E27FC236}">
                    <a16:creationId xmlns:a16="http://schemas.microsoft.com/office/drawing/2014/main" id="{3CA79C7F-85A2-442B-83FA-E23EC75E43CB}"/>
                  </a:ext>
                </a:extLst>
              </p:cNvPr>
              <p:cNvGrpSpPr/>
              <p:nvPr/>
            </p:nvGrpSpPr>
            <p:grpSpPr>
              <a:xfrm>
                <a:off x="2442341" y="8203744"/>
                <a:ext cx="2738812" cy="73150"/>
                <a:chOff x="1775295" y="2028842"/>
                <a:chExt cx="3631535" cy="45719"/>
              </a:xfrm>
            </p:grpSpPr>
            <p:sp>
              <p:nvSpPr>
                <p:cNvPr id="62" name="Rectangle 80">
                  <a:extLst>
                    <a:ext uri="{FF2B5EF4-FFF2-40B4-BE49-F238E27FC236}">
                      <a16:creationId xmlns:a16="http://schemas.microsoft.com/office/drawing/2014/main" id="{3246FEBE-3BC6-499D-8C58-2906A7B48451}"/>
                    </a:ext>
                  </a:extLst>
                </p:cNvPr>
                <p:cNvSpPr/>
                <p:nvPr/>
              </p:nvSpPr>
              <p:spPr>
                <a:xfrm flipV="1">
                  <a:off x="1775295" y="2028842"/>
                  <a:ext cx="540353" cy="45719"/>
                </a:xfrm>
                <a:prstGeom prst="rect">
                  <a:avLst/>
                </a:prstGeom>
                <a:solidFill>
                  <a:srgbClr val="1EA185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63" name="Rectangle 81">
                  <a:extLst>
                    <a:ext uri="{FF2B5EF4-FFF2-40B4-BE49-F238E27FC236}">
                      <a16:creationId xmlns:a16="http://schemas.microsoft.com/office/drawing/2014/main" id="{E382960C-BB3A-45BA-B6E1-05BE06047ABD}"/>
                    </a:ext>
                  </a:extLst>
                </p:cNvPr>
                <p:cNvSpPr/>
                <p:nvPr/>
              </p:nvSpPr>
              <p:spPr>
                <a:xfrm flipV="1">
                  <a:off x="2390858" y="2028842"/>
                  <a:ext cx="540353" cy="45719"/>
                </a:xfrm>
                <a:prstGeom prst="rect">
                  <a:avLst/>
                </a:prstGeom>
                <a:solidFill>
                  <a:srgbClr val="9BBB5C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64" name="Rectangle 82">
                  <a:extLst>
                    <a:ext uri="{FF2B5EF4-FFF2-40B4-BE49-F238E27FC236}">
                      <a16:creationId xmlns:a16="http://schemas.microsoft.com/office/drawing/2014/main" id="{0C6B042A-C3F1-4EE9-A793-3293E0888FF1}"/>
                    </a:ext>
                  </a:extLst>
                </p:cNvPr>
                <p:cNvSpPr/>
                <p:nvPr/>
              </p:nvSpPr>
              <p:spPr>
                <a:xfrm flipV="1">
                  <a:off x="3025596" y="2028842"/>
                  <a:ext cx="540353" cy="45719"/>
                </a:xfrm>
                <a:prstGeom prst="rect">
                  <a:avLst/>
                </a:prstGeom>
                <a:solidFill>
                  <a:srgbClr val="F29B26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65" name="Rectangle 83">
                  <a:extLst>
                    <a:ext uri="{FF2B5EF4-FFF2-40B4-BE49-F238E27FC236}">
                      <a16:creationId xmlns:a16="http://schemas.microsoft.com/office/drawing/2014/main" id="{7E2D5D18-7BFB-4200-9DA2-9BB00E2AF4BC}"/>
                    </a:ext>
                  </a:extLst>
                </p:cNvPr>
                <p:cNvSpPr/>
                <p:nvPr/>
              </p:nvSpPr>
              <p:spPr>
                <a:xfrm flipV="1">
                  <a:off x="3641289" y="2028842"/>
                  <a:ext cx="540353" cy="45719"/>
                </a:xfrm>
                <a:prstGeom prst="rect">
                  <a:avLst/>
                </a:prstGeom>
                <a:solidFill>
                  <a:srgbClr val="BD392F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66" name="Rectangle 84">
                  <a:extLst>
                    <a:ext uri="{FF2B5EF4-FFF2-40B4-BE49-F238E27FC236}">
                      <a16:creationId xmlns:a16="http://schemas.microsoft.com/office/drawing/2014/main" id="{5334C478-2C76-4245-BC54-2F50FF3DE28B}"/>
                    </a:ext>
                  </a:extLst>
                </p:cNvPr>
                <p:cNvSpPr/>
                <p:nvPr/>
              </p:nvSpPr>
              <p:spPr>
                <a:xfrm flipV="1">
                  <a:off x="4256852" y="2028842"/>
                  <a:ext cx="540353" cy="45719"/>
                </a:xfrm>
                <a:prstGeom prst="rect">
                  <a:avLst/>
                </a:prstGeom>
                <a:solidFill>
                  <a:srgbClr val="445469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67" name="Rectangle 85">
                  <a:extLst>
                    <a:ext uri="{FF2B5EF4-FFF2-40B4-BE49-F238E27FC236}">
                      <a16:creationId xmlns:a16="http://schemas.microsoft.com/office/drawing/2014/main" id="{14AD3ECF-ADE1-4016-AA50-4B95DE5AF0CD}"/>
                    </a:ext>
                  </a:extLst>
                </p:cNvPr>
                <p:cNvSpPr/>
                <p:nvPr/>
              </p:nvSpPr>
              <p:spPr>
                <a:xfrm flipV="1">
                  <a:off x="4866477" y="2028842"/>
                  <a:ext cx="540353" cy="45719"/>
                </a:xfrm>
                <a:prstGeom prst="rect">
                  <a:avLst/>
                </a:prstGeom>
                <a:solidFill>
                  <a:sysClr val="window" lastClr="FFFFFF">
                    <a:lumMod val="75000"/>
                  </a:sysClr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</p:grpSp>
        </p:grpSp>
        <p:pic>
          <p:nvPicPr>
            <p:cNvPr id="78" name="图片占位符 16">
              <a:extLst>
                <a:ext uri="{FF2B5EF4-FFF2-40B4-BE49-F238E27FC236}">
                  <a16:creationId xmlns:a16="http://schemas.microsoft.com/office/drawing/2014/main" id="{E695317A-E090-4F6B-AA06-5B3AC062B9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2"/>
            <a:stretch/>
          </p:blipFill>
          <p:spPr>
            <a:xfrm>
              <a:off x="414699" y="1821779"/>
              <a:ext cx="1798433" cy="1800000"/>
            </a:xfrm>
            <a:prstGeom prst="rect">
              <a:avLst/>
            </a:prstGeom>
          </p:spPr>
        </p:pic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7083F12B-2978-4767-86A6-4FBFDBFE324C}"/>
                </a:ext>
              </a:extLst>
            </p:cNvPr>
            <p:cNvSpPr txBox="1"/>
            <p:nvPr/>
          </p:nvSpPr>
          <p:spPr>
            <a:xfrm>
              <a:off x="2311536" y="2546514"/>
              <a:ext cx="3525324" cy="1061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德国艾斯林根应用科技大学研究生</a:t>
              </a:r>
              <a:endParaRPr lang="en-US" altLang="zh-CN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奥迪（中国）自动驾驶项目核心成员</a:t>
              </a:r>
              <a:endParaRPr lang="en-US" altLang="zh-CN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中国电动汽车百人会双创中心项目经理</a:t>
              </a:r>
              <a:endParaRPr lang="en-US" altLang="zh-CN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33DD549-DC02-41BD-8D6B-21DF79335BF1}"/>
              </a:ext>
            </a:extLst>
          </p:cNvPr>
          <p:cNvGrpSpPr/>
          <p:nvPr/>
        </p:nvGrpSpPr>
        <p:grpSpPr>
          <a:xfrm>
            <a:off x="6066020" y="1477009"/>
            <a:ext cx="5843349" cy="1800000"/>
            <a:chOff x="6096000" y="1821779"/>
            <a:chExt cx="5843349" cy="1800000"/>
          </a:xfrm>
        </p:grpSpPr>
        <p:grpSp>
          <p:nvGrpSpPr>
            <p:cNvPr id="82" name="Group 1">
              <a:extLst>
                <a:ext uri="{FF2B5EF4-FFF2-40B4-BE49-F238E27FC236}">
                  <a16:creationId xmlns:a16="http://schemas.microsoft.com/office/drawing/2014/main" id="{1F63D3D5-CB7A-4B5A-906F-A8036945ACF0}"/>
                </a:ext>
              </a:extLst>
            </p:cNvPr>
            <p:cNvGrpSpPr/>
            <p:nvPr/>
          </p:nvGrpSpPr>
          <p:grpSpPr>
            <a:xfrm>
              <a:off x="9030219" y="1850252"/>
              <a:ext cx="2440077" cy="714092"/>
              <a:chOff x="1613310" y="7374266"/>
              <a:chExt cx="4880154" cy="1428183"/>
            </a:xfrm>
          </p:grpSpPr>
          <p:sp>
            <p:nvSpPr>
              <p:cNvPr id="83" name="Content Placeholder 2">
                <a:extLst>
                  <a:ext uri="{FF2B5EF4-FFF2-40B4-BE49-F238E27FC236}">
                    <a16:creationId xmlns:a16="http://schemas.microsoft.com/office/drawing/2014/main" id="{524430C5-B9BF-422B-8E89-8EDF09DD442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984918" y="7374266"/>
                <a:ext cx="3648182" cy="790917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4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1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zh-CN" altLang="en-US" sz="21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Regular"/>
                  </a:rPr>
                  <a:t>纪思宇</a:t>
                </a:r>
                <a:endParaRPr kumimoji="0" lang="en-US" sz="215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Regular"/>
                </a:endParaRPr>
              </a:p>
            </p:txBody>
          </p:sp>
          <p:sp>
            <p:nvSpPr>
              <p:cNvPr id="84" name="Content Placeholder 2">
                <a:extLst>
                  <a:ext uri="{FF2B5EF4-FFF2-40B4-BE49-F238E27FC236}">
                    <a16:creationId xmlns:a16="http://schemas.microsoft.com/office/drawing/2014/main" id="{768B6D29-C8E3-443F-93BB-A35B8ADD548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613310" y="8291337"/>
                <a:ext cx="4880154" cy="511112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4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1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Light"/>
                  </a:rPr>
                  <a:t>联合创始人、技术总监（全职）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endParaRPr>
              </a:p>
            </p:txBody>
          </p:sp>
          <p:grpSp>
            <p:nvGrpSpPr>
              <p:cNvPr id="85" name="Group 79">
                <a:extLst>
                  <a:ext uri="{FF2B5EF4-FFF2-40B4-BE49-F238E27FC236}">
                    <a16:creationId xmlns:a16="http://schemas.microsoft.com/office/drawing/2014/main" id="{751B27EB-3E64-4A6E-8D09-A69B42AEADB7}"/>
                  </a:ext>
                </a:extLst>
              </p:cNvPr>
              <p:cNvGrpSpPr/>
              <p:nvPr/>
            </p:nvGrpSpPr>
            <p:grpSpPr>
              <a:xfrm>
                <a:off x="2442341" y="8203744"/>
                <a:ext cx="2738812" cy="73150"/>
                <a:chOff x="1775295" y="2028842"/>
                <a:chExt cx="3631535" cy="45719"/>
              </a:xfrm>
            </p:grpSpPr>
            <p:sp>
              <p:nvSpPr>
                <p:cNvPr id="86" name="Rectangle 80">
                  <a:extLst>
                    <a:ext uri="{FF2B5EF4-FFF2-40B4-BE49-F238E27FC236}">
                      <a16:creationId xmlns:a16="http://schemas.microsoft.com/office/drawing/2014/main" id="{06B83FE3-7429-4826-972B-188AB8B773D5}"/>
                    </a:ext>
                  </a:extLst>
                </p:cNvPr>
                <p:cNvSpPr/>
                <p:nvPr/>
              </p:nvSpPr>
              <p:spPr>
                <a:xfrm flipV="1">
                  <a:off x="1775295" y="2028842"/>
                  <a:ext cx="540353" cy="45719"/>
                </a:xfrm>
                <a:prstGeom prst="rect">
                  <a:avLst/>
                </a:prstGeom>
                <a:solidFill>
                  <a:srgbClr val="1EA185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87" name="Rectangle 81">
                  <a:extLst>
                    <a:ext uri="{FF2B5EF4-FFF2-40B4-BE49-F238E27FC236}">
                      <a16:creationId xmlns:a16="http://schemas.microsoft.com/office/drawing/2014/main" id="{729570BF-C81F-4282-9819-CD2785971875}"/>
                    </a:ext>
                  </a:extLst>
                </p:cNvPr>
                <p:cNvSpPr/>
                <p:nvPr/>
              </p:nvSpPr>
              <p:spPr>
                <a:xfrm flipV="1">
                  <a:off x="2390858" y="2028842"/>
                  <a:ext cx="540353" cy="45719"/>
                </a:xfrm>
                <a:prstGeom prst="rect">
                  <a:avLst/>
                </a:prstGeom>
                <a:solidFill>
                  <a:srgbClr val="9BBB5C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88" name="Rectangle 82">
                  <a:extLst>
                    <a:ext uri="{FF2B5EF4-FFF2-40B4-BE49-F238E27FC236}">
                      <a16:creationId xmlns:a16="http://schemas.microsoft.com/office/drawing/2014/main" id="{6F8B94B4-70E2-402C-AC58-B6161E423CC0}"/>
                    </a:ext>
                  </a:extLst>
                </p:cNvPr>
                <p:cNvSpPr/>
                <p:nvPr/>
              </p:nvSpPr>
              <p:spPr>
                <a:xfrm flipV="1">
                  <a:off x="3025596" y="2028842"/>
                  <a:ext cx="540353" cy="45719"/>
                </a:xfrm>
                <a:prstGeom prst="rect">
                  <a:avLst/>
                </a:prstGeom>
                <a:solidFill>
                  <a:srgbClr val="F29B26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89" name="Rectangle 83">
                  <a:extLst>
                    <a:ext uri="{FF2B5EF4-FFF2-40B4-BE49-F238E27FC236}">
                      <a16:creationId xmlns:a16="http://schemas.microsoft.com/office/drawing/2014/main" id="{DAEFE9B2-3FF4-4A5A-8148-38E573A196F9}"/>
                    </a:ext>
                  </a:extLst>
                </p:cNvPr>
                <p:cNvSpPr/>
                <p:nvPr/>
              </p:nvSpPr>
              <p:spPr>
                <a:xfrm flipV="1">
                  <a:off x="3641289" y="2028842"/>
                  <a:ext cx="540353" cy="45719"/>
                </a:xfrm>
                <a:prstGeom prst="rect">
                  <a:avLst/>
                </a:prstGeom>
                <a:solidFill>
                  <a:srgbClr val="BD392F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90" name="Rectangle 84">
                  <a:extLst>
                    <a:ext uri="{FF2B5EF4-FFF2-40B4-BE49-F238E27FC236}">
                      <a16:creationId xmlns:a16="http://schemas.microsoft.com/office/drawing/2014/main" id="{325AE3FC-FF07-41A5-878B-8CCE030FA1AE}"/>
                    </a:ext>
                  </a:extLst>
                </p:cNvPr>
                <p:cNvSpPr/>
                <p:nvPr/>
              </p:nvSpPr>
              <p:spPr>
                <a:xfrm flipV="1">
                  <a:off x="4256852" y="2028842"/>
                  <a:ext cx="540353" cy="45719"/>
                </a:xfrm>
                <a:prstGeom prst="rect">
                  <a:avLst/>
                </a:prstGeom>
                <a:solidFill>
                  <a:srgbClr val="445469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91" name="Rectangle 85">
                  <a:extLst>
                    <a:ext uri="{FF2B5EF4-FFF2-40B4-BE49-F238E27FC236}">
                      <a16:creationId xmlns:a16="http://schemas.microsoft.com/office/drawing/2014/main" id="{851608EB-8871-4C32-85DD-6D941C7E73BF}"/>
                    </a:ext>
                  </a:extLst>
                </p:cNvPr>
                <p:cNvSpPr/>
                <p:nvPr/>
              </p:nvSpPr>
              <p:spPr>
                <a:xfrm flipV="1">
                  <a:off x="4866477" y="2028842"/>
                  <a:ext cx="540353" cy="45719"/>
                </a:xfrm>
                <a:prstGeom prst="rect">
                  <a:avLst/>
                </a:prstGeom>
                <a:solidFill>
                  <a:sysClr val="window" lastClr="FFFFFF">
                    <a:lumMod val="75000"/>
                  </a:sysClr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</p:grpSp>
        </p:grp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D4C3FA68-216B-4334-8EAD-6044CD951CE5}"/>
                </a:ext>
              </a:extLst>
            </p:cNvPr>
            <p:cNvSpPr txBox="1"/>
            <p:nvPr/>
          </p:nvSpPr>
          <p:spPr>
            <a:xfrm>
              <a:off x="8054952" y="2546514"/>
              <a:ext cx="3884397" cy="1061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天津工业大学纺织科学与工程系博士</a:t>
              </a:r>
              <a:endParaRPr lang="en-US" altLang="zh-CN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清华大学医疗新技术研究室滤材研发负责人</a:t>
              </a:r>
              <a:endParaRPr lang="en-US" altLang="zh-CN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从事滤材研发工作</a:t>
              </a:r>
              <a:r>
                <a:rPr lang="en-US" altLang="zh-CN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endParaRPr lang="en-US" altLang="zh-CN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4" name="图片 103">
              <a:extLst>
                <a:ext uri="{FF2B5EF4-FFF2-40B4-BE49-F238E27FC236}">
                  <a16:creationId xmlns:a16="http://schemas.microsoft.com/office/drawing/2014/main" id="{59F85A4F-0A37-450E-ABD3-2BB1C0C54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821779"/>
              <a:ext cx="1800000" cy="1800000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04EB0C9-BE62-42A0-B646-CC9209B77B1B}"/>
              </a:ext>
            </a:extLst>
          </p:cNvPr>
          <p:cNvGrpSpPr/>
          <p:nvPr/>
        </p:nvGrpSpPr>
        <p:grpSpPr>
          <a:xfrm>
            <a:off x="6127508" y="3887312"/>
            <a:ext cx="5723986" cy="2211342"/>
            <a:chOff x="6157488" y="4232082"/>
            <a:chExt cx="5723986" cy="2211342"/>
          </a:xfrm>
        </p:grpSpPr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EC27395A-3DEB-4FB3-BEBD-AE8AA417D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4616" y="5471424"/>
              <a:ext cx="981384" cy="972000"/>
            </a:xfrm>
            <a:prstGeom prst="rect">
              <a:avLst/>
            </a:prstGeom>
          </p:spPr>
        </p:pic>
        <p:grpSp>
          <p:nvGrpSpPr>
            <p:cNvPr id="93" name="Group 1">
              <a:extLst>
                <a:ext uri="{FF2B5EF4-FFF2-40B4-BE49-F238E27FC236}">
                  <a16:creationId xmlns:a16="http://schemas.microsoft.com/office/drawing/2014/main" id="{2850EBB1-3816-4CB0-A71C-E130E9D67500}"/>
                </a:ext>
              </a:extLst>
            </p:cNvPr>
            <p:cNvGrpSpPr/>
            <p:nvPr/>
          </p:nvGrpSpPr>
          <p:grpSpPr>
            <a:xfrm>
              <a:off x="9153099" y="4232082"/>
              <a:ext cx="1972219" cy="714092"/>
              <a:chOff x="1859070" y="7374266"/>
              <a:chExt cx="3944438" cy="1428183"/>
            </a:xfrm>
          </p:grpSpPr>
          <p:sp>
            <p:nvSpPr>
              <p:cNvPr id="94" name="Content Placeholder 2">
                <a:extLst>
                  <a:ext uri="{FF2B5EF4-FFF2-40B4-BE49-F238E27FC236}">
                    <a16:creationId xmlns:a16="http://schemas.microsoft.com/office/drawing/2014/main" id="{0A2EAB3F-5660-4BE1-93D8-FFC5DC41048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984918" y="7374266"/>
                <a:ext cx="3648182" cy="790917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4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1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zh-CN" altLang="en-US" sz="21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Regular"/>
                  </a:rPr>
                  <a:t>技术团队</a:t>
                </a:r>
                <a:endParaRPr kumimoji="0" lang="en-US" sz="215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Regular"/>
                </a:endParaRPr>
              </a:p>
            </p:txBody>
          </p:sp>
          <p:sp>
            <p:nvSpPr>
              <p:cNvPr id="95" name="Content Placeholder 2">
                <a:extLst>
                  <a:ext uri="{FF2B5EF4-FFF2-40B4-BE49-F238E27FC236}">
                    <a16:creationId xmlns:a16="http://schemas.microsoft.com/office/drawing/2014/main" id="{8589CE49-AF6C-4440-BDB1-45352ED7219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859070" y="8291338"/>
                <a:ext cx="3944438" cy="511111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4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1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Light"/>
                  </a:rPr>
                  <a:t>（兼职）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endParaRPr>
              </a:p>
            </p:txBody>
          </p:sp>
          <p:grpSp>
            <p:nvGrpSpPr>
              <p:cNvPr id="96" name="Group 79">
                <a:extLst>
                  <a:ext uri="{FF2B5EF4-FFF2-40B4-BE49-F238E27FC236}">
                    <a16:creationId xmlns:a16="http://schemas.microsoft.com/office/drawing/2014/main" id="{C5276054-699B-4B39-88A8-D067D7FE581A}"/>
                  </a:ext>
                </a:extLst>
              </p:cNvPr>
              <p:cNvGrpSpPr/>
              <p:nvPr/>
            </p:nvGrpSpPr>
            <p:grpSpPr>
              <a:xfrm>
                <a:off x="2442341" y="8203744"/>
                <a:ext cx="2738812" cy="73150"/>
                <a:chOff x="1775295" y="2028842"/>
                <a:chExt cx="3631535" cy="45719"/>
              </a:xfrm>
            </p:grpSpPr>
            <p:sp>
              <p:nvSpPr>
                <p:cNvPr id="97" name="Rectangle 80">
                  <a:extLst>
                    <a:ext uri="{FF2B5EF4-FFF2-40B4-BE49-F238E27FC236}">
                      <a16:creationId xmlns:a16="http://schemas.microsoft.com/office/drawing/2014/main" id="{ACFAA6DC-1CCF-4845-B30C-25D458F5B008}"/>
                    </a:ext>
                  </a:extLst>
                </p:cNvPr>
                <p:cNvSpPr/>
                <p:nvPr/>
              </p:nvSpPr>
              <p:spPr>
                <a:xfrm flipV="1">
                  <a:off x="1775295" y="2028842"/>
                  <a:ext cx="540353" cy="45719"/>
                </a:xfrm>
                <a:prstGeom prst="rect">
                  <a:avLst/>
                </a:prstGeom>
                <a:solidFill>
                  <a:srgbClr val="1EA185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98" name="Rectangle 81">
                  <a:extLst>
                    <a:ext uri="{FF2B5EF4-FFF2-40B4-BE49-F238E27FC236}">
                      <a16:creationId xmlns:a16="http://schemas.microsoft.com/office/drawing/2014/main" id="{46E4FB7D-881E-45DA-A18F-BF441761B602}"/>
                    </a:ext>
                  </a:extLst>
                </p:cNvPr>
                <p:cNvSpPr/>
                <p:nvPr/>
              </p:nvSpPr>
              <p:spPr>
                <a:xfrm flipV="1">
                  <a:off x="2390858" y="2028842"/>
                  <a:ext cx="540353" cy="45719"/>
                </a:xfrm>
                <a:prstGeom prst="rect">
                  <a:avLst/>
                </a:prstGeom>
                <a:solidFill>
                  <a:srgbClr val="9BBB5C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99" name="Rectangle 82">
                  <a:extLst>
                    <a:ext uri="{FF2B5EF4-FFF2-40B4-BE49-F238E27FC236}">
                      <a16:creationId xmlns:a16="http://schemas.microsoft.com/office/drawing/2014/main" id="{84D81AFE-5AE0-4049-B694-F11B278602CA}"/>
                    </a:ext>
                  </a:extLst>
                </p:cNvPr>
                <p:cNvSpPr/>
                <p:nvPr/>
              </p:nvSpPr>
              <p:spPr>
                <a:xfrm flipV="1">
                  <a:off x="3025596" y="2028842"/>
                  <a:ext cx="540353" cy="45719"/>
                </a:xfrm>
                <a:prstGeom prst="rect">
                  <a:avLst/>
                </a:prstGeom>
                <a:solidFill>
                  <a:srgbClr val="F29B26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100" name="Rectangle 83">
                  <a:extLst>
                    <a:ext uri="{FF2B5EF4-FFF2-40B4-BE49-F238E27FC236}">
                      <a16:creationId xmlns:a16="http://schemas.microsoft.com/office/drawing/2014/main" id="{8F205ABF-0475-4958-BDE3-967BA0F97D63}"/>
                    </a:ext>
                  </a:extLst>
                </p:cNvPr>
                <p:cNvSpPr/>
                <p:nvPr/>
              </p:nvSpPr>
              <p:spPr>
                <a:xfrm flipV="1">
                  <a:off x="3641289" y="2028842"/>
                  <a:ext cx="540353" cy="45719"/>
                </a:xfrm>
                <a:prstGeom prst="rect">
                  <a:avLst/>
                </a:prstGeom>
                <a:solidFill>
                  <a:srgbClr val="BD392F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101" name="Rectangle 84">
                  <a:extLst>
                    <a:ext uri="{FF2B5EF4-FFF2-40B4-BE49-F238E27FC236}">
                      <a16:creationId xmlns:a16="http://schemas.microsoft.com/office/drawing/2014/main" id="{E23E2754-981D-4C4D-A3E2-43440F057D61}"/>
                    </a:ext>
                  </a:extLst>
                </p:cNvPr>
                <p:cNvSpPr/>
                <p:nvPr/>
              </p:nvSpPr>
              <p:spPr>
                <a:xfrm flipV="1">
                  <a:off x="4256852" y="2028842"/>
                  <a:ext cx="540353" cy="45719"/>
                </a:xfrm>
                <a:prstGeom prst="rect">
                  <a:avLst/>
                </a:prstGeom>
                <a:solidFill>
                  <a:srgbClr val="445469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102" name="Rectangle 85">
                  <a:extLst>
                    <a:ext uri="{FF2B5EF4-FFF2-40B4-BE49-F238E27FC236}">
                      <a16:creationId xmlns:a16="http://schemas.microsoft.com/office/drawing/2014/main" id="{C2C8E6C1-3C4A-42D4-9F6D-30BD55050F46}"/>
                    </a:ext>
                  </a:extLst>
                </p:cNvPr>
                <p:cNvSpPr/>
                <p:nvPr/>
              </p:nvSpPr>
              <p:spPr>
                <a:xfrm flipV="1">
                  <a:off x="4866477" y="2028842"/>
                  <a:ext cx="540353" cy="45719"/>
                </a:xfrm>
                <a:prstGeom prst="rect">
                  <a:avLst/>
                </a:prstGeom>
                <a:solidFill>
                  <a:sysClr val="window" lastClr="FFFFFF">
                    <a:lumMod val="75000"/>
                  </a:sysClr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</p:grpSp>
        </p:grp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CA7BB9F-A471-44EC-AC4C-7F02BB6C1B36}"/>
                </a:ext>
              </a:extLst>
            </p:cNvPr>
            <p:cNvSpPr txBox="1"/>
            <p:nvPr/>
          </p:nvSpPr>
          <p:spPr>
            <a:xfrm>
              <a:off x="8054952" y="4940510"/>
              <a:ext cx="370486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清华大学工程物理系研发团队</a:t>
              </a:r>
              <a:endParaRPr lang="en-US" altLang="zh-CN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天津工业大学纺织科学与工程系研发团队</a:t>
              </a:r>
              <a:endParaRPr lang="en-US" altLang="zh-CN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E363ACD7-46BD-42F6-89C8-00311447289A}"/>
                </a:ext>
              </a:extLst>
            </p:cNvPr>
            <p:cNvSpPr/>
            <p:nvPr/>
          </p:nvSpPr>
          <p:spPr>
            <a:xfrm>
              <a:off x="8077200" y="5649646"/>
              <a:ext cx="3804274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团队专注于驻极工艺设计研发、实时驻极技术及效率研发、高效驻极阵型排布方案研发</a:t>
              </a:r>
            </a:p>
          </p:txBody>
        </p:sp>
        <p:pic>
          <p:nvPicPr>
            <p:cNvPr id="106" name="图片 105">
              <a:extLst>
                <a:ext uri="{FF2B5EF4-FFF2-40B4-BE49-F238E27FC236}">
                  <a16:creationId xmlns:a16="http://schemas.microsoft.com/office/drawing/2014/main" id="{C946ABC1-8E4F-4818-9EB0-5FBC1F1449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47" t="13705" r="11490" b="11169"/>
            <a:stretch/>
          </p:blipFill>
          <p:spPr>
            <a:xfrm>
              <a:off x="6157488" y="4454510"/>
              <a:ext cx="979659" cy="972000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8533673-D0EB-4FD9-A528-2C33A13133D4}"/>
              </a:ext>
            </a:extLst>
          </p:cNvPr>
          <p:cNvGrpSpPr/>
          <p:nvPr/>
        </p:nvGrpSpPr>
        <p:grpSpPr>
          <a:xfrm>
            <a:off x="645997" y="4085041"/>
            <a:ext cx="5347041" cy="1800000"/>
            <a:chOff x="675977" y="4429811"/>
            <a:chExt cx="5347041" cy="1800000"/>
          </a:xfrm>
        </p:grpSpPr>
        <p:grpSp>
          <p:nvGrpSpPr>
            <p:cNvPr id="68" name="Group 104">
              <a:extLst>
                <a:ext uri="{FF2B5EF4-FFF2-40B4-BE49-F238E27FC236}">
                  <a16:creationId xmlns:a16="http://schemas.microsoft.com/office/drawing/2014/main" id="{1525E5DB-2745-4EC2-9CAB-0311AB26BAD1}"/>
                </a:ext>
              </a:extLst>
            </p:cNvPr>
            <p:cNvGrpSpPr/>
            <p:nvPr/>
          </p:nvGrpSpPr>
          <p:grpSpPr>
            <a:xfrm>
              <a:off x="2612691" y="4435910"/>
              <a:ext cx="2923013" cy="714092"/>
              <a:chOff x="858724" y="7374267"/>
              <a:chExt cx="5846026" cy="1428184"/>
            </a:xfrm>
          </p:grpSpPr>
          <p:sp>
            <p:nvSpPr>
              <p:cNvPr id="69" name="Content Placeholder 2">
                <a:extLst>
                  <a:ext uri="{FF2B5EF4-FFF2-40B4-BE49-F238E27FC236}">
                    <a16:creationId xmlns:a16="http://schemas.microsoft.com/office/drawing/2014/main" id="{02B3C4CB-543E-47D8-8A65-4262D8BD8F8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58724" y="7374267"/>
                <a:ext cx="5846026" cy="611716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4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1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zh-CN" altLang="en-US" sz="21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Regular"/>
                  </a:rPr>
                  <a:t>郭兴</a:t>
                </a:r>
                <a:endParaRPr kumimoji="0" lang="en-US" sz="215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Regular"/>
                </a:endParaRPr>
              </a:p>
            </p:txBody>
          </p:sp>
          <p:sp>
            <p:nvSpPr>
              <p:cNvPr id="70" name="Content Placeholder 2">
                <a:extLst>
                  <a:ext uri="{FF2B5EF4-FFF2-40B4-BE49-F238E27FC236}">
                    <a16:creationId xmlns:a16="http://schemas.microsoft.com/office/drawing/2014/main" id="{B1F5F316-0E93-405F-B0D2-BF94BF0D1AB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272346" y="8291339"/>
                <a:ext cx="4991876" cy="511112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4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1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Light"/>
                  </a:rPr>
                  <a:t>财务顾问（兼职）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endParaRPr>
              </a:p>
            </p:txBody>
          </p:sp>
          <p:grpSp>
            <p:nvGrpSpPr>
              <p:cNvPr id="71" name="Group 108">
                <a:extLst>
                  <a:ext uri="{FF2B5EF4-FFF2-40B4-BE49-F238E27FC236}">
                    <a16:creationId xmlns:a16="http://schemas.microsoft.com/office/drawing/2014/main" id="{EF07CB5F-76DE-42F2-A999-6F515012E9E4}"/>
                  </a:ext>
                </a:extLst>
              </p:cNvPr>
              <p:cNvGrpSpPr/>
              <p:nvPr/>
            </p:nvGrpSpPr>
            <p:grpSpPr>
              <a:xfrm>
                <a:off x="2442341" y="8203744"/>
                <a:ext cx="2738812" cy="73150"/>
                <a:chOff x="1775295" y="2028842"/>
                <a:chExt cx="3631535" cy="45719"/>
              </a:xfrm>
            </p:grpSpPr>
            <p:sp>
              <p:nvSpPr>
                <p:cNvPr id="72" name="Rectangle 109">
                  <a:extLst>
                    <a:ext uri="{FF2B5EF4-FFF2-40B4-BE49-F238E27FC236}">
                      <a16:creationId xmlns:a16="http://schemas.microsoft.com/office/drawing/2014/main" id="{1C6C06AA-732E-4797-AE93-71BBEDE1C082}"/>
                    </a:ext>
                  </a:extLst>
                </p:cNvPr>
                <p:cNvSpPr/>
                <p:nvPr/>
              </p:nvSpPr>
              <p:spPr>
                <a:xfrm flipV="1">
                  <a:off x="1775295" y="2028842"/>
                  <a:ext cx="540353" cy="45719"/>
                </a:xfrm>
                <a:prstGeom prst="rect">
                  <a:avLst/>
                </a:prstGeom>
                <a:solidFill>
                  <a:srgbClr val="1EA185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73" name="Rectangle 110">
                  <a:extLst>
                    <a:ext uri="{FF2B5EF4-FFF2-40B4-BE49-F238E27FC236}">
                      <a16:creationId xmlns:a16="http://schemas.microsoft.com/office/drawing/2014/main" id="{994068BA-DD3E-40E4-88A1-A753917685F2}"/>
                    </a:ext>
                  </a:extLst>
                </p:cNvPr>
                <p:cNvSpPr/>
                <p:nvPr/>
              </p:nvSpPr>
              <p:spPr>
                <a:xfrm flipV="1">
                  <a:off x="2390858" y="2028842"/>
                  <a:ext cx="540353" cy="45719"/>
                </a:xfrm>
                <a:prstGeom prst="rect">
                  <a:avLst/>
                </a:prstGeom>
                <a:solidFill>
                  <a:srgbClr val="9BBB5C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74" name="Rectangle 111">
                  <a:extLst>
                    <a:ext uri="{FF2B5EF4-FFF2-40B4-BE49-F238E27FC236}">
                      <a16:creationId xmlns:a16="http://schemas.microsoft.com/office/drawing/2014/main" id="{BAC4A3DB-133A-4AE3-B5C1-4E5C6AC79345}"/>
                    </a:ext>
                  </a:extLst>
                </p:cNvPr>
                <p:cNvSpPr/>
                <p:nvPr/>
              </p:nvSpPr>
              <p:spPr>
                <a:xfrm flipV="1">
                  <a:off x="3025596" y="2028842"/>
                  <a:ext cx="540353" cy="45719"/>
                </a:xfrm>
                <a:prstGeom prst="rect">
                  <a:avLst/>
                </a:prstGeom>
                <a:solidFill>
                  <a:srgbClr val="F29B26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75" name="Rectangle 112">
                  <a:extLst>
                    <a:ext uri="{FF2B5EF4-FFF2-40B4-BE49-F238E27FC236}">
                      <a16:creationId xmlns:a16="http://schemas.microsoft.com/office/drawing/2014/main" id="{AEDF528F-7337-4412-B766-24A0184D6550}"/>
                    </a:ext>
                  </a:extLst>
                </p:cNvPr>
                <p:cNvSpPr/>
                <p:nvPr/>
              </p:nvSpPr>
              <p:spPr>
                <a:xfrm flipV="1">
                  <a:off x="3641289" y="2028842"/>
                  <a:ext cx="540353" cy="45719"/>
                </a:xfrm>
                <a:prstGeom prst="rect">
                  <a:avLst/>
                </a:prstGeom>
                <a:solidFill>
                  <a:srgbClr val="BD392F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76" name="Rectangle 113">
                  <a:extLst>
                    <a:ext uri="{FF2B5EF4-FFF2-40B4-BE49-F238E27FC236}">
                      <a16:creationId xmlns:a16="http://schemas.microsoft.com/office/drawing/2014/main" id="{DBE2FF69-AAF8-4465-AA8D-D67321132AA6}"/>
                    </a:ext>
                  </a:extLst>
                </p:cNvPr>
                <p:cNvSpPr/>
                <p:nvPr/>
              </p:nvSpPr>
              <p:spPr>
                <a:xfrm flipV="1">
                  <a:off x="4256852" y="2028842"/>
                  <a:ext cx="540353" cy="45719"/>
                </a:xfrm>
                <a:prstGeom prst="rect">
                  <a:avLst/>
                </a:prstGeom>
                <a:solidFill>
                  <a:srgbClr val="445469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77" name="Rectangle 114">
                  <a:extLst>
                    <a:ext uri="{FF2B5EF4-FFF2-40B4-BE49-F238E27FC236}">
                      <a16:creationId xmlns:a16="http://schemas.microsoft.com/office/drawing/2014/main" id="{99353A30-478A-4E84-ADE2-F25994D8C82F}"/>
                    </a:ext>
                  </a:extLst>
                </p:cNvPr>
                <p:cNvSpPr/>
                <p:nvPr/>
              </p:nvSpPr>
              <p:spPr>
                <a:xfrm flipV="1">
                  <a:off x="4866477" y="2028842"/>
                  <a:ext cx="540353" cy="45719"/>
                </a:xfrm>
                <a:prstGeom prst="rect">
                  <a:avLst/>
                </a:prstGeom>
                <a:solidFill>
                  <a:sysClr val="window" lastClr="FFFFFF">
                    <a:lumMod val="75000"/>
                  </a:sysClr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21899" tIns="60950" rIns="121899" bIns="60950" rtlCol="0" anchor="ctr"/>
                <a:lstStyle/>
                <a:p>
                  <a:pPr marL="0" marR="0" lvl="0" indent="0" algn="ctr" defTabSz="91421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</p:grpSp>
        </p:grp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48F887C-A5CD-4080-A7DC-DA19F1A7FE75}"/>
                </a:ext>
              </a:extLst>
            </p:cNvPr>
            <p:cNvSpPr txBox="1"/>
            <p:nvPr/>
          </p:nvSpPr>
          <p:spPr>
            <a:xfrm>
              <a:off x="2311536" y="5144338"/>
              <a:ext cx="3711482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天津大学过程装备与控制工程系本科</a:t>
              </a:r>
              <a:endParaRPr lang="en-US" altLang="zh-CN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多年金融从业经验，曾于九鼎任投资经理</a:t>
              </a:r>
              <a:endParaRPr lang="en-US" altLang="zh-CN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中国电动汽车百人会双创中心投资经理</a:t>
              </a:r>
              <a:endParaRPr lang="en-US" altLang="zh-CN" sz="1400" dirty="0">
                <a:solidFill>
                  <a:srgbClr val="44546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3654CB96-F1A9-426E-A7B1-CD845C2E2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977" y="4429811"/>
              <a:ext cx="1279279" cy="18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9097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8B62CB-8BE2-42F8-9745-5F9C7192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1797-A8F3-4EBB-BDAE-1C36E29571A6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BF4E44-389B-4929-9AFB-CF76260E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1927334-B45A-4C13-AB5F-63CFD3760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壁垒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F178B98-CB6F-42A2-8F49-B1D45CE43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470880"/>
            <a:ext cx="4258762" cy="306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EE27C60B-3354-4B47-A165-CF5B6703105C}"/>
              </a:ext>
            </a:extLst>
          </p:cNvPr>
          <p:cNvGrpSpPr/>
          <p:nvPr/>
        </p:nvGrpSpPr>
        <p:grpSpPr>
          <a:xfrm>
            <a:off x="7294977" y="4611857"/>
            <a:ext cx="4756948" cy="1538449"/>
            <a:chOff x="7911917" y="4509140"/>
            <a:chExt cx="4756948" cy="1538449"/>
          </a:xfrm>
        </p:grpSpPr>
        <p:grpSp>
          <p:nvGrpSpPr>
            <p:cNvPr id="24" name="Group 15">
              <a:extLst>
                <a:ext uri="{FF2B5EF4-FFF2-40B4-BE49-F238E27FC236}">
                  <a16:creationId xmlns:a16="http://schemas.microsoft.com/office/drawing/2014/main" id="{AE15920F-1E26-4C8F-9C3C-D46D4FE7944F}"/>
                </a:ext>
              </a:extLst>
            </p:cNvPr>
            <p:cNvGrpSpPr/>
            <p:nvPr/>
          </p:nvGrpSpPr>
          <p:grpSpPr>
            <a:xfrm>
              <a:off x="7911917" y="4995975"/>
              <a:ext cx="4756948" cy="1051614"/>
              <a:chOff x="7912390" y="5185355"/>
              <a:chExt cx="4758187" cy="1051614"/>
            </a:xfrm>
          </p:grpSpPr>
          <p:sp>
            <p:nvSpPr>
              <p:cNvPr id="26" name="TextBox 17">
                <a:extLst>
                  <a:ext uri="{FF2B5EF4-FFF2-40B4-BE49-F238E27FC236}">
                    <a16:creationId xmlns:a16="http://schemas.microsoft.com/office/drawing/2014/main" id="{C711E330-AB1B-4CDD-B7F8-A951F2C3EB45}"/>
                  </a:ext>
                </a:extLst>
              </p:cNvPr>
              <p:cNvSpPr txBox="1"/>
              <p:nvPr/>
            </p:nvSpPr>
            <p:spPr>
              <a:xfrm>
                <a:off x="9378179" y="5185355"/>
                <a:ext cx="18266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资本资源</a:t>
                </a:r>
                <a:endParaRPr kumimoji="0" lang="id-ID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" name="TextBox 18">
                <a:extLst>
                  <a:ext uri="{FF2B5EF4-FFF2-40B4-BE49-F238E27FC236}">
                    <a16:creationId xmlns:a16="http://schemas.microsoft.com/office/drawing/2014/main" id="{5AD4C651-C6C1-4F6F-9924-45F8C561629E}"/>
                  </a:ext>
                </a:extLst>
              </p:cNvPr>
              <p:cNvSpPr txBox="1"/>
              <p:nvPr/>
            </p:nvSpPr>
            <p:spPr>
              <a:xfrm>
                <a:off x="7912390" y="5737345"/>
                <a:ext cx="4758187" cy="499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ctr" defTabSz="914217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u"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Light"/>
                  </a:rPr>
                  <a:t>多家基金公司关注中</a:t>
                </a:r>
                <a:endPara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endParaRPr>
              </a:p>
            </p:txBody>
          </p:sp>
        </p:grpSp>
        <p:sp>
          <p:nvSpPr>
            <p:cNvPr id="25" name="Freeform 35">
              <a:extLst>
                <a:ext uri="{FF2B5EF4-FFF2-40B4-BE49-F238E27FC236}">
                  <a16:creationId xmlns:a16="http://schemas.microsoft.com/office/drawing/2014/main" id="{6278973E-1E3C-4F56-9199-B3AD095CC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2638" y="4509140"/>
              <a:ext cx="355507" cy="486835"/>
            </a:xfrm>
            <a:custGeom>
              <a:avLst/>
              <a:gdLst>
                <a:gd name="T0" fmla="*/ 54708 w 39"/>
                <a:gd name="T1" fmla="*/ 182563 h 53"/>
                <a:gd name="T2" fmla="*/ 51288 w 39"/>
                <a:gd name="T3" fmla="*/ 179118 h 53"/>
                <a:gd name="T4" fmla="*/ 51288 w 39"/>
                <a:gd name="T5" fmla="*/ 134339 h 53"/>
                <a:gd name="T6" fmla="*/ 13677 w 39"/>
                <a:gd name="T7" fmla="*/ 134339 h 53"/>
                <a:gd name="T8" fmla="*/ 10258 w 39"/>
                <a:gd name="T9" fmla="*/ 130894 h 53"/>
                <a:gd name="T10" fmla="*/ 10258 w 39"/>
                <a:gd name="T11" fmla="*/ 117116 h 53"/>
                <a:gd name="T12" fmla="*/ 13677 w 39"/>
                <a:gd name="T13" fmla="*/ 113671 h 53"/>
                <a:gd name="T14" fmla="*/ 51288 w 39"/>
                <a:gd name="T15" fmla="*/ 113671 h 53"/>
                <a:gd name="T16" fmla="*/ 51288 w 39"/>
                <a:gd name="T17" fmla="*/ 103338 h 53"/>
                <a:gd name="T18" fmla="*/ 13677 w 39"/>
                <a:gd name="T19" fmla="*/ 103338 h 53"/>
                <a:gd name="T20" fmla="*/ 10258 w 39"/>
                <a:gd name="T21" fmla="*/ 96448 h 53"/>
                <a:gd name="T22" fmla="*/ 10258 w 39"/>
                <a:gd name="T23" fmla="*/ 86115 h 53"/>
                <a:gd name="T24" fmla="*/ 13677 w 39"/>
                <a:gd name="T25" fmla="*/ 79225 h 53"/>
                <a:gd name="T26" fmla="*/ 41031 w 39"/>
                <a:gd name="T27" fmla="*/ 79225 h 53"/>
                <a:gd name="T28" fmla="*/ 0 w 39"/>
                <a:gd name="T29" fmla="*/ 3445 h 53"/>
                <a:gd name="T30" fmla="*/ 0 w 39"/>
                <a:gd name="T31" fmla="*/ 0 h 53"/>
                <a:gd name="T32" fmla="*/ 3419 w 39"/>
                <a:gd name="T33" fmla="*/ 0 h 53"/>
                <a:gd name="T34" fmla="*/ 27354 w 39"/>
                <a:gd name="T35" fmla="*/ 0 h 53"/>
                <a:gd name="T36" fmla="*/ 30773 w 39"/>
                <a:gd name="T37" fmla="*/ 0 h 53"/>
                <a:gd name="T38" fmla="*/ 61546 w 39"/>
                <a:gd name="T39" fmla="*/ 55113 h 53"/>
                <a:gd name="T40" fmla="*/ 68385 w 39"/>
                <a:gd name="T41" fmla="*/ 72336 h 53"/>
                <a:gd name="T42" fmla="*/ 75223 w 39"/>
                <a:gd name="T43" fmla="*/ 55113 h 53"/>
                <a:gd name="T44" fmla="*/ 99158 w 39"/>
                <a:gd name="T45" fmla="*/ 0 h 53"/>
                <a:gd name="T46" fmla="*/ 102577 w 39"/>
                <a:gd name="T47" fmla="*/ 0 h 53"/>
                <a:gd name="T48" fmla="*/ 129931 w 39"/>
                <a:gd name="T49" fmla="*/ 0 h 53"/>
                <a:gd name="T50" fmla="*/ 133350 w 39"/>
                <a:gd name="T51" fmla="*/ 0 h 53"/>
                <a:gd name="T52" fmla="*/ 133350 w 39"/>
                <a:gd name="T53" fmla="*/ 3445 h 53"/>
                <a:gd name="T54" fmla="*/ 92319 w 39"/>
                <a:gd name="T55" fmla="*/ 79225 h 53"/>
                <a:gd name="T56" fmla="*/ 119673 w 39"/>
                <a:gd name="T57" fmla="*/ 79225 h 53"/>
                <a:gd name="T58" fmla="*/ 123092 w 39"/>
                <a:gd name="T59" fmla="*/ 86115 h 53"/>
                <a:gd name="T60" fmla="*/ 123092 w 39"/>
                <a:gd name="T61" fmla="*/ 96448 h 53"/>
                <a:gd name="T62" fmla="*/ 119673 w 39"/>
                <a:gd name="T63" fmla="*/ 103338 h 53"/>
                <a:gd name="T64" fmla="*/ 82062 w 39"/>
                <a:gd name="T65" fmla="*/ 103338 h 53"/>
                <a:gd name="T66" fmla="*/ 82062 w 39"/>
                <a:gd name="T67" fmla="*/ 113671 h 53"/>
                <a:gd name="T68" fmla="*/ 119673 w 39"/>
                <a:gd name="T69" fmla="*/ 113671 h 53"/>
                <a:gd name="T70" fmla="*/ 123092 w 39"/>
                <a:gd name="T71" fmla="*/ 117116 h 53"/>
                <a:gd name="T72" fmla="*/ 123092 w 39"/>
                <a:gd name="T73" fmla="*/ 130894 h 53"/>
                <a:gd name="T74" fmla="*/ 119673 w 39"/>
                <a:gd name="T75" fmla="*/ 134339 h 53"/>
                <a:gd name="T76" fmla="*/ 82062 w 39"/>
                <a:gd name="T77" fmla="*/ 134339 h 53"/>
                <a:gd name="T78" fmla="*/ 82062 w 39"/>
                <a:gd name="T79" fmla="*/ 179118 h 53"/>
                <a:gd name="T80" fmla="*/ 78642 w 39"/>
                <a:gd name="T81" fmla="*/ 182563 h 53"/>
                <a:gd name="T82" fmla="*/ 54708 w 39"/>
                <a:gd name="T83" fmla="*/ 182563 h 5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9" h="53">
                  <a:moveTo>
                    <a:pt x="16" y="53"/>
                  </a:moveTo>
                  <a:cubicBezTo>
                    <a:pt x="15" y="53"/>
                    <a:pt x="15" y="52"/>
                    <a:pt x="15" y="5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3" y="39"/>
                    <a:pt x="3" y="39"/>
                    <a:pt x="3" y="38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3" y="33"/>
                    <a:pt x="3" y="33"/>
                    <a:pt x="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3" y="30"/>
                    <a:pt x="3" y="29"/>
                    <a:pt x="3" y="28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4"/>
                    <a:pt x="3" y="23"/>
                    <a:pt x="4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9" y="18"/>
                    <a:pt x="19" y="20"/>
                    <a:pt x="20" y="21"/>
                  </a:cubicBezTo>
                  <a:cubicBezTo>
                    <a:pt x="20" y="19"/>
                    <a:pt x="21" y="18"/>
                    <a:pt x="22" y="16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30" y="0"/>
                    <a:pt x="3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0"/>
                    <a:pt x="38" y="0"/>
                    <a:pt x="39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6" y="23"/>
                    <a:pt x="36" y="24"/>
                    <a:pt x="36" y="25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29"/>
                    <a:pt x="36" y="30"/>
                    <a:pt x="3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6" y="33"/>
                    <a:pt x="36" y="33"/>
                    <a:pt x="36" y="34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9"/>
                    <a:pt x="36" y="39"/>
                    <a:pt x="35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52"/>
                    <a:pt x="23" y="53"/>
                    <a:pt x="23" y="53"/>
                  </a:cubicBezTo>
                  <a:lnTo>
                    <a:pt x="16" y="53"/>
                  </a:lnTo>
                  <a:close/>
                </a:path>
              </a:pathLst>
            </a:custGeom>
            <a:solidFill>
              <a:srgbClr val="44546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25400" tIns="25400" rIns="25400" bIns="25400" anchor="ctr"/>
            <a:lstStyle/>
            <a:p>
              <a:pPr marL="0" marR="0" lvl="0" indent="0" defTabSz="45709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C3367F7-9FEA-4BA1-8E46-584AD73750B9}"/>
              </a:ext>
            </a:extLst>
          </p:cNvPr>
          <p:cNvGrpSpPr/>
          <p:nvPr/>
        </p:nvGrpSpPr>
        <p:grpSpPr>
          <a:xfrm>
            <a:off x="60445" y="4125652"/>
            <a:ext cx="4511555" cy="2661148"/>
            <a:chOff x="0" y="4330138"/>
            <a:chExt cx="4511555" cy="2661148"/>
          </a:xfrm>
        </p:grpSpPr>
        <p:grpSp>
          <p:nvGrpSpPr>
            <p:cNvPr id="29" name="Group 14">
              <a:extLst>
                <a:ext uri="{FF2B5EF4-FFF2-40B4-BE49-F238E27FC236}">
                  <a16:creationId xmlns:a16="http://schemas.microsoft.com/office/drawing/2014/main" id="{7762547E-03D9-4F87-BA95-FCC0128A12D8}"/>
                </a:ext>
              </a:extLst>
            </p:cNvPr>
            <p:cNvGrpSpPr/>
            <p:nvPr/>
          </p:nvGrpSpPr>
          <p:grpSpPr>
            <a:xfrm>
              <a:off x="0" y="4952439"/>
              <a:ext cx="4511555" cy="2038847"/>
              <a:chOff x="46450" y="5141818"/>
              <a:chExt cx="4512729" cy="2038847"/>
            </a:xfrm>
          </p:grpSpPr>
          <p:sp>
            <p:nvSpPr>
              <p:cNvPr id="31" name="TextBox 19">
                <a:extLst>
                  <a:ext uri="{FF2B5EF4-FFF2-40B4-BE49-F238E27FC236}">
                    <a16:creationId xmlns:a16="http://schemas.microsoft.com/office/drawing/2014/main" id="{C15387EE-8C6F-47D0-BA56-F3CD66E4C721}"/>
                  </a:ext>
                </a:extLst>
              </p:cNvPr>
              <p:cNvSpPr txBox="1"/>
              <p:nvPr/>
            </p:nvSpPr>
            <p:spPr>
              <a:xfrm>
                <a:off x="1241489" y="5141818"/>
                <a:ext cx="18266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行业资源</a:t>
                </a:r>
                <a:endParaRPr kumimoji="0" lang="id-ID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" name="TextBox 20">
                <a:extLst>
                  <a:ext uri="{FF2B5EF4-FFF2-40B4-BE49-F238E27FC236}">
                    <a16:creationId xmlns:a16="http://schemas.microsoft.com/office/drawing/2014/main" id="{3650A8FF-0798-4DEB-A45C-5A2AB2777A17}"/>
                  </a:ext>
                </a:extLst>
              </p:cNvPr>
              <p:cNvSpPr txBox="1"/>
              <p:nvPr/>
            </p:nvSpPr>
            <p:spPr>
              <a:xfrm>
                <a:off x="46450" y="5703337"/>
                <a:ext cx="451272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ctr" defTabSz="914217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u"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Light"/>
                  </a:rPr>
                  <a:t>中国电动汽车百人会（产）</a:t>
                </a:r>
                <a:endPara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endParaRPr>
              </a:p>
              <a:p>
                <a:pPr marL="171450" marR="0" lvl="0" indent="-171450" algn="ctr" defTabSz="914217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u"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Light"/>
                  </a:rPr>
                  <a:t>中国汽车工业协会空调委员会（研）</a:t>
                </a:r>
                <a:endPara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endParaRPr>
              </a:p>
              <a:p>
                <a:pPr marL="0" marR="0" lvl="0" indent="0" algn="ctr" defTabSz="914217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endParaRPr>
              </a:p>
            </p:txBody>
          </p:sp>
        </p:grpSp>
        <p:sp>
          <p:nvSpPr>
            <p:cNvPr id="30" name="Freeform 160">
              <a:extLst>
                <a:ext uri="{FF2B5EF4-FFF2-40B4-BE49-F238E27FC236}">
                  <a16:creationId xmlns:a16="http://schemas.microsoft.com/office/drawing/2014/main" id="{BDEF137B-0B68-4E9D-B4E3-5DF8BC5E26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6845" y="4330138"/>
              <a:ext cx="715248" cy="622301"/>
            </a:xfrm>
            <a:custGeom>
              <a:avLst/>
              <a:gdLst>
                <a:gd name="T0" fmla="*/ 268288 w 78"/>
                <a:gd name="T1" fmla="*/ 144136 h 68"/>
                <a:gd name="T2" fmla="*/ 268288 w 78"/>
                <a:gd name="T3" fmla="*/ 195613 h 68"/>
                <a:gd name="T4" fmla="*/ 261409 w 78"/>
                <a:gd name="T5" fmla="*/ 199045 h 68"/>
                <a:gd name="T6" fmla="*/ 251090 w 78"/>
                <a:gd name="T7" fmla="*/ 199045 h 68"/>
                <a:gd name="T8" fmla="*/ 251090 w 78"/>
                <a:gd name="T9" fmla="*/ 205909 h 68"/>
                <a:gd name="T10" fmla="*/ 223573 w 78"/>
                <a:gd name="T11" fmla="*/ 233363 h 68"/>
                <a:gd name="T12" fmla="*/ 199496 w 78"/>
                <a:gd name="T13" fmla="*/ 205909 h 68"/>
                <a:gd name="T14" fmla="*/ 199496 w 78"/>
                <a:gd name="T15" fmla="*/ 199045 h 68"/>
                <a:gd name="T16" fmla="*/ 65352 w 78"/>
                <a:gd name="T17" fmla="*/ 199045 h 68"/>
                <a:gd name="T18" fmla="*/ 65352 w 78"/>
                <a:gd name="T19" fmla="*/ 205909 h 68"/>
                <a:gd name="T20" fmla="*/ 41275 w 78"/>
                <a:gd name="T21" fmla="*/ 233363 h 68"/>
                <a:gd name="T22" fmla="*/ 17198 w 78"/>
                <a:gd name="T23" fmla="*/ 205909 h 68"/>
                <a:gd name="T24" fmla="*/ 17198 w 78"/>
                <a:gd name="T25" fmla="*/ 199045 h 68"/>
                <a:gd name="T26" fmla="*/ 3440 w 78"/>
                <a:gd name="T27" fmla="*/ 199045 h 68"/>
                <a:gd name="T28" fmla="*/ 0 w 78"/>
                <a:gd name="T29" fmla="*/ 195613 h 68"/>
                <a:gd name="T30" fmla="*/ 0 w 78"/>
                <a:gd name="T31" fmla="*/ 144136 h 68"/>
                <a:gd name="T32" fmla="*/ 27517 w 78"/>
                <a:gd name="T33" fmla="*/ 116682 h 68"/>
                <a:gd name="T34" fmla="*/ 30956 w 78"/>
                <a:gd name="T35" fmla="*/ 116682 h 68"/>
                <a:gd name="T36" fmla="*/ 44715 w 78"/>
                <a:gd name="T37" fmla="*/ 61773 h 68"/>
                <a:gd name="T38" fmla="*/ 82550 w 78"/>
                <a:gd name="T39" fmla="*/ 30886 h 68"/>
                <a:gd name="T40" fmla="*/ 99748 w 78"/>
                <a:gd name="T41" fmla="*/ 30886 h 68"/>
                <a:gd name="T42" fmla="*/ 99748 w 78"/>
                <a:gd name="T43" fmla="*/ 3432 h 68"/>
                <a:gd name="T44" fmla="*/ 103188 w 78"/>
                <a:gd name="T45" fmla="*/ 0 h 68"/>
                <a:gd name="T46" fmla="*/ 161661 w 78"/>
                <a:gd name="T47" fmla="*/ 0 h 68"/>
                <a:gd name="T48" fmla="*/ 165100 w 78"/>
                <a:gd name="T49" fmla="*/ 3432 h 68"/>
                <a:gd name="T50" fmla="*/ 165100 w 78"/>
                <a:gd name="T51" fmla="*/ 30886 h 68"/>
                <a:gd name="T52" fmla="*/ 182298 w 78"/>
                <a:gd name="T53" fmla="*/ 30886 h 68"/>
                <a:gd name="T54" fmla="*/ 220134 w 78"/>
                <a:gd name="T55" fmla="*/ 61773 h 68"/>
                <a:gd name="T56" fmla="*/ 233892 w 78"/>
                <a:gd name="T57" fmla="*/ 116682 h 68"/>
                <a:gd name="T58" fmla="*/ 237332 w 78"/>
                <a:gd name="T59" fmla="*/ 116682 h 68"/>
                <a:gd name="T60" fmla="*/ 268288 w 78"/>
                <a:gd name="T61" fmla="*/ 144136 h 68"/>
                <a:gd name="T62" fmla="*/ 61913 w 78"/>
                <a:gd name="T63" fmla="*/ 157863 h 68"/>
                <a:gd name="T64" fmla="*/ 41275 w 78"/>
                <a:gd name="T65" fmla="*/ 137272 h 68"/>
                <a:gd name="T66" fmla="*/ 20638 w 78"/>
                <a:gd name="T67" fmla="*/ 157863 h 68"/>
                <a:gd name="T68" fmla="*/ 41275 w 78"/>
                <a:gd name="T69" fmla="*/ 178454 h 68"/>
                <a:gd name="T70" fmla="*/ 61913 w 78"/>
                <a:gd name="T71" fmla="*/ 157863 h 68"/>
                <a:gd name="T72" fmla="*/ 199496 w 78"/>
                <a:gd name="T73" fmla="*/ 116682 h 68"/>
                <a:gd name="T74" fmla="*/ 189177 w 78"/>
                <a:gd name="T75" fmla="*/ 68636 h 68"/>
                <a:gd name="T76" fmla="*/ 182298 w 78"/>
                <a:gd name="T77" fmla="*/ 65204 h 68"/>
                <a:gd name="T78" fmla="*/ 82550 w 78"/>
                <a:gd name="T79" fmla="*/ 65204 h 68"/>
                <a:gd name="T80" fmla="*/ 79111 w 78"/>
                <a:gd name="T81" fmla="*/ 68636 h 68"/>
                <a:gd name="T82" fmla="*/ 65352 w 78"/>
                <a:gd name="T83" fmla="*/ 116682 h 68"/>
                <a:gd name="T84" fmla="*/ 199496 w 78"/>
                <a:gd name="T85" fmla="*/ 116682 h 68"/>
                <a:gd name="T86" fmla="*/ 244211 w 78"/>
                <a:gd name="T87" fmla="*/ 157863 h 68"/>
                <a:gd name="T88" fmla="*/ 223573 w 78"/>
                <a:gd name="T89" fmla="*/ 137272 h 68"/>
                <a:gd name="T90" fmla="*/ 202936 w 78"/>
                <a:gd name="T91" fmla="*/ 157863 h 68"/>
                <a:gd name="T92" fmla="*/ 223573 w 78"/>
                <a:gd name="T93" fmla="*/ 178454 h 68"/>
                <a:gd name="T94" fmla="*/ 244211 w 78"/>
                <a:gd name="T95" fmla="*/ 157863 h 6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8" h="68">
                  <a:moveTo>
                    <a:pt x="78" y="42"/>
                  </a:moveTo>
                  <a:cubicBezTo>
                    <a:pt x="78" y="57"/>
                    <a:pt x="78" y="57"/>
                    <a:pt x="78" y="57"/>
                  </a:cubicBezTo>
                  <a:cubicBezTo>
                    <a:pt x="78" y="57"/>
                    <a:pt x="77" y="58"/>
                    <a:pt x="76" y="58"/>
                  </a:cubicBezTo>
                  <a:cubicBezTo>
                    <a:pt x="73" y="58"/>
                    <a:pt x="73" y="58"/>
                    <a:pt x="73" y="58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3" y="64"/>
                    <a:pt x="69" y="68"/>
                    <a:pt x="65" y="68"/>
                  </a:cubicBezTo>
                  <a:cubicBezTo>
                    <a:pt x="61" y="68"/>
                    <a:pt x="58" y="64"/>
                    <a:pt x="58" y="60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9" y="64"/>
                    <a:pt x="16" y="68"/>
                    <a:pt x="12" y="68"/>
                  </a:cubicBezTo>
                  <a:cubicBezTo>
                    <a:pt x="8" y="68"/>
                    <a:pt x="5" y="64"/>
                    <a:pt x="5" y="6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0" y="58"/>
                    <a:pt x="0" y="57"/>
                    <a:pt x="0" y="5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38"/>
                    <a:pt x="4" y="34"/>
                    <a:pt x="8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4" y="13"/>
                    <a:pt x="19" y="9"/>
                    <a:pt x="24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0"/>
                    <a:pt x="29" y="0"/>
                    <a:pt x="3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8" y="0"/>
                    <a:pt x="48" y="1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8" y="9"/>
                    <a:pt x="63" y="13"/>
                    <a:pt x="64" y="1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9" y="34"/>
                    <a:pt x="69" y="34"/>
                    <a:pt x="69" y="34"/>
                  </a:cubicBezTo>
                  <a:cubicBezTo>
                    <a:pt x="74" y="34"/>
                    <a:pt x="78" y="38"/>
                    <a:pt x="78" y="42"/>
                  </a:cubicBezTo>
                  <a:close/>
                  <a:moveTo>
                    <a:pt x="18" y="46"/>
                  </a:moveTo>
                  <a:cubicBezTo>
                    <a:pt x="18" y="43"/>
                    <a:pt x="15" y="40"/>
                    <a:pt x="12" y="40"/>
                  </a:cubicBezTo>
                  <a:cubicBezTo>
                    <a:pt x="9" y="40"/>
                    <a:pt x="6" y="43"/>
                    <a:pt x="6" y="46"/>
                  </a:cubicBezTo>
                  <a:cubicBezTo>
                    <a:pt x="6" y="49"/>
                    <a:pt x="9" y="52"/>
                    <a:pt x="12" y="52"/>
                  </a:cubicBezTo>
                  <a:cubicBezTo>
                    <a:pt x="15" y="52"/>
                    <a:pt x="18" y="49"/>
                    <a:pt x="18" y="46"/>
                  </a:cubicBezTo>
                  <a:close/>
                  <a:moveTo>
                    <a:pt x="58" y="34"/>
                  </a:moveTo>
                  <a:cubicBezTo>
                    <a:pt x="55" y="20"/>
                    <a:pt x="55" y="20"/>
                    <a:pt x="55" y="20"/>
                  </a:cubicBezTo>
                  <a:cubicBezTo>
                    <a:pt x="54" y="20"/>
                    <a:pt x="54" y="19"/>
                    <a:pt x="53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3" y="20"/>
                    <a:pt x="23" y="20"/>
                  </a:cubicBezTo>
                  <a:cubicBezTo>
                    <a:pt x="19" y="34"/>
                    <a:pt x="19" y="34"/>
                    <a:pt x="19" y="34"/>
                  </a:cubicBezTo>
                  <a:lnTo>
                    <a:pt x="58" y="34"/>
                  </a:lnTo>
                  <a:close/>
                  <a:moveTo>
                    <a:pt x="71" y="46"/>
                  </a:moveTo>
                  <a:cubicBezTo>
                    <a:pt x="71" y="43"/>
                    <a:pt x="69" y="40"/>
                    <a:pt x="65" y="40"/>
                  </a:cubicBezTo>
                  <a:cubicBezTo>
                    <a:pt x="62" y="40"/>
                    <a:pt x="59" y="43"/>
                    <a:pt x="59" y="46"/>
                  </a:cubicBezTo>
                  <a:cubicBezTo>
                    <a:pt x="59" y="49"/>
                    <a:pt x="62" y="52"/>
                    <a:pt x="65" y="52"/>
                  </a:cubicBezTo>
                  <a:cubicBezTo>
                    <a:pt x="69" y="52"/>
                    <a:pt x="71" y="49"/>
                    <a:pt x="71" y="46"/>
                  </a:cubicBezTo>
                  <a:close/>
                </a:path>
              </a:pathLst>
            </a:custGeom>
            <a:solidFill>
              <a:srgbClr val="BD392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25400" tIns="25400" rIns="25400" bIns="25400" anchor="ctr"/>
            <a:lstStyle/>
            <a:p>
              <a:pPr marL="0" marR="0" lvl="0" indent="0" defTabSz="45709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900" b="0" i="0" u="none" strike="noStrike" kern="0" cap="none" spc="0" normalizeH="0" baseline="0" noProof="0">
                <a:ln>
                  <a:noFill/>
                </a:ln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FE88B4E-9581-4C21-A01C-7A68D0CAC7EF}"/>
              </a:ext>
            </a:extLst>
          </p:cNvPr>
          <p:cNvGrpSpPr/>
          <p:nvPr/>
        </p:nvGrpSpPr>
        <p:grpSpPr>
          <a:xfrm>
            <a:off x="622388" y="1460063"/>
            <a:ext cx="3387669" cy="1620417"/>
            <a:chOff x="359704" y="1426336"/>
            <a:chExt cx="3387669" cy="1620417"/>
          </a:xfrm>
        </p:grpSpPr>
        <p:grpSp>
          <p:nvGrpSpPr>
            <p:cNvPr id="34" name="Group 12">
              <a:extLst>
                <a:ext uri="{FF2B5EF4-FFF2-40B4-BE49-F238E27FC236}">
                  <a16:creationId xmlns:a16="http://schemas.microsoft.com/office/drawing/2014/main" id="{2282B5EA-40D0-44B6-A24D-6F732E240ACA}"/>
                </a:ext>
              </a:extLst>
            </p:cNvPr>
            <p:cNvGrpSpPr/>
            <p:nvPr/>
          </p:nvGrpSpPr>
          <p:grpSpPr>
            <a:xfrm>
              <a:off x="359704" y="2062466"/>
              <a:ext cx="3387669" cy="984287"/>
              <a:chOff x="863495" y="2611290"/>
              <a:chExt cx="3388551" cy="984287"/>
            </a:xfrm>
          </p:grpSpPr>
          <p:sp>
            <p:nvSpPr>
              <p:cNvPr id="36" name="TextBox 22">
                <a:extLst>
                  <a:ext uri="{FF2B5EF4-FFF2-40B4-BE49-F238E27FC236}">
                    <a16:creationId xmlns:a16="http://schemas.microsoft.com/office/drawing/2014/main" id="{C6C5169E-CDAD-4C2A-9F72-212838A2CF73}"/>
                  </a:ext>
                </a:extLst>
              </p:cNvPr>
              <p:cNvSpPr txBox="1"/>
              <p:nvPr/>
            </p:nvSpPr>
            <p:spPr>
              <a:xfrm>
                <a:off x="1854515" y="2611290"/>
                <a:ext cx="100566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Regular"/>
                  </a:rPr>
                  <a:t>专利</a:t>
                </a:r>
                <a:endParaRPr kumimoji="0" lang="id-ID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Regular"/>
                </a:endParaRPr>
              </a:p>
            </p:txBody>
          </p:sp>
          <p:sp>
            <p:nvSpPr>
              <p:cNvPr id="37" name="TextBox 23">
                <a:extLst>
                  <a:ext uri="{FF2B5EF4-FFF2-40B4-BE49-F238E27FC236}">
                    <a16:creationId xmlns:a16="http://schemas.microsoft.com/office/drawing/2014/main" id="{4A4B5C57-4CFC-422F-996B-F53F2AE8BE67}"/>
                  </a:ext>
                </a:extLst>
              </p:cNvPr>
              <p:cNvSpPr txBox="1"/>
              <p:nvPr/>
            </p:nvSpPr>
            <p:spPr>
              <a:xfrm>
                <a:off x="863495" y="3195467"/>
                <a:ext cx="3388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Lato Light"/>
                  </a:rPr>
                  <a:t>四项材料专利（编写中）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endParaRPr>
              </a:p>
            </p:txBody>
          </p:sp>
        </p:grpSp>
        <p:sp>
          <p:nvSpPr>
            <p:cNvPr id="35" name="Freeform 193">
              <a:extLst>
                <a:ext uri="{FF2B5EF4-FFF2-40B4-BE49-F238E27FC236}">
                  <a16:creationId xmlns:a16="http://schemas.microsoft.com/office/drawing/2014/main" id="{9475E57B-E041-4D9B-A337-DDFD30DCD5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9880" y="1426336"/>
              <a:ext cx="541726" cy="622299"/>
            </a:xfrm>
            <a:custGeom>
              <a:avLst/>
              <a:gdLst>
                <a:gd name="T0" fmla="*/ 203200 w 59"/>
                <a:gd name="T1" fmla="*/ 68636 h 68"/>
                <a:gd name="T2" fmla="*/ 203200 w 59"/>
                <a:gd name="T3" fmla="*/ 219635 h 68"/>
                <a:gd name="T4" fmla="*/ 189424 w 59"/>
                <a:gd name="T5" fmla="*/ 233362 h 68"/>
                <a:gd name="T6" fmla="*/ 13776 w 59"/>
                <a:gd name="T7" fmla="*/ 233362 h 68"/>
                <a:gd name="T8" fmla="*/ 0 w 59"/>
                <a:gd name="T9" fmla="*/ 219635 h 68"/>
                <a:gd name="T10" fmla="*/ 0 w 59"/>
                <a:gd name="T11" fmla="*/ 10295 h 68"/>
                <a:gd name="T12" fmla="*/ 13776 w 59"/>
                <a:gd name="T13" fmla="*/ 0 h 68"/>
                <a:gd name="T14" fmla="*/ 130875 w 59"/>
                <a:gd name="T15" fmla="*/ 0 h 68"/>
                <a:gd name="T16" fmla="*/ 151539 w 59"/>
                <a:gd name="T17" fmla="*/ 6864 h 68"/>
                <a:gd name="T18" fmla="*/ 192868 w 59"/>
                <a:gd name="T19" fmla="*/ 48045 h 68"/>
                <a:gd name="T20" fmla="*/ 203200 w 59"/>
                <a:gd name="T21" fmla="*/ 68636 h 68"/>
                <a:gd name="T22" fmla="*/ 185980 w 59"/>
                <a:gd name="T23" fmla="*/ 82363 h 68"/>
                <a:gd name="T24" fmla="*/ 130875 w 59"/>
                <a:gd name="T25" fmla="*/ 82363 h 68"/>
                <a:gd name="T26" fmla="*/ 117098 w 59"/>
                <a:gd name="T27" fmla="*/ 68636 h 68"/>
                <a:gd name="T28" fmla="*/ 117098 w 59"/>
                <a:gd name="T29" fmla="*/ 17159 h 68"/>
                <a:gd name="T30" fmla="*/ 17220 w 59"/>
                <a:gd name="T31" fmla="*/ 17159 h 68"/>
                <a:gd name="T32" fmla="*/ 17220 w 59"/>
                <a:gd name="T33" fmla="*/ 216203 h 68"/>
                <a:gd name="T34" fmla="*/ 185980 w 59"/>
                <a:gd name="T35" fmla="*/ 216203 h 68"/>
                <a:gd name="T36" fmla="*/ 185980 w 59"/>
                <a:gd name="T37" fmla="*/ 82363 h 68"/>
                <a:gd name="T38" fmla="*/ 55105 w 59"/>
                <a:gd name="T39" fmla="*/ 99522 h 68"/>
                <a:gd name="T40" fmla="*/ 148095 w 59"/>
                <a:gd name="T41" fmla="*/ 99522 h 68"/>
                <a:gd name="T42" fmla="*/ 151539 w 59"/>
                <a:gd name="T43" fmla="*/ 102954 h 68"/>
                <a:gd name="T44" fmla="*/ 151539 w 59"/>
                <a:gd name="T45" fmla="*/ 109817 h 68"/>
                <a:gd name="T46" fmla="*/ 148095 w 59"/>
                <a:gd name="T47" fmla="*/ 116681 h 68"/>
                <a:gd name="T48" fmla="*/ 55105 w 59"/>
                <a:gd name="T49" fmla="*/ 116681 h 68"/>
                <a:gd name="T50" fmla="*/ 51661 w 59"/>
                <a:gd name="T51" fmla="*/ 109817 h 68"/>
                <a:gd name="T52" fmla="*/ 51661 w 59"/>
                <a:gd name="T53" fmla="*/ 102954 h 68"/>
                <a:gd name="T54" fmla="*/ 55105 w 59"/>
                <a:gd name="T55" fmla="*/ 99522 h 68"/>
                <a:gd name="T56" fmla="*/ 151539 w 59"/>
                <a:gd name="T57" fmla="*/ 137272 h 68"/>
                <a:gd name="T58" fmla="*/ 151539 w 59"/>
                <a:gd name="T59" fmla="*/ 144135 h 68"/>
                <a:gd name="T60" fmla="*/ 148095 w 59"/>
                <a:gd name="T61" fmla="*/ 147567 h 68"/>
                <a:gd name="T62" fmla="*/ 55105 w 59"/>
                <a:gd name="T63" fmla="*/ 147567 h 68"/>
                <a:gd name="T64" fmla="*/ 51661 w 59"/>
                <a:gd name="T65" fmla="*/ 144135 h 68"/>
                <a:gd name="T66" fmla="*/ 51661 w 59"/>
                <a:gd name="T67" fmla="*/ 137272 h 68"/>
                <a:gd name="T68" fmla="*/ 55105 w 59"/>
                <a:gd name="T69" fmla="*/ 133840 h 68"/>
                <a:gd name="T70" fmla="*/ 148095 w 59"/>
                <a:gd name="T71" fmla="*/ 133840 h 68"/>
                <a:gd name="T72" fmla="*/ 151539 w 59"/>
                <a:gd name="T73" fmla="*/ 137272 h 68"/>
                <a:gd name="T74" fmla="*/ 151539 w 59"/>
                <a:gd name="T75" fmla="*/ 168158 h 68"/>
                <a:gd name="T76" fmla="*/ 151539 w 59"/>
                <a:gd name="T77" fmla="*/ 178453 h 68"/>
                <a:gd name="T78" fmla="*/ 148095 w 59"/>
                <a:gd name="T79" fmla="*/ 181885 h 68"/>
                <a:gd name="T80" fmla="*/ 55105 w 59"/>
                <a:gd name="T81" fmla="*/ 181885 h 68"/>
                <a:gd name="T82" fmla="*/ 51661 w 59"/>
                <a:gd name="T83" fmla="*/ 178453 h 68"/>
                <a:gd name="T84" fmla="*/ 51661 w 59"/>
                <a:gd name="T85" fmla="*/ 168158 h 68"/>
                <a:gd name="T86" fmla="*/ 55105 w 59"/>
                <a:gd name="T87" fmla="*/ 164726 h 68"/>
                <a:gd name="T88" fmla="*/ 148095 w 59"/>
                <a:gd name="T89" fmla="*/ 164726 h 68"/>
                <a:gd name="T90" fmla="*/ 151539 w 59"/>
                <a:gd name="T91" fmla="*/ 168158 h 68"/>
                <a:gd name="T92" fmla="*/ 134319 w 59"/>
                <a:gd name="T93" fmla="*/ 65204 h 68"/>
                <a:gd name="T94" fmla="*/ 185980 w 59"/>
                <a:gd name="T95" fmla="*/ 65204 h 68"/>
                <a:gd name="T96" fmla="*/ 182536 w 59"/>
                <a:gd name="T97" fmla="*/ 61772 h 68"/>
                <a:gd name="T98" fmla="*/ 141207 w 59"/>
                <a:gd name="T99" fmla="*/ 20591 h 68"/>
                <a:gd name="T100" fmla="*/ 134319 w 59"/>
                <a:gd name="T101" fmla="*/ 17159 h 68"/>
                <a:gd name="T102" fmla="*/ 134319 w 59"/>
                <a:gd name="T103" fmla="*/ 65204 h 6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9" h="68">
                  <a:moveTo>
                    <a:pt x="59" y="20"/>
                  </a:moveTo>
                  <a:cubicBezTo>
                    <a:pt x="59" y="64"/>
                    <a:pt x="59" y="64"/>
                    <a:pt x="59" y="64"/>
                  </a:cubicBezTo>
                  <a:cubicBezTo>
                    <a:pt x="59" y="66"/>
                    <a:pt x="57" y="68"/>
                    <a:pt x="55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2" y="68"/>
                    <a:pt x="0" y="66"/>
                    <a:pt x="0" y="6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0" y="0"/>
                    <a:pt x="43" y="1"/>
                    <a:pt x="44" y="2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8" y="16"/>
                    <a:pt x="59" y="18"/>
                    <a:pt x="59" y="20"/>
                  </a:cubicBezTo>
                  <a:close/>
                  <a:moveTo>
                    <a:pt x="54" y="24"/>
                  </a:moveTo>
                  <a:cubicBezTo>
                    <a:pt x="38" y="24"/>
                    <a:pt x="38" y="24"/>
                    <a:pt x="38" y="24"/>
                  </a:cubicBezTo>
                  <a:cubicBezTo>
                    <a:pt x="36" y="24"/>
                    <a:pt x="34" y="22"/>
                    <a:pt x="34" y="2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4" y="63"/>
                    <a:pt x="54" y="63"/>
                    <a:pt x="54" y="63"/>
                  </a:cubicBezTo>
                  <a:lnTo>
                    <a:pt x="54" y="24"/>
                  </a:lnTo>
                  <a:close/>
                  <a:moveTo>
                    <a:pt x="16" y="29"/>
                  </a:moveTo>
                  <a:cubicBezTo>
                    <a:pt x="43" y="29"/>
                    <a:pt x="43" y="29"/>
                    <a:pt x="43" y="29"/>
                  </a:cubicBezTo>
                  <a:cubicBezTo>
                    <a:pt x="44" y="29"/>
                    <a:pt x="44" y="29"/>
                    <a:pt x="44" y="30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44" y="33"/>
                    <a:pt x="44" y="34"/>
                    <a:pt x="43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5" y="33"/>
                    <a:pt x="15" y="32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6" y="29"/>
                    <a:pt x="16" y="29"/>
                  </a:cubicBezTo>
                  <a:close/>
                  <a:moveTo>
                    <a:pt x="44" y="40"/>
                  </a:moveTo>
                  <a:cubicBezTo>
                    <a:pt x="44" y="42"/>
                    <a:pt x="44" y="42"/>
                    <a:pt x="44" y="42"/>
                  </a:cubicBezTo>
                  <a:cubicBezTo>
                    <a:pt x="44" y="43"/>
                    <a:pt x="44" y="43"/>
                    <a:pt x="43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6" y="43"/>
                    <a:pt x="15" y="43"/>
                    <a:pt x="15" y="42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39"/>
                    <a:pt x="16" y="39"/>
                    <a:pt x="16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4" y="39"/>
                    <a:pt x="44" y="39"/>
                    <a:pt x="44" y="40"/>
                  </a:cubicBezTo>
                  <a:close/>
                  <a:moveTo>
                    <a:pt x="44" y="49"/>
                  </a:moveTo>
                  <a:cubicBezTo>
                    <a:pt x="44" y="52"/>
                    <a:pt x="44" y="52"/>
                    <a:pt x="44" y="52"/>
                  </a:cubicBezTo>
                  <a:cubicBezTo>
                    <a:pt x="44" y="53"/>
                    <a:pt x="44" y="53"/>
                    <a:pt x="43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53"/>
                    <a:pt x="15" y="53"/>
                    <a:pt x="15" y="52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5" y="49"/>
                    <a:pt x="16" y="48"/>
                    <a:pt x="16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4" y="48"/>
                    <a:pt x="44" y="49"/>
                    <a:pt x="44" y="49"/>
                  </a:cubicBezTo>
                  <a:close/>
                  <a:moveTo>
                    <a:pt x="39" y="19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5"/>
                    <a:pt x="40" y="5"/>
                    <a:pt x="39" y="5"/>
                  </a:cubicBezTo>
                  <a:lnTo>
                    <a:pt x="39" y="19"/>
                  </a:lnTo>
                  <a:close/>
                </a:path>
              </a:pathLst>
            </a:custGeom>
            <a:solidFill>
              <a:srgbClr val="9BB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25400" tIns="25400" rIns="25400" bIns="25400" anchor="ctr"/>
            <a:lstStyle/>
            <a:p>
              <a:pPr marL="0" marR="0" lvl="0" indent="0" defTabSz="45709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900" b="0" i="0" u="none" strike="noStrike" kern="0" cap="none" spc="0" normalizeH="0" baseline="0" noProof="0">
                <a:ln>
                  <a:noFill/>
                </a:ln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6478D32-B97B-45A3-B6A5-33BFC8DD62DA}"/>
              </a:ext>
            </a:extLst>
          </p:cNvPr>
          <p:cNvGrpSpPr/>
          <p:nvPr/>
        </p:nvGrpSpPr>
        <p:grpSpPr>
          <a:xfrm>
            <a:off x="7329129" y="1460063"/>
            <a:ext cx="4862872" cy="2390544"/>
            <a:chOff x="6847881" y="1970395"/>
            <a:chExt cx="4862872" cy="2390544"/>
          </a:xfrm>
        </p:grpSpPr>
        <p:grpSp>
          <p:nvGrpSpPr>
            <p:cNvPr id="39" name="Group 13">
              <a:extLst>
                <a:ext uri="{FF2B5EF4-FFF2-40B4-BE49-F238E27FC236}">
                  <a16:creationId xmlns:a16="http://schemas.microsoft.com/office/drawing/2014/main" id="{DECB05F7-523F-4DC2-9054-0F2DD5C988AF}"/>
                </a:ext>
              </a:extLst>
            </p:cNvPr>
            <p:cNvGrpSpPr/>
            <p:nvPr/>
          </p:nvGrpSpPr>
          <p:grpSpPr>
            <a:xfrm>
              <a:off x="6847881" y="2354206"/>
              <a:ext cx="4862872" cy="2006733"/>
              <a:chOff x="6723323" y="2543585"/>
              <a:chExt cx="4864139" cy="2006733"/>
            </a:xfrm>
          </p:grpSpPr>
          <p:sp>
            <p:nvSpPr>
              <p:cNvPr id="41" name="TextBox 24">
                <a:extLst>
                  <a:ext uri="{FF2B5EF4-FFF2-40B4-BE49-F238E27FC236}">
                    <a16:creationId xmlns:a16="http://schemas.microsoft.com/office/drawing/2014/main" id="{32718715-CDEF-4A53-9255-D6E4033A88D2}"/>
                  </a:ext>
                </a:extLst>
              </p:cNvPr>
              <p:cNvSpPr txBox="1"/>
              <p:nvPr/>
            </p:nvSpPr>
            <p:spPr>
              <a:xfrm>
                <a:off x="8586762" y="2543585"/>
                <a:ext cx="100566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技术</a:t>
                </a:r>
                <a:endParaRPr kumimoji="0" lang="id-ID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TextBox 25">
                <a:extLst>
                  <a:ext uri="{FF2B5EF4-FFF2-40B4-BE49-F238E27FC236}">
                    <a16:creationId xmlns:a16="http://schemas.microsoft.com/office/drawing/2014/main" id="{B268D189-8BD4-448F-8BBA-8EA928558034}"/>
                  </a:ext>
                </a:extLst>
              </p:cNvPr>
              <p:cNvSpPr txBox="1"/>
              <p:nvPr/>
            </p:nvSpPr>
            <p:spPr>
              <a:xfrm>
                <a:off x="6723323" y="3072990"/>
                <a:ext cx="486413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ctr" defTabSz="914217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u"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天津工业大学纺织科学与工程系（学）</a:t>
                </a:r>
                <a:endPara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marR="0" lvl="0" indent="-171450" algn="ctr" defTabSz="914217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u"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清华大学医疗新技术研究室（研）</a:t>
                </a:r>
                <a:endPara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marR="0" lvl="0" indent="-171450" algn="ctr" defTabSz="914217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u"/>
                  <a:tabLst/>
                  <a:defRPr/>
                </a:pPr>
                <a:r>
                  <a:rPr lang="zh-CN" altLang="en-US" sz="2000" kern="0" dirty="0">
                    <a:solidFill>
                      <a:srgbClr val="44546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Light"/>
                  </a:rPr>
                  <a:t>教育部蓝火计划（官）</a:t>
                </a:r>
                <a:endPara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Lato Light"/>
                </a:endParaRPr>
              </a:p>
            </p:txBody>
          </p:sp>
        </p:grpSp>
        <p:sp>
          <p:nvSpPr>
            <p:cNvPr id="40" name="Freeform 213">
              <a:extLst>
                <a:ext uri="{FF2B5EF4-FFF2-40B4-BE49-F238E27FC236}">
                  <a16:creationId xmlns:a16="http://schemas.microsoft.com/office/drawing/2014/main" id="{85D3F0A2-E4A5-47E2-ADE5-9459CFC1A7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7857" y="1970395"/>
              <a:ext cx="668692" cy="406400"/>
            </a:xfrm>
            <a:custGeom>
              <a:avLst/>
              <a:gdLst>
                <a:gd name="T0" fmla="*/ 17180 w 73"/>
                <a:gd name="T1" fmla="*/ 152400 h 44"/>
                <a:gd name="T2" fmla="*/ 17180 w 73"/>
                <a:gd name="T3" fmla="*/ 0 h 44"/>
                <a:gd name="T4" fmla="*/ 250825 w 73"/>
                <a:gd name="T5" fmla="*/ 135082 h 44"/>
                <a:gd name="T6" fmla="*/ 17180 w 73"/>
                <a:gd name="T7" fmla="*/ 135082 h 44"/>
                <a:gd name="T8" fmla="*/ 48103 w 73"/>
                <a:gd name="T9" fmla="*/ 48491 h 44"/>
                <a:gd name="T10" fmla="*/ 30924 w 73"/>
                <a:gd name="T11" fmla="*/ 48491 h 44"/>
                <a:gd name="T12" fmla="*/ 48103 w 73"/>
                <a:gd name="T13" fmla="*/ 34636 h 44"/>
                <a:gd name="T14" fmla="*/ 65283 w 73"/>
                <a:gd name="T15" fmla="*/ 83127 h 44"/>
                <a:gd name="T16" fmla="*/ 30924 w 73"/>
                <a:gd name="T17" fmla="*/ 83127 h 44"/>
                <a:gd name="T18" fmla="*/ 65283 w 73"/>
                <a:gd name="T19" fmla="*/ 69273 h 44"/>
                <a:gd name="T20" fmla="*/ 48103 w 73"/>
                <a:gd name="T21" fmla="*/ 117764 h 44"/>
                <a:gd name="T22" fmla="*/ 30924 w 73"/>
                <a:gd name="T23" fmla="*/ 117764 h 44"/>
                <a:gd name="T24" fmla="*/ 48103 w 73"/>
                <a:gd name="T25" fmla="*/ 100445 h 44"/>
                <a:gd name="T26" fmla="*/ 82463 w 73"/>
                <a:gd name="T27" fmla="*/ 48491 h 44"/>
                <a:gd name="T28" fmla="*/ 65283 w 73"/>
                <a:gd name="T29" fmla="*/ 48491 h 44"/>
                <a:gd name="T30" fmla="*/ 79027 w 73"/>
                <a:gd name="T31" fmla="*/ 34636 h 44"/>
                <a:gd name="T32" fmla="*/ 182106 w 73"/>
                <a:gd name="T33" fmla="*/ 117764 h 44"/>
                <a:gd name="T34" fmla="*/ 65283 w 73"/>
                <a:gd name="T35" fmla="*/ 117764 h 44"/>
                <a:gd name="T36" fmla="*/ 182106 w 73"/>
                <a:gd name="T37" fmla="*/ 100445 h 44"/>
                <a:gd name="T38" fmla="*/ 99643 w 73"/>
                <a:gd name="T39" fmla="*/ 83127 h 44"/>
                <a:gd name="T40" fmla="*/ 82463 w 73"/>
                <a:gd name="T41" fmla="*/ 83127 h 44"/>
                <a:gd name="T42" fmla="*/ 96207 w 73"/>
                <a:gd name="T43" fmla="*/ 69273 h 44"/>
                <a:gd name="T44" fmla="*/ 116823 w 73"/>
                <a:gd name="T45" fmla="*/ 48491 h 44"/>
                <a:gd name="T46" fmla="*/ 99643 w 73"/>
                <a:gd name="T47" fmla="*/ 48491 h 44"/>
                <a:gd name="T48" fmla="*/ 113387 w 73"/>
                <a:gd name="T49" fmla="*/ 34636 h 44"/>
                <a:gd name="T50" fmla="*/ 134002 w 73"/>
                <a:gd name="T51" fmla="*/ 83127 h 44"/>
                <a:gd name="T52" fmla="*/ 116823 w 73"/>
                <a:gd name="T53" fmla="*/ 83127 h 44"/>
                <a:gd name="T54" fmla="*/ 130566 w 73"/>
                <a:gd name="T55" fmla="*/ 69273 h 44"/>
                <a:gd name="T56" fmla="*/ 147746 w 73"/>
                <a:gd name="T57" fmla="*/ 48491 h 44"/>
                <a:gd name="T58" fmla="*/ 134002 w 73"/>
                <a:gd name="T59" fmla="*/ 48491 h 44"/>
                <a:gd name="T60" fmla="*/ 147746 w 73"/>
                <a:gd name="T61" fmla="*/ 34636 h 44"/>
                <a:gd name="T62" fmla="*/ 164926 w 73"/>
                <a:gd name="T63" fmla="*/ 83127 h 44"/>
                <a:gd name="T64" fmla="*/ 147746 w 73"/>
                <a:gd name="T65" fmla="*/ 83127 h 44"/>
                <a:gd name="T66" fmla="*/ 164926 w 73"/>
                <a:gd name="T67" fmla="*/ 69273 h 44"/>
                <a:gd name="T68" fmla="*/ 182106 w 73"/>
                <a:gd name="T69" fmla="*/ 48491 h 44"/>
                <a:gd name="T70" fmla="*/ 164926 w 73"/>
                <a:gd name="T71" fmla="*/ 48491 h 44"/>
                <a:gd name="T72" fmla="*/ 182106 w 73"/>
                <a:gd name="T73" fmla="*/ 34636 h 44"/>
                <a:gd name="T74" fmla="*/ 216465 w 73"/>
                <a:gd name="T75" fmla="*/ 83127 h 44"/>
                <a:gd name="T76" fmla="*/ 182106 w 73"/>
                <a:gd name="T77" fmla="*/ 83127 h 44"/>
                <a:gd name="T78" fmla="*/ 199286 w 73"/>
                <a:gd name="T79" fmla="*/ 69273 h 44"/>
                <a:gd name="T80" fmla="*/ 213029 w 73"/>
                <a:gd name="T81" fmla="*/ 34636 h 44"/>
                <a:gd name="T82" fmla="*/ 216465 w 73"/>
                <a:gd name="T83" fmla="*/ 117764 h 44"/>
                <a:gd name="T84" fmla="*/ 199286 w 73"/>
                <a:gd name="T85" fmla="*/ 117764 h 44"/>
                <a:gd name="T86" fmla="*/ 213029 w 73"/>
                <a:gd name="T87" fmla="*/ 100445 h 4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3" h="44">
                  <a:moveTo>
                    <a:pt x="73" y="39"/>
                  </a:moveTo>
                  <a:cubicBezTo>
                    <a:pt x="73" y="42"/>
                    <a:pt x="70" y="44"/>
                    <a:pt x="68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0" y="42"/>
                    <a:pt x="0" y="3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70" y="0"/>
                    <a:pt x="73" y="2"/>
                    <a:pt x="73" y="5"/>
                  </a:cubicBezTo>
                  <a:lnTo>
                    <a:pt x="73" y="39"/>
                  </a:lnTo>
                  <a:close/>
                  <a:moveTo>
                    <a:pt x="68" y="5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68" y="39"/>
                    <a:pt x="68" y="39"/>
                    <a:pt x="68" y="39"/>
                  </a:cubicBezTo>
                  <a:lnTo>
                    <a:pt x="68" y="5"/>
                  </a:lnTo>
                  <a:close/>
                  <a:moveTo>
                    <a:pt x="14" y="14"/>
                  </a:moveTo>
                  <a:cubicBezTo>
                    <a:pt x="14" y="15"/>
                    <a:pt x="14" y="15"/>
                    <a:pt x="14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9" y="15"/>
                    <a:pt x="9" y="14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0"/>
                    <a:pt x="10" y="10"/>
                    <a:pt x="10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0"/>
                    <a:pt x="14" y="10"/>
                    <a:pt x="14" y="11"/>
                  </a:cubicBezTo>
                  <a:lnTo>
                    <a:pt x="14" y="14"/>
                  </a:lnTo>
                  <a:close/>
                  <a:moveTo>
                    <a:pt x="19" y="24"/>
                  </a:moveTo>
                  <a:cubicBezTo>
                    <a:pt x="19" y="24"/>
                    <a:pt x="19" y="25"/>
                    <a:pt x="19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9" y="24"/>
                    <a:pt x="9" y="24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10" y="20"/>
                    <a:pt x="10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lnTo>
                    <a:pt x="19" y="24"/>
                  </a:lnTo>
                  <a:close/>
                  <a:moveTo>
                    <a:pt x="14" y="34"/>
                  </a:moveTo>
                  <a:cubicBezTo>
                    <a:pt x="14" y="34"/>
                    <a:pt x="14" y="34"/>
                    <a:pt x="14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9" y="34"/>
                    <a:pt x="9" y="34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0"/>
                    <a:pt x="10" y="29"/>
                    <a:pt x="10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30"/>
                    <a:pt x="14" y="30"/>
                  </a:cubicBezTo>
                  <a:lnTo>
                    <a:pt x="14" y="34"/>
                  </a:lnTo>
                  <a:close/>
                  <a:moveTo>
                    <a:pt x="24" y="14"/>
                  </a:moveTo>
                  <a:cubicBezTo>
                    <a:pt x="24" y="15"/>
                    <a:pt x="24" y="15"/>
                    <a:pt x="23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5"/>
                    <a:pt x="19" y="15"/>
                    <a:pt x="19" y="14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0"/>
                    <a:pt x="19" y="10"/>
                    <a:pt x="20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0"/>
                    <a:pt x="24" y="10"/>
                    <a:pt x="24" y="11"/>
                  </a:cubicBezTo>
                  <a:lnTo>
                    <a:pt x="24" y="14"/>
                  </a:lnTo>
                  <a:close/>
                  <a:moveTo>
                    <a:pt x="53" y="34"/>
                  </a:moveTo>
                  <a:cubicBezTo>
                    <a:pt x="53" y="34"/>
                    <a:pt x="53" y="34"/>
                    <a:pt x="53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29"/>
                    <a:pt x="20" y="29"/>
                  </a:cubicBezTo>
                  <a:cubicBezTo>
                    <a:pt x="53" y="29"/>
                    <a:pt x="53" y="29"/>
                    <a:pt x="53" y="29"/>
                  </a:cubicBezTo>
                  <a:cubicBezTo>
                    <a:pt x="53" y="29"/>
                    <a:pt x="53" y="30"/>
                    <a:pt x="53" y="30"/>
                  </a:cubicBezTo>
                  <a:lnTo>
                    <a:pt x="53" y="34"/>
                  </a:lnTo>
                  <a:close/>
                  <a:moveTo>
                    <a:pt x="29" y="24"/>
                  </a:moveTo>
                  <a:cubicBezTo>
                    <a:pt x="29" y="24"/>
                    <a:pt x="29" y="25"/>
                    <a:pt x="28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5"/>
                    <a:pt x="24" y="24"/>
                    <a:pt x="24" y="24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5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24"/>
                  </a:lnTo>
                  <a:close/>
                  <a:moveTo>
                    <a:pt x="34" y="14"/>
                  </a:moveTo>
                  <a:cubicBezTo>
                    <a:pt x="34" y="15"/>
                    <a:pt x="34" y="15"/>
                    <a:pt x="33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29" y="15"/>
                    <a:pt x="29" y="15"/>
                    <a:pt x="29" y="14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0"/>
                    <a:pt x="29" y="10"/>
                    <a:pt x="30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4" y="10"/>
                    <a:pt x="34" y="10"/>
                    <a:pt x="34" y="11"/>
                  </a:cubicBezTo>
                  <a:lnTo>
                    <a:pt x="34" y="14"/>
                  </a:lnTo>
                  <a:close/>
                  <a:moveTo>
                    <a:pt x="39" y="24"/>
                  </a:moveTo>
                  <a:cubicBezTo>
                    <a:pt x="39" y="24"/>
                    <a:pt x="38" y="25"/>
                    <a:pt x="38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5"/>
                    <a:pt x="34" y="24"/>
                    <a:pt x="34" y="24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9" y="20"/>
                    <a:pt x="39" y="20"/>
                  </a:cubicBezTo>
                  <a:lnTo>
                    <a:pt x="39" y="24"/>
                  </a:lnTo>
                  <a:close/>
                  <a:moveTo>
                    <a:pt x="43" y="14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39" y="15"/>
                    <a:pt x="39" y="15"/>
                    <a:pt x="39" y="15"/>
                  </a:cubicBezTo>
                  <a:cubicBezTo>
                    <a:pt x="39" y="15"/>
                    <a:pt x="39" y="15"/>
                    <a:pt x="39" y="14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1"/>
                  </a:cubicBezTo>
                  <a:lnTo>
                    <a:pt x="43" y="14"/>
                  </a:lnTo>
                  <a:close/>
                  <a:moveTo>
                    <a:pt x="48" y="24"/>
                  </a:moveTo>
                  <a:cubicBezTo>
                    <a:pt x="48" y="24"/>
                    <a:pt x="48" y="25"/>
                    <a:pt x="48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4" y="25"/>
                    <a:pt x="43" y="24"/>
                    <a:pt x="43" y="24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20"/>
                    <a:pt x="44" y="20"/>
                    <a:pt x="44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20"/>
                    <a:pt x="48" y="20"/>
                    <a:pt x="48" y="20"/>
                  </a:cubicBezTo>
                  <a:lnTo>
                    <a:pt x="48" y="24"/>
                  </a:lnTo>
                  <a:close/>
                  <a:moveTo>
                    <a:pt x="53" y="14"/>
                  </a:moveTo>
                  <a:cubicBezTo>
                    <a:pt x="53" y="15"/>
                    <a:pt x="53" y="15"/>
                    <a:pt x="53" y="15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49" y="15"/>
                    <a:pt x="48" y="15"/>
                    <a:pt x="48" y="14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0"/>
                    <a:pt x="49" y="10"/>
                    <a:pt x="49" y="1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3" y="10"/>
                    <a:pt x="53" y="10"/>
                    <a:pt x="53" y="11"/>
                  </a:cubicBezTo>
                  <a:lnTo>
                    <a:pt x="53" y="14"/>
                  </a:lnTo>
                  <a:close/>
                  <a:moveTo>
                    <a:pt x="63" y="24"/>
                  </a:moveTo>
                  <a:cubicBezTo>
                    <a:pt x="63" y="24"/>
                    <a:pt x="63" y="25"/>
                    <a:pt x="62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3" y="25"/>
                    <a:pt x="53" y="24"/>
                    <a:pt x="53" y="24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20"/>
                    <a:pt x="53" y="20"/>
                    <a:pt x="54" y="20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8" y="10"/>
                    <a:pt x="58" y="10"/>
                    <a:pt x="59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1"/>
                  </a:cubicBezTo>
                  <a:lnTo>
                    <a:pt x="63" y="24"/>
                  </a:lnTo>
                  <a:close/>
                  <a:moveTo>
                    <a:pt x="63" y="34"/>
                  </a:moveTo>
                  <a:cubicBezTo>
                    <a:pt x="63" y="34"/>
                    <a:pt x="63" y="34"/>
                    <a:pt x="62" y="34"/>
                  </a:cubicBezTo>
                  <a:cubicBezTo>
                    <a:pt x="59" y="34"/>
                    <a:pt x="59" y="34"/>
                    <a:pt x="59" y="34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58" y="30"/>
                    <a:pt x="58" y="29"/>
                    <a:pt x="59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63" y="29"/>
                    <a:pt x="63" y="30"/>
                    <a:pt x="63" y="30"/>
                  </a:cubicBezTo>
                  <a:lnTo>
                    <a:pt x="63" y="34"/>
                  </a:lnTo>
                  <a:close/>
                </a:path>
              </a:pathLst>
            </a:custGeom>
            <a:solidFill>
              <a:srgbClr val="F29B2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25400" tIns="25400" rIns="25400" bIns="25400" anchor="ctr"/>
            <a:lstStyle/>
            <a:p>
              <a:pPr marL="0" marR="0" lvl="0" indent="0" defTabSz="45709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8394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3CED87-69B7-4CC8-8ED2-247886A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6C9DC-BF2C-461E-8841-50631A551ED3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5A6F93-EBBB-4115-ABA4-F6428FE1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8B57283-9F30-45D1-821E-82061D4EC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公司规划</a:t>
            </a:r>
          </a:p>
        </p:txBody>
      </p:sp>
      <p:pic>
        <p:nvPicPr>
          <p:cNvPr id="6" name="Picture 5" descr="Mountains.png">
            <a:extLst>
              <a:ext uri="{FF2B5EF4-FFF2-40B4-BE49-F238E27FC236}">
                <a16:creationId xmlns:a16="http://schemas.microsoft.com/office/drawing/2014/main" id="{94A7D3C9-159B-47AC-989C-1A4FAF18E5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201" y="4529118"/>
            <a:ext cx="12322903" cy="232888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EFF127-B6B4-49C3-8832-B4EFBEC25707}"/>
              </a:ext>
            </a:extLst>
          </p:cNvPr>
          <p:cNvCxnSpPr>
            <a:cxnSpLocks/>
            <a:endCxn id="8" idx="0"/>
          </p:cNvCxnSpPr>
          <p:nvPr/>
        </p:nvCxnSpPr>
        <p:spPr>
          <a:xfrm flipV="1">
            <a:off x="1723873" y="3417456"/>
            <a:ext cx="1384" cy="1731818"/>
          </a:xfrm>
          <a:prstGeom prst="line">
            <a:avLst/>
          </a:prstGeom>
          <a:noFill/>
          <a:ln w="9525" cap="flat" cmpd="sng" algn="ctr">
            <a:solidFill>
              <a:srgbClr val="D1D1D1"/>
            </a:solidFill>
            <a:prstDash val="solid"/>
            <a:miter lim="800000"/>
            <a:tailEnd type="oval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7577A68-570E-425A-B0B8-92BFC3AFB76D}"/>
              </a:ext>
            </a:extLst>
          </p:cNvPr>
          <p:cNvSpPr txBox="1"/>
          <p:nvPr/>
        </p:nvSpPr>
        <p:spPr>
          <a:xfrm>
            <a:off x="1602141" y="3417456"/>
            <a:ext cx="246231" cy="400081"/>
          </a:xfrm>
          <a:prstGeom prst="rect">
            <a:avLst/>
          </a:prstGeom>
          <a:noFill/>
        </p:spPr>
        <p:txBody>
          <a:bodyPr wrap="none" lIns="121893" tIns="60946" rIns="121893" bIns="60946" rtlCol="0">
            <a:spAutoFit/>
          </a:bodyPr>
          <a:lstStyle/>
          <a:p>
            <a:pPr defTabSz="914217"/>
            <a:endParaRPr lang="en-US" dirty="0">
              <a:solidFill>
                <a:srgbClr val="4454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0885D11-E499-468F-B8FD-AA30AEE1D05A}"/>
              </a:ext>
            </a:extLst>
          </p:cNvPr>
          <p:cNvGrpSpPr/>
          <p:nvPr/>
        </p:nvGrpSpPr>
        <p:grpSpPr>
          <a:xfrm>
            <a:off x="466511" y="1758615"/>
            <a:ext cx="2763721" cy="1445243"/>
            <a:chOff x="772079" y="3606394"/>
            <a:chExt cx="1645547" cy="1083931"/>
          </a:xfrm>
        </p:grpSpPr>
        <p:sp>
          <p:nvSpPr>
            <p:cNvPr id="10" name="Title 20">
              <a:extLst>
                <a:ext uri="{FF2B5EF4-FFF2-40B4-BE49-F238E27FC236}">
                  <a16:creationId xmlns:a16="http://schemas.microsoft.com/office/drawing/2014/main" id="{175C8775-7D26-40C1-85FB-0461BE8E982D}"/>
                </a:ext>
              </a:extLst>
            </p:cNvPr>
            <p:cNvSpPr txBox="1">
              <a:spLocks/>
            </p:cNvSpPr>
            <p:nvPr/>
          </p:nvSpPr>
          <p:spPr>
            <a:xfrm>
              <a:off x="903845" y="3606394"/>
              <a:ext cx="1362728" cy="340477"/>
            </a:xfrm>
            <a:prstGeom prst="rect">
              <a:avLst/>
            </a:prstGeom>
          </p:spPr>
          <p:txBody>
            <a:bodyPr vert="horz" wrap="square" lIns="45720" tIns="0" rIns="45720" bIns="22860" rtlCol="0" anchor="t" anchorCtr="0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900" kern="1200">
                  <a:solidFill>
                    <a:schemeClr val="accent6"/>
                  </a:solidFill>
                  <a:latin typeface="Source Sans Pro ExtraLight"/>
                  <a:ea typeface="+mj-ea"/>
                  <a:cs typeface="Source Sans Pro ExtraLight"/>
                </a:defRPr>
              </a:lvl1pPr>
            </a:lstStyle>
            <a:p>
              <a:pPr defTabSz="228600"/>
              <a:r>
                <a:rPr lang="en-US" altLang="zh-CN" sz="2800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2017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年</a:t>
              </a:r>
              <a:r>
                <a:rPr lang="en-US" altLang="zh-CN" sz="2800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11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月</a:t>
              </a:r>
              <a:endParaRPr lang="en-US" sz="28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Lato Regular"/>
              </a:endParaRPr>
            </a:p>
          </p:txBody>
        </p:sp>
        <p:sp>
          <p:nvSpPr>
            <p:cNvPr id="11" name="Title 20">
              <a:extLst>
                <a:ext uri="{FF2B5EF4-FFF2-40B4-BE49-F238E27FC236}">
                  <a16:creationId xmlns:a16="http://schemas.microsoft.com/office/drawing/2014/main" id="{B009BB0E-D5C9-45BC-B4D8-C630CB8AFD11}"/>
                </a:ext>
              </a:extLst>
            </p:cNvPr>
            <p:cNvSpPr txBox="1">
              <a:spLocks/>
            </p:cNvSpPr>
            <p:nvPr/>
          </p:nvSpPr>
          <p:spPr>
            <a:xfrm>
              <a:off x="772079" y="3970129"/>
              <a:ext cx="1645547" cy="720196"/>
            </a:xfrm>
            <a:prstGeom prst="rect">
              <a:avLst/>
            </a:prstGeom>
          </p:spPr>
          <p:txBody>
            <a:bodyPr vert="horz" wrap="square" lIns="45720" tIns="0" rIns="0" bIns="0" rtlCol="0" anchor="ctr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900" kern="1200">
                  <a:solidFill>
                    <a:schemeClr val="accent6"/>
                  </a:solidFill>
                  <a:latin typeface="Source Sans Pro ExtraLight"/>
                  <a:ea typeface="+mj-ea"/>
                  <a:cs typeface="Source Sans Pro ExtraLight"/>
                </a:defRPr>
              </a:lvl1pPr>
            </a:lstStyle>
            <a:p>
              <a:pPr defTabSz="228600">
                <a:lnSpc>
                  <a:spcPct val="130000"/>
                </a:lnSpc>
              </a:pPr>
              <a:r>
                <a:rPr lang="zh-CN" altLang="en-US" sz="2400" b="1" dirty="0">
                  <a:solidFill>
                    <a:schemeClr val="tx2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天使轮融资</a:t>
              </a:r>
              <a:endParaRPr lang="en-US" altLang="zh-CN" sz="2400" b="1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Lato Light"/>
              </a:endParaRPr>
            </a:p>
            <a:p>
              <a:pPr defTabSz="228600">
                <a:lnSpc>
                  <a:spcPct val="130000"/>
                </a:lnSpc>
              </a:pPr>
              <a:r>
                <a:rPr lang="en-US" sz="2400" b="1" dirty="0">
                  <a:solidFill>
                    <a:schemeClr val="tx2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200</a:t>
              </a:r>
              <a:r>
                <a:rPr lang="zh-CN" altLang="en-US" sz="2400" b="1" dirty="0">
                  <a:solidFill>
                    <a:schemeClr val="tx2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万</a:t>
              </a:r>
              <a:r>
                <a:rPr lang="en-US" altLang="zh-CN" sz="2400" b="1" dirty="0">
                  <a:solidFill>
                    <a:schemeClr val="tx2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/10%</a:t>
              </a:r>
              <a:endParaRPr lang="en-US" sz="2400" b="1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Lato Light"/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DE3708-A7F2-49AF-86E3-48848C7D3B79}"/>
              </a:ext>
            </a:extLst>
          </p:cNvPr>
          <p:cNvCxnSpPr>
            <a:cxnSpLocks/>
          </p:cNvCxnSpPr>
          <p:nvPr/>
        </p:nvCxnSpPr>
        <p:spPr>
          <a:xfrm flipV="1">
            <a:off x="3866562" y="3817537"/>
            <a:ext cx="0" cy="1197660"/>
          </a:xfrm>
          <a:prstGeom prst="line">
            <a:avLst/>
          </a:prstGeom>
          <a:noFill/>
          <a:ln w="9525" cap="flat" cmpd="sng" algn="ctr">
            <a:solidFill>
              <a:srgbClr val="D1D1D1"/>
            </a:solidFill>
            <a:prstDash val="solid"/>
            <a:miter lim="800000"/>
            <a:tailEnd type="oval"/>
          </a:ln>
          <a:effectLst/>
        </p:spPr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512595F-A4CD-437C-A7E7-ABB096A09B29}"/>
              </a:ext>
            </a:extLst>
          </p:cNvPr>
          <p:cNvGrpSpPr/>
          <p:nvPr/>
        </p:nvGrpSpPr>
        <p:grpSpPr>
          <a:xfrm>
            <a:off x="2769817" y="2750478"/>
            <a:ext cx="2193492" cy="826894"/>
            <a:chOff x="772079" y="3606394"/>
            <a:chExt cx="1645547" cy="620170"/>
          </a:xfrm>
        </p:grpSpPr>
        <p:sp>
          <p:nvSpPr>
            <p:cNvPr id="14" name="Title 20">
              <a:extLst>
                <a:ext uri="{FF2B5EF4-FFF2-40B4-BE49-F238E27FC236}">
                  <a16:creationId xmlns:a16="http://schemas.microsoft.com/office/drawing/2014/main" id="{1BDD7E68-0B2E-4D23-97F6-8779E59690C4}"/>
                </a:ext>
              </a:extLst>
            </p:cNvPr>
            <p:cNvSpPr txBox="1">
              <a:spLocks/>
            </p:cNvSpPr>
            <p:nvPr/>
          </p:nvSpPr>
          <p:spPr>
            <a:xfrm>
              <a:off x="903845" y="3606394"/>
              <a:ext cx="1362728" cy="201978"/>
            </a:xfrm>
            <a:prstGeom prst="rect">
              <a:avLst/>
            </a:prstGeom>
          </p:spPr>
          <p:txBody>
            <a:bodyPr vert="horz" wrap="square" lIns="45720" tIns="0" rIns="45720" bIns="22860" rtlCol="0" anchor="t" anchorCtr="0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900" kern="1200">
                  <a:solidFill>
                    <a:schemeClr val="accent6"/>
                  </a:solidFill>
                  <a:latin typeface="Source Sans Pro ExtraLight"/>
                  <a:ea typeface="+mj-ea"/>
                  <a:cs typeface="Source Sans Pro ExtraLight"/>
                </a:defRPr>
              </a:lvl1pPr>
            </a:lstStyle>
            <a:p>
              <a:pPr defTabSz="228600"/>
              <a:r>
                <a:rPr lang="en-US" altLang="zh-CN" sz="1600" b="1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2017</a:t>
              </a:r>
              <a:r>
                <a:rPr lang="zh-CN" altLang="en-US" sz="1600" b="1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年</a:t>
              </a:r>
              <a:r>
                <a:rPr lang="en-US" altLang="zh-CN" sz="1600" b="1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11</a:t>
              </a:r>
              <a:r>
                <a:rPr lang="zh-CN" altLang="en-US" sz="1600" b="1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月</a:t>
              </a:r>
              <a:endParaRPr lang="en-US" altLang="zh-CN" sz="1600" b="1" dirty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  <a:cs typeface="Lato Regular"/>
              </a:endParaRPr>
            </a:p>
          </p:txBody>
        </p:sp>
        <p:sp>
          <p:nvSpPr>
            <p:cNvPr id="15" name="Title 20">
              <a:extLst>
                <a:ext uri="{FF2B5EF4-FFF2-40B4-BE49-F238E27FC236}">
                  <a16:creationId xmlns:a16="http://schemas.microsoft.com/office/drawing/2014/main" id="{153C4C75-44A1-4C07-B779-2EFC01987FEA}"/>
                </a:ext>
              </a:extLst>
            </p:cNvPr>
            <p:cNvSpPr txBox="1">
              <a:spLocks/>
            </p:cNvSpPr>
            <p:nvPr/>
          </p:nvSpPr>
          <p:spPr>
            <a:xfrm>
              <a:off x="772079" y="3984190"/>
              <a:ext cx="1645547" cy="242374"/>
            </a:xfrm>
            <a:prstGeom prst="rect">
              <a:avLst/>
            </a:prstGeom>
          </p:spPr>
          <p:txBody>
            <a:bodyPr vert="horz" wrap="square" lIns="45720" tIns="0" rIns="0" bIns="0" rtlCol="0" anchor="ctr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900" kern="1200">
                  <a:solidFill>
                    <a:schemeClr val="accent6"/>
                  </a:solidFill>
                  <a:latin typeface="Source Sans Pro ExtraLight"/>
                  <a:ea typeface="+mj-ea"/>
                  <a:cs typeface="Source Sans Pro ExtraLight"/>
                </a:defRPr>
              </a:lvl1pPr>
            </a:lstStyle>
            <a:p>
              <a:pPr defTabSz="228600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获得客户订单</a:t>
              </a:r>
              <a:endParaRPr lang="en-US" altLang="zh-CN" sz="1400" dirty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  <a:cs typeface="Lato Light"/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B0EA06-6315-43B3-A180-2AA881AA3C5E}"/>
              </a:ext>
            </a:extLst>
          </p:cNvPr>
          <p:cNvCxnSpPr/>
          <p:nvPr/>
        </p:nvCxnSpPr>
        <p:spPr>
          <a:xfrm flipH="1" flipV="1">
            <a:off x="6344728" y="3034908"/>
            <a:ext cx="28315" cy="2299093"/>
          </a:xfrm>
          <a:prstGeom prst="line">
            <a:avLst/>
          </a:prstGeom>
          <a:noFill/>
          <a:ln w="9525" cap="flat" cmpd="sng" algn="ctr">
            <a:solidFill>
              <a:srgbClr val="D1D1D1"/>
            </a:solidFill>
            <a:prstDash val="solid"/>
            <a:miter lim="800000"/>
            <a:tailEnd type="oval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C1DF711-2281-4440-BBD5-3B4F42166752}"/>
              </a:ext>
            </a:extLst>
          </p:cNvPr>
          <p:cNvSpPr txBox="1"/>
          <p:nvPr/>
        </p:nvSpPr>
        <p:spPr>
          <a:xfrm>
            <a:off x="7536993" y="3367170"/>
            <a:ext cx="246231" cy="400081"/>
          </a:xfrm>
          <a:prstGeom prst="rect">
            <a:avLst/>
          </a:prstGeom>
          <a:noFill/>
        </p:spPr>
        <p:txBody>
          <a:bodyPr wrap="none" lIns="121893" tIns="60946" rIns="121893" bIns="60946" rtlCol="0">
            <a:spAutoFit/>
          </a:bodyPr>
          <a:lstStyle/>
          <a:p>
            <a:pPr defTabSz="914217"/>
            <a:endParaRPr lang="en-US" dirty="0">
              <a:solidFill>
                <a:srgbClr val="4454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CCE8F9-E8FF-47FD-86E0-B4BA2D12A409}"/>
              </a:ext>
            </a:extLst>
          </p:cNvPr>
          <p:cNvGrpSpPr/>
          <p:nvPr/>
        </p:nvGrpSpPr>
        <p:grpSpPr>
          <a:xfrm>
            <a:off x="5247981" y="1788144"/>
            <a:ext cx="2193492" cy="988478"/>
            <a:chOff x="772079" y="3606394"/>
            <a:chExt cx="1645547" cy="741357"/>
          </a:xfrm>
        </p:grpSpPr>
        <p:sp>
          <p:nvSpPr>
            <p:cNvPr id="19" name="Title 20">
              <a:extLst>
                <a:ext uri="{FF2B5EF4-FFF2-40B4-BE49-F238E27FC236}">
                  <a16:creationId xmlns:a16="http://schemas.microsoft.com/office/drawing/2014/main" id="{0B9EDDB6-5E82-4146-818C-BBE3236A6F6B}"/>
                </a:ext>
              </a:extLst>
            </p:cNvPr>
            <p:cNvSpPr txBox="1">
              <a:spLocks/>
            </p:cNvSpPr>
            <p:nvPr/>
          </p:nvSpPr>
          <p:spPr>
            <a:xfrm>
              <a:off x="903845" y="3606394"/>
              <a:ext cx="1362728" cy="201978"/>
            </a:xfrm>
            <a:prstGeom prst="rect">
              <a:avLst/>
            </a:prstGeom>
          </p:spPr>
          <p:txBody>
            <a:bodyPr vert="horz" wrap="square" lIns="45720" tIns="0" rIns="45720" bIns="22860" rtlCol="0" anchor="t" anchorCtr="0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900" kern="1200">
                  <a:solidFill>
                    <a:schemeClr val="accent6"/>
                  </a:solidFill>
                  <a:latin typeface="Source Sans Pro ExtraLight"/>
                  <a:ea typeface="+mj-ea"/>
                  <a:cs typeface="Source Sans Pro ExtraLight"/>
                </a:defRPr>
              </a:lvl1pPr>
            </a:lstStyle>
            <a:p>
              <a:pPr defTabSz="228600"/>
              <a:r>
                <a:rPr lang="en-US" altLang="zh-CN" sz="1600" b="1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2018</a:t>
              </a:r>
              <a:r>
                <a:rPr lang="zh-CN" altLang="en-US" sz="1600" b="1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年</a:t>
              </a:r>
              <a:endParaRPr lang="en-US" altLang="zh-CN" sz="1600" b="1" dirty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  <a:cs typeface="Lato Regular"/>
              </a:endParaRPr>
            </a:p>
          </p:txBody>
        </p:sp>
        <p:sp>
          <p:nvSpPr>
            <p:cNvPr id="20" name="Title 20">
              <a:extLst>
                <a:ext uri="{FF2B5EF4-FFF2-40B4-BE49-F238E27FC236}">
                  <a16:creationId xmlns:a16="http://schemas.microsoft.com/office/drawing/2014/main" id="{F7A23D46-1E66-40A5-AC73-93C799BA3E13}"/>
                </a:ext>
              </a:extLst>
            </p:cNvPr>
            <p:cNvSpPr txBox="1">
              <a:spLocks/>
            </p:cNvSpPr>
            <p:nvPr/>
          </p:nvSpPr>
          <p:spPr>
            <a:xfrm>
              <a:off x="772079" y="3863004"/>
              <a:ext cx="1645547" cy="484747"/>
            </a:xfrm>
            <a:prstGeom prst="rect">
              <a:avLst/>
            </a:prstGeom>
          </p:spPr>
          <p:txBody>
            <a:bodyPr vert="horz" wrap="square" lIns="45720" tIns="0" rIns="0" bIns="0" rtlCol="0" anchor="ctr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900" kern="1200">
                  <a:solidFill>
                    <a:schemeClr val="accent6"/>
                  </a:solidFill>
                  <a:latin typeface="Source Sans Pro ExtraLight"/>
                  <a:ea typeface="+mj-ea"/>
                  <a:cs typeface="Source Sans Pro ExtraLight"/>
                </a:defRPr>
              </a:lvl1pPr>
            </a:lstStyle>
            <a:p>
              <a:pPr defTabSz="228600"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-</a:t>
              </a:r>
              <a:r>
                <a:rPr lang="zh-CN" altLang="en-US" sz="1400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扩大市场份额</a:t>
              </a:r>
              <a:endParaRPr lang="en-US" altLang="zh-CN" sz="1400" dirty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  <a:cs typeface="Lato Light"/>
              </a:endParaRPr>
            </a:p>
            <a:p>
              <a:pPr defTabSz="228600"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-Pre-A</a:t>
              </a:r>
              <a:r>
                <a:rPr lang="zh-CN" altLang="en-US" sz="1400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融资</a:t>
              </a:r>
              <a:endParaRPr lang="en-US" altLang="zh-CN" sz="1400" dirty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  <a:cs typeface="Lato Light"/>
              </a:endParaRP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4A1B15-7D44-4AAA-AF05-CB46FC61C59F}"/>
              </a:ext>
            </a:extLst>
          </p:cNvPr>
          <p:cNvCxnSpPr>
            <a:cxnSpLocks/>
          </p:cNvCxnSpPr>
          <p:nvPr/>
        </p:nvCxnSpPr>
        <p:spPr>
          <a:xfrm flipV="1">
            <a:off x="10401568" y="2776622"/>
            <a:ext cx="0" cy="2089807"/>
          </a:xfrm>
          <a:prstGeom prst="line">
            <a:avLst/>
          </a:prstGeom>
          <a:noFill/>
          <a:ln w="9525" cap="flat" cmpd="sng" algn="ctr">
            <a:solidFill>
              <a:srgbClr val="D1D1D1"/>
            </a:solidFill>
            <a:prstDash val="solid"/>
            <a:miter lim="800000"/>
            <a:tailEnd type="oval"/>
          </a:ln>
          <a:effectLst/>
        </p:spPr>
      </p:cxnSp>
      <p:grpSp>
        <p:nvGrpSpPr>
          <p:cNvPr id="22" name="Group 25">
            <a:extLst>
              <a:ext uri="{FF2B5EF4-FFF2-40B4-BE49-F238E27FC236}">
                <a16:creationId xmlns:a16="http://schemas.microsoft.com/office/drawing/2014/main" id="{DE319728-F887-49B3-BAE8-D121EE0748F2}"/>
              </a:ext>
            </a:extLst>
          </p:cNvPr>
          <p:cNvGrpSpPr/>
          <p:nvPr/>
        </p:nvGrpSpPr>
        <p:grpSpPr>
          <a:xfrm>
            <a:off x="9258310" y="1423629"/>
            <a:ext cx="2193492" cy="988473"/>
            <a:chOff x="772079" y="3606394"/>
            <a:chExt cx="1645547" cy="741355"/>
          </a:xfrm>
        </p:grpSpPr>
        <p:sp>
          <p:nvSpPr>
            <p:cNvPr id="23" name="Title 20">
              <a:extLst>
                <a:ext uri="{FF2B5EF4-FFF2-40B4-BE49-F238E27FC236}">
                  <a16:creationId xmlns:a16="http://schemas.microsoft.com/office/drawing/2014/main" id="{325B892C-F1F9-4531-B666-4B8A6E7CFF77}"/>
                </a:ext>
              </a:extLst>
            </p:cNvPr>
            <p:cNvSpPr txBox="1">
              <a:spLocks/>
            </p:cNvSpPr>
            <p:nvPr/>
          </p:nvSpPr>
          <p:spPr>
            <a:xfrm>
              <a:off x="913489" y="3606394"/>
              <a:ext cx="1362728" cy="201978"/>
            </a:xfrm>
            <a:prstGeom prst="rect">
              <a:avLst/>
            </a:prstGeom>
          </p:spPr>
          <p:txBody>
            <a:bodyPr vert="horz" wrap="square" lIns="45720" tIns="0" rIns="45720" bIns="22860" rtlCol="0" anchor="t" anchorCtr="0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900" kern="1200">
                  <a:solidFill>
                    <a:schemeClr val="accent6"/>
                  </a:solidFill>
                  <a:latin typeface="Source Sans Pro ExtraLight"/>
                  <a:ea typeface="+mj-ea"/>
                  <a:cs typeface="Source Sans Pro ExtraLight"/>
                </a:defRPr>
              </a:lvl1pPr>
            </a:lstStyle>
            <a:p>
              <a:pPr defTabSz="228600"/>
              <a:r>
                <a:rPr lang="en-US" altLang="zh-CN" sz="1600" b="1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2019</a:t>
              </a:r>
              <a:r>
                <a:rPr lang="zh-CN" altLang="en-US" sz="1600" b="1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Regular"/>
                </a:rPr>
                <a:t>年</a:t>
              </a:r>
              <a:endParaRPr lang="en-US" altLang="zh-CN" sz="1600" b="1" dirty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  <a:cs typeface="Lato Regular"/>
              </a:endParaRPr>
            </a:p>
          </p:txBody>
        </p:sp>
        <p:sp>
          <p:nvSpPr>
            <p:cNvPr id="24" name="Title 20">
              <a:extLst>
                <a:ext uri="{FF2B5EF4-FFF2-40B4-BE49-F238E27FC236}">
                  <a16:creationId xmlns:a16="http://schemas.microsoft.com/office/drawing/2014/main" id="{FD46C22D-9B00-4F28-AB5F-8D295E33F73A}"/>
                </a:ext>
              </a:extLst>
            </p:cNvPr>
            <p:cNvSpPr txBox="1">
              <a:spLocks/>
            </p:cNvSpPr>
            <p:nvPr/>
          </p:nvSpPr>
          <p:spPr>
            <a:xfrm>
              <a:off x="772079" y="3863001"/>
              <a:ext cx="1645547" cy="484748"/>
            </a:xfrm>
            <a:prstGeom prst="rect">
              <a:avLst/>
            </a:prstGeom>
          </p:spPr>
          <p:txBody>
            <a:bodyPr vert="horz" wrap="square" lIns="45720" tIns="0" rIns="0" bIns="0" rtlCol="0" anchor="ctr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900" kern="1200">
                  <a:solidFill>
                    <a:schemeClr val="accent6"/>
                  </a:solidFill>
                  <a:latin typeface="Source Sans Pro ExtraLight"/>
                  <a:ea typeface="+mj-ea"/>
                  <a:cs typeface="Source Sans Pro ExtraLight"/>
                </a:defRPr>
              </a:lvl1pPr>
            </a:lstStyle>
            <a:p>
              <a:pPr defTabSz="228600"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-</a:t>
              </a:r>
              <a:r>
                <a:rPr lang="zh-CN" altLang="en-US" sz="1400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扩大市场份额</a:t>
              </a:r>
              <a:endParaRPr lang="en-US" altLang="zh-CN" sz="1400" dirty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  <a:cs typeface="Lato Light"/>
              </a:endParaRPr>
            </a:p>
            <a:p>
              <a:pPr defTabSz="228600"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-A</a:t>
              </a:r>
              <a:r>
                <a:rPr lang="zh-CN" altLang="en-US" sz="1400" dirty="0">
                  <a:solidFill>
                    <a:srgbClr val="445469"/>
                  </a:solidFill>
                  <a:latin typeface="微软雅黑" pitchFamily="34" charset="-122"/>
                  <a:ea typeface="微软雅黑" pitchFamily="34" charset="-122"/>
                  <a:cs typeface="Lato Light"/>
                </a:rPr>
                <a:t>轮融资</a:t>
              </a:r>
              <a:endParaRPr lang="en-US" altLang="zh-CN" sz="1400" dirty="0">
                <a:solidFill>
                  <a:srgbClr val="445469"/>
                </a:solidFill>
                <a:latin typeface="微软雅黑" pitchFamily="34" charset="-122"/>
                <a:ea typeface="微软雅黑" pitchFamily="34" charset="-122"/>
                <a:cs typeface="Lato Light"/>
              </a:endParaRPr>
            </a:p>
          </p:txBody>
        </p:sp>
      </p:grpSp>
      <p:sp>
        <p:nvSpPr>
          <p:cNvPr id="26" name="Freeform 1">
            <a:extLst>
              <a:ext uri="{FF2B5EF4-FFF2-40B4-BE49-F238E27FC236}">
                <a16:creationId xmlns:a16="http://schemas.microsoft.com/office/drawing/2014/main" id="{F6798BA2-27A1-4A3E-BBBD-3087D3E54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276" y="3675854"/>
            <a:ext cx="507235" cy="271884"/>
          </a:xfrm>
          <a:custGeom>
            <a:avLst/>
            <a:gdLst>
              <a:gd name="T0" fmla="*/ 13499 w 14813"/>
              <a:gd name="T1" fmla="*/ 3719 h 7938"/>
              <a:gd name="T2" fmla="*/ 13499 w 14813"/>
              <a:gd name="T3" fmla="*/ 3719 h 7938"/>
              <a:gd name="T4" fmla="*/ 12874 w 14813"/>
              <a:gd name="T5" fmla="*/ 3876 h 7938"/>
              <a:gd name="T6" fmla="*/ 12874 w 14813"/>
              <a:gd name="T7" fmla="*/ 3782 h 7938"/>
              <a:gd name="T8" fmla="*/ 10718 w 14813"/>
              <a:gd name="T9" fmla="*/ 1657 h 7938"/>
              <a:gd name="T10" fmla="*/ 10499 w 14813"/>
              <a:gd name="T11" fmla="*/ 1657 h 7938"/>
              <a:gd name="T12" fmla="*/ 8499 w 14813"/>
              <a:gd name="T13" fmla="*/ 0 h 7938"/>
              <a:gd name="T14" fmla="*/ 6563 w 14813"/>
              <a:gd name="T15" fmla="*/ 1563 h 7938"/>
              <a:gd name="T16" fmla="*/ 6156 w 14813"/>
              <a:gd name="T17" fmla="*/ 1501 h 7938"/>
              <a:gd name="T18" fmla="*/ 5031 w 14813"/>
              <a:gd name="T19" fmla="*/ 2376 h 7938"/>
              <a:gd name="T20" fmla="*/ 4594 w 14813"/>
              <a:gd name="T21" fmla="*/ 2532 h 7938"/>
              <a:gd name="T22" fmla="*/ 3594 w 14813"/>
              <a:gd name="T23" fmla="*/ 2001 h 7938"/>
              <a:gd name="T24" fmla="*/ 2438 w 14813"/>
              <a:gd name="T25" fmla="*/ 3157 h 7938"/>
              <a:gd name="T26" fmla="*/ 2438 w 14813"/>
              <a:gd name="T27" fmla="*/ 3313 h 7938"/>
              <a:gd name="T28" fmla="*/ 1688 w 14813"/>
              <a:gd name="T29" fmla="*/ 4031 h 7938"/>
              <a:gd name="T30" fmla="*/ 1188 w 14813"/>
              <a:gd name="T31" fmla="*/ 3938 h 7938"/>
              <a:gd name="T32" fmla="*/ 0 w 14813"/>
              <a:gd name="T33" fmla="*/ 5093 h 7938"/>
              <a:gd name="T34" fmla="*/ 1156 w 14813"/>
              <a:gd name="T35" fmla="*/ 6281 h 7938"/>
              <a:gd name="T36" fmla="*/ 2281 w 14813"/>
              <a:gd name="T37" fmla="*/ 7125 h 7938"/>
              <a:gd name="T38" fmla="*/ 3125 w 14813"/>
              <a:gd name="T39" fmla="*/ 6781 h 7938"/>
              <a:gd name="T40" fmla="*/ 4719 w 14813"/>
              <a:gd name="T41" fmla="*/ 7656 h 7938"/>
              <a:gd name="T42" fmla="*/ 6000 w 14813"/>
              <a:gd name="T43" fmla="*/ 7156 h 7938"/>
              <a:gd name="T44" fmla="*/ 7624 w 14813"/>
              <a:gd name="T45" fmla="*/ 7937 h 7938"/>
              <a:gd name="T46" fmla="*/ 9405 w 14813"/>
              <a:gd name="T47" fmla="*/ 6937 h 7938"/>
              <a:gd name="T48" fmla="*/ 10937 w 14813"/>
              <a:gd name="T49" fmla="*/ 7812 h 7938"/>
              <a:gd name="T50" fmla="*/ 12718 w 14813"/>
              <a:gd name="T51" fmla="*/ 6093 h 7938"/>
              <a:gd name="T52" fmla="*/ 13499 w 14813"/>
              <a:gd name="T53" fmla="*/ 6343 h 7938"/>
              <a:gd name="T54" fmla="*/ 14812 w 14813"/>
              <a:gd name="T55" fmla="*/ 5031 h 7938"/>
              <a:gd name="T56" fmla="*/ 13499 w 14813"/>
              <a:gd name="T57" fmla="*/ 3719 h 79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4813" h="7938">
                <a:moveTo>
                  <a:pt x="13499" y="3719"/>
                </a:moveTo>
                <a:lnTo>
                  <a:pt x="13499" y="3719"/>
                </a:lnTo>
                <a:cubicBezTo>
                  <a:pt x="13280" y="3719"/>
                  <a:pt x="13062" y="3782"/>
                  <a:pt x="12874" y="3876"/>
                </a:cubicBezTo>
                <a:cubicBezTo>
                  <a:pt x="12874" y="3844"/>
                  <a:pt x="12874" y="3813"/>
                  <a:pt x="12874" y="3782"/>
                </a:cubicBezTo>
                <a:cubicBezTo>
                  <a:pt x="12874" y="2594"/>
                  <a:pt x="11905" y="1657"/>
                  <a:pt x="10718" y="1657"/>
                </a:cubicBezTo>
                <a:cubicBezTo>
                  <a:pt x="10655" y="1657"/>
                  <a:pt x="10561" y="1657"/>
                  <a:pt x="10499" y="1657"/>
                </a:cubicBezTo>
                <a:cubicBezTo>
                  <a:pt x="10343" y="719"/>
                  <a:pt x="9499" y="0"/>
                  <a:pt x="8499" y="0"/>
                </a:cubicBezTo>
                <a:cubicBezTo>
                  <a:pt x="7562" y="0"/>
                  <a:pt x="6750" y="657"/>
                  <a:pt x="6563" y="1563"/>
                </a:cubicBezTo>
                <a:cubicBezTo>
                  <a:pt x="6438" y="1532"/>
                  <a:pt x="6313" y="1501"/>
                  <a:pt x="6156" y="1501"/>
                </a:cubicBezTo>
                <a:cubicBezTo>
                  <a:pt x="5625" y="1501"/>
                  <a:pt x="5156" y="1876"/>
                  <a:pt x="5031" y="2376"/>
                </a:cubicBezTo>
                <a:cubicBezTo>
                  <a:pt x="4875" y="2407"/>
                  <a:pt x="4719" y="2469"/>
                  <a:pt x="4594" y="2532"/>
                </a:cubicBezTo>
                <a:cubicBezTo>
                  <a:pt x="4375" y="2219"/>
                  <a:pt x="4031" y="2001"/>
                  <a:pt x="3594" y="2001"/>
                </a:cubicBezTo>
                <a:cubicBezTo>
                  <a:pt x="2969" y="2001"/>
                  <a:pt x="2438" y="2532"/>
                  <a:pt x="2438" y="3157"/>
                </a:cubicBezTo>
                <a:cubicBezTo>
                  <a:pt x="2438" y="3219"/>
                  <a:pt x="2438" y="3282"/>
                  <a:pt x="2438" y="3313"/>
                </a:cubicBezTo>
                <a:cubicBezTo>
                  <a:pt x="2125" y="3469"/>
                  <a:pt x="1844" y="3719"/>
                  <a:pt x="1688" y="4031"/>
                </a:cubicBezTo>
                <a:cubicBezTo>
                  <a:pt x="1531" y="3969"/>
                  <a:pt x="1375" y="3938"/>
                  <a:pt x="1188" y="3938"/>
                </a:cubicBezTo>
                <a:cubicBezTo>
                  <a:pt x="531" y="3938"/>
                  <a:pt x="0" y="4468"/>
                  <a:pt x="0" y="5093"/>
                </a:cubicBezTo>
                <a:cubicBezTo>
                  <a:pt x="0" y="5750"/>
                  <a:pt x="531" y="6281"/>
                  <a:pt x="1156" y="6281"/>
                </a:cubicBezTo>
                <a:cubicBezTo>
                  <a:pt x="1313" y="6750"/>
                  <a:pt x="1750" y="7125"/>
                  <a:pt x="2281" y="7125"/>
                </a:cubicBezTo>
                <a:cubicBezTo>
                  <a:pt x="2625" y="7125"/>
                  <a:pt x="2906" y="6968"/>
                  <a:pt x="3125" y="6781"/>
                </a:cubicBezTo>
                <a:cubicBezTo>
                  <a:pt x="3438" y="7312"/>
                  <a:pt x="4031" y="7656"/>
                  <a:pt x="4719" y="7656"/>
                </a:cubicBezTo>
                <a:cubicBezTo>
                  <a:pt x="5219" y="7656"/>
                  <a:pt x="5656" y="7468"/>
                  <a:pt x="6000" y="7156"/>
                </a:cubicBezTo>
                <a:cubicBezTo>
                  <a:pt x="6375" y="7625"/>
                  <a:pt x="6969" y="7937"/>
                  <a:pt x="7624" y="7937"/>
                </a:cubicBezTo>
                <a:cubicBezTo>
                  <a:pt x="8374" y="7937"/>
                  <a:pt x="9030" y="7531"/>
                  <a:pt x="9405" y="6937"/>
                </a:cubicBezTo>
                <a:cubicBezTo>
                  <a:pt x="9718" y="7468"/>
                  <a:pt x="10280" y="7812"/>
                  <a:pt x="10937" y="7812"/>
                </a:cubicBezTo>
                <a:cubicBezTo>
                  <a:pt x="11905" y="7812"/>
                  <a:pt x="12687" y="7062"/>
                  <a:pt x="12718" y="6093"/>
                </a:cubicBezTo>
                <a:cubicBezTo>
                  <a:pt x="12937" y="6250"/>
                  <a:pt x="13218" y="6343"/>
                  <a:pt x="13499" y="6343"/>
                </a:cubicBezTo>
                <a:cubicBezTo>
                  <a:pt x="14218" y="6343"/>
                  <a:pt x="14812" y="5750"/>
                  <a:pt x="14812" y="5031"/>
                </a:cubicBezTo>
                <a:cubicBezTo>
                  <a:pt x="14812" y="4312"/>
                  <a:pt x="14218" y="3719"/>
                  <a:pt x="13499" y="3719"/>
                </a:cubicBezTo>
              </a:path>
            </a:pathLst>
          </a:custGeom>
          <a:solidFill>
            <a:srgbClr val="9BBB5C">
              <a:lumMod val="60000"/>
              <a:lumOff val="40000"/>
            </a:srgbClr>
          </a:solidFill>
          <a:ln>
            <a:noFill/>
          </a:ln>
          <a:effectLst/>
        </p:spPr>
        <p:txBody>
          <a:bodyPr wrap="none" lIns="121893" tIns="60946" rIns="121893" bIns="60946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Freeform 1">
            <a:extLst>
              <a:ext uri="{FF2B5EF4-FFF2-40B4-BE49-F238E27FC236}">
                <a16:creationId xmlns:a16="http://schemas.microsoft.com/office/drawing/2014/main" id="{AAE5DE05-1B3A-41DA-95AF-C316D99BC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276" y="2574228"/>
            <a:ext cx="657632" cy="352499"/>
          </a:xfrm>
          <a:custGeom>
            <a:avLst/>
            <a:gdLst>
              <a:gd name="T0" fmla="*/ 13499 w 14813"/>
              <a:gd name="T1" fmla="*/ 3719 h 7938"/>
              <a:gd name="T2" fmla="*/ 13499 w 14813"/>
              <a:gd name="T3" fmla="*/ 3719 h 7938"/>
              <a:gd name="T4" fmla="*/ 12874 w 14813"/>
              <a:gd name="T5" fmla="*/ 3876 h 7938"/>
              <a:gd name="T6" fmla="*/ 12874 w 14813"/>
              <a:gd name="T7" fmla="*/ 3782 h 7938"/>
              <a:gd name="T8" fmla="*/ 10718 w 14813"/>
              <a:gd name="T9" fmla="*/ 1657 h 7938"/>
              <a:gd name="T10" fmla="*/ 10499 w 14813"/>
              <a:gd name="T11" fmla="*/ 1657 h 7938"/>
              <a:gd name="T12" fmla="*/ 8499 w 14813"/>
              <a:gd name="T13" fmla="*/ 0 h 7938"/>
              <a:gd name="T14" fmla="*/ 6563 w 14813"/>
              <a:gd name="T15" fmla="*/ 1563 h 7938"/>
              <a:gd name="T16" fmla="*/ 6156 w 14813"/>
              <a:gd name="T17" fmla="*/ 1501 h 7938"/>
              <a:gd name="T18" fmla="*/ 5031 w 14813"/>
              <a:gd name="T19" fmla="*/ 2376 h 7938"/>
              <a:gd name="T20" fmla="*/ 4594 w 14813"/>
              <a:gd name="T21" fmla="*/ 2532 h 7938"/>
              <a:gd name="T22" fmla="*/ 3594 w 14813"/>
              <a:gd name="T23" fmla="*/ 2001 h 7938"/>
              <a:gd name="T24" fmla="*/ 2438 w 14813"/>
              <a:gd name="T25" fmla="*/ 3157 h 7938"/>
              <a:gd name="T26" fmla="*/ 2438 w 14813"/>
              <a:gd name="T27" fmla="*/ 3313 h 7938"/>
              <a:gd name="T28" fmla="*/ 1688 w 14813"/>
              <a:gd name="T29" fmla="*/ 4031 h 7938"/>
              <a:gd name="T30" fmla="*/ 1188 w 14813"/>
              <a:gd name="T31" fmla="*/ 3938 h 7938"/>
              <a:gd name="T32" fmla="*/ 0 w 14813"/>
              <a:gd name="T33" fmla="*/ 5093 h 7938"/>
              <a:gd name="T34" fmla="*/ 1156 w 14813"/>
              <a:gd name="T35" fmla="*/ 6281 h 7938"/>
              <a:gd name="T36" fmla="*/ 2281 w 14813"/>
              <a:gd name="T37" fmla="*/ 7125 h 7938"/>
              <a:gd name="T38" fmla="*/ 3125 w 14813"/>
              <a:gd name="T39" fmla="*/ 6781 h 7938"/>
              <a:gd name="T40" fmla="*/ 4719 w 14813"/>
              <a:gd name="T41" fmla="*/ 7656 h 7938"/>
              <a:gd name="T42" fmla="*/ 6000 w 14813"/>
              <a:gd name="T43" fmla="*/ 7156 h 7938"/>
              <a:gd name="T44" fmla="*/ 7624 w 14813"/>
              <a:gd name="T45" fmla="*/ 7937 h 7938"/>
              <a:gd name="T46" fmla="*/ 9405 w 14813"/>
              <a:gd name="T47" fmla="*/ 6937 h 7938"/>
              <a:gd name="T48" fmla="*/ 10937 w 14813"/>
              <a:gd name="T49" fmla="*/ 7812 h 7938"/>
              <a:gd name="T50" fmla="*/ 12718 w 14813"/>
              <a:gd name="T51" fmla="*/ 6093 h 7938"/>
              <a:gd name="T52" fmla="*/ 13499 w 14813"/>
              <a:gd name="T53" fmla="*/ 6343 h 7938"/>
              <a:gd name="T54" fmla="*/ 14812 w 14813"/>
              <a:gd name="T55" fmla="*/ 5031 h 7938"/>
              <a:gd name="T56" fmla="*/ 13499 w 14813"/>
              <a:gd name="T57" fmla="*/ 3719 h 79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4813" h="7938">
                <a:moveTo>
                  <a:pt x="13499" y="3719"/>
                </a:moveTo>
                <a:lnTo>
                  <a:pt x="13499" y="3719"/>
                </a:lnTo>
                <a:cubicBezTo>
                  <a:pt x="13280" y="3719"/>
                  <a:pt x="13062" y="3782"/>
                  <a:pt x="12874" y="3876"/>
                </a:cubicBezTo>
                <a:cubicBezTo>
                  <a:pt x="12874" y="3844"/>
                  <a:pt x="12874" y="3813"/>
                  <a:pt x="12874" y="3782"/>
                </a:cubicBezTo>
                <a:cubicBezTo>
                  <a:pt x="12874" y="2594"/>
                  <a:pt x="11905" y="1657"/>
                  <a:pt x="10718" y="1657"/>
                </a:cubicBezTo>
                <a:cubicBezTo>
                  <a:pt x="10655" y="1657"/>
                  <a:pt x="10561" y="1657"/>
                  <a:pt x="10499" y="1657"/>
                </a:cubicBezTo>
                <a:cubicBezTo>
                  <a:pt x="10343" y="719"/>
                  <a:pt x="9499" y="0"/>
                  <a:pt x="8499" y="0"/>
                </a:cubicBezTo>
                <a:cubicBezTo>
                  <a:pt x="7562" y="0"/>
                  <a:pt x="6750" y="657"/>
                  <a:pt x="6563" y="1563"/>
                </a:cubicBezTo>
                <a:cubicBezTo>
                  <a:pt x="6438" y="1532"/>
                  <a:pt x="6313" y="1501"/>
                  <a:pt x="6156" y="1501"/>
                </a:cubicBezTo>
                <a:cubicBezTo>
                  <a:pt x="5625" y="1501"/>
                  <a:pt x="5156" y="1876"/>
                  <a:pt x="5031" y="2376"/>
                </a:cubicBezTo>
                <a:cubicBezTo>
                  <a:pt x="4875" y="2407"/>
                  <a:pt x="4719" y="2469"/>
                  <a:pt x="4594" y="2532"/>
                </a:cubicBezTo>
                <a:cubicBezTo>
                  <a:pt x="4375" y="2219"/>
                  <a:pt x="4031" y="2001"/>
                  <a:pt x="3594" y="2001"/>
                </a:cubicBezTo>
                <a:cubicBezTo>
                  <a:pt x="2969" y="2001"/>
                  <a:pt x="2438" y="2532"/>
                  <a:pt x="2438" y="3157"/>
                </a:cubicBezTo>
                <a:cubicBezTo>
                  <a:pt x="2438" y="3219"/>
                  <a:pt x="2438" y="3282"/>
                  <a:pt x="2438" y="3313"/>
                </a:cubicBezTo>
                <a:cubicBezTo>
                  <a:pt x="2125" y="3469"/>
                  <a:pt x="1844" y="3719"/>
                  <a:pt x="1688" y="4031"/>
                </a:cubicBezTo>
                <a:cubicBezTo>
                  <a:pt x="1531" y="3969"/>
                  <a:pt x="1375" y="3938"/>
                  <a:pt x="1188" y="3938"/>
                </a:cubicBezTo>
                <a:cubicBezTo>
                  <a:pt x="531" y="3938"/>
                  <a:pt x="0" y="4468"/>
                  <a:pt x="0" y="5093"/>
                </a:cubicBezTo>
                <a:cubicBezTo>
                  <a:pt x="0" y="5750"/>
                  <a:pt x="531" y="6281"/>
                  <a:pt x="1156" y="6281"/>
                </a:cubicBezTo>
                <a:cubicBezTo>
                  <a:pt x="1313" y="6750"/>
                  <a:pt x="1750" y="7125"/>
                  <a:pt x="2281" y="7125"/>
                </a:cubicBezTo>
                <a:cubicBezTo>
                  <a:pt x="2625" y="7125"/>
                  <a:pt x="2906" y="6968"/>
                  <a:pt x="3125" y="6781"/>
                </a:cubicBezTo>
                <a:cubicBezTo>
                  <a:pt x="3438" y="7312"/>
                  <a:pt x="4031" y="7656"/>
                  <a:pt x="4719" y="7656"/>
                </a:cubicBezTo>
                <a:cubicBezTo>
                  <a:pt x="5219" y="7656"/>
                  <a:pt x="5656" y="7468"/>
                  <a:pt x="6000" y="7156"/>
                </a:cubicBezTo>
                <a:cubicBezTo>
                  <a:pt x="6375" y="7625"/>
                  <a:pt x="6969" y="7937"/>
                  <a:pt x="7624" y="7937"/>
                </a:cubicBezTo>
                <a:cubicBezTo>
                  <a:pt x="8374" y="7937"/>
                  <a:pt x="9030" y="7531"/>
                  <a:pt x="9405" y="6937"/>
                </a:cubicBezTo>
                <a:cubicBezTo>
                  <a:pt x="9718" y="7468"/>
                  <a:pt x="10280" y="7812"/>
                  <a:pt x="10937" y="7812"/>
                </a:cubicBezTo>
                <a:cubicBezTo>
                  <a:pt x="11905" y="7812"/>
                  <a:pt x="12687" y="7062"/>
                  <a:pt x="12718" y="6093"/>
                </a:cubicBezTo>
                <a:cubicBezTo>
                  <a:pt x="12937" y="6250"/>
                  <a:pt x="13218" y="6343"/>
                  <a:pt x="13499" y="6343"/>
                </a:cubicBezTo>
                <a:cubicBezTo>
                  <a:pt x="14218" y="6343"/>
                  <a:pt x="14812" y="5750"/>
                  <a:pt x="14812" y="5031"/>
                </a:cubicBezTo>
                <a:cubicBezTo>
                  <a:pt x="14812" y="4312"/>
                  <a:pt x="14218" y="3719"/>
                  <a:pt x="13499" y="3719"/>
                </a:cubicBezTo>
              </a:path>
            </a:pathLst>
          </a:custGeom>
          <a:solidFill>
            <a:srgbClr val="BD392F">
              <a:lumMod val="60000"/>
              <a:lumOff val="40000"/>
            </a:srgbClr>
          </a:solidFill>
          <a:ln>
            <a:noFill/>
          </a:ln>
          <a:effectLst/>
        </p:spPr>
        <p:txBody>
          <a:bodyPr wrap="none" lIns="121893" tIns="60946" rIns="121893" bIns="60946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Freeform 1">
            <a:extLst>
              <a:ext uri="{FF2B5EF4-FFF2-40B4-BE49-F238E27FC236}">
                <a16:creationId xmlns:a16="http://schemas.microsoft.com/office/drawing/2014/main" id="{BFC44095-0360-45CB-B412-A081F1333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51" y="3403970"/>
            <a:ext cx="507235" cy="271884"/>
          </a:xfrm>
          <a:custGeom>
            <a:avLst/>
            <a:gdLst>
              <a:gd name="T0" fmla="*/ 13499 w 14813"/>
              <a:gd name="T1" fmla="*/ 3719 h 7938"/>
              <a:gd name="T2" fmla="*/ 13499 w 14813"/>
              <a:gd name="T3" fmla="*/ 3719 h 7938"/>
              <a:gd name="T4" fmla="*/ 12874 w 14813"/>
              <a:gd name="T5" fmla="*/ 3876 h 7938"/>
              <a:gd name="T6" fmla="*/ 12874 w 14813"/>
              <a:gd name="T7" fmla="*/ 3782 h 7938"/>
              <a:gd name="T8" fmla="*/ 10718 w 14813"/>
              <a:gd name="T9" fmla="*/ 1657 h 7938"/>
              <a:gd name="T10" fmla="*/ 10499 w 14813"/>
              <a:gd name="T11" fmla="*/ 1657 h 7938"/>
              <a:gd name="T12" fmla="*/ 8499 w 14813"/>
              <a:gd name="T13" fmla="*/ 0 h 7938"/>
              <a:gd name="T14" fmla="*/ 6563 w 14813"/>
              <a:gd name="T15" fmla="*/ 1563 h 7938"/>
              <a:gd name="T16" fmla="*/ 6156 w 14813"/>
              <a:gd name="T17" fmla="*/ 1501 h 7938"/>
              <a:gd name="T18" fmla="*/ 5031 w 14813"/>
              <a:gd name="T19" fmla="*/ 2376 h 7938"/>
              <a:gd name="T20" fmla="*/ 4594 w 14813"/>
              <a:gd name="T21" fmla="*/ 2532 h 7938"/>
              <a:gd name="T22" fmla="*/ 3594 w 14813"/>
              <a:gd name="T23" fmla="*/ 2001 h 7938"/>
              <a:gd name="T24" fmla="*/ 2438 w 14813"/>
              <a:gd name="T25" fmla="*/ 3157 h 7938"/>
              <a:gd name="T26" fmla="*/ 2438 w 14813"/>
              <a:gd name="T27" fmla="*/ 3313 h 7938"/>
              <a:gd name="T28" fmla="*/ 1688 w 14813"/>
              <a:gd name="T29" fmla="*/ 4031 h 7938"/>
              <a:gd name="T30" fmla="*/ 1188 w 14813"/>
              <a:gd name="T31" fmla="*/ 3938 h 7938"/>
              <a:gd name="T32" fmla="*/ 0 w 14813"/>
              <a:gd name="T33" fmla="*/ 5093 h 7938"/>
              <a:gd name="T34" fmla="*/ 1156 w 14813"/>
              <a:gd name="T35" fmla="*/ 6281 h 7938"/>
              <a:gd name="T36" fmla="*/ 2281 w 14813"/>
              <a:gd name="T37" fmla="*/ 7125 h 7938"/>
              <a:gd name="T38" fmla="*/ 3125 w 14813"/>
              <a:gd name="T39" fmla="*/ 6781 h 7938"/>
              <a:gd name="T40" fmla="*/ 4719 w 14813"/>
              <a:gd name="T41" fmla="*/ 7656 h 7938"/>
              <a:gd name="T42" fmla="*/ 6000 w 14813"/>
              <a:gd name="T43" fmla="*/ 7156 h 7938"/>
              <a:gd name="T44" fmla="*/ 7624 w 14813"/>
              <a:gd name="T45" fmla="*/ 7937 h 7938"/>
              <a:gd name="T46" fmla="*/ 9405 w 14813"/>
              <a:gd name="T47" fmla="*/ 6937 h 7938"/>
              <a:gd name="T48" fmla="*/ 10937 w 14813"/>
              <a:gd name="T49" fmla="*/ 7812 h 7938"/>
              <a:gd name="T50" fmla="*/ 12718 w 14813"/>
              <a:gd name="T51" fmla="*/ 6093 h 7938"/>
              <a:gd name="T52" fmla="*/ 13499 w 14813"/>
              <a:gd name="T53" fmla="*/ 6343 h 7938"/>
              <a:gd name="T54" fmla="*/ 14812 w 14813"/>
              <a:gd name="T55" fmla="*/ 5031 h 7938"/>
              <a:gd name="T56" fmla="*/ 13499 w 14813"/>
              <a:gd name="T57" fmla="*/ 3719 h 79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4813" h="7938">
                <a:moveTo>
                  <a:pt x="13499" y="3719"/>
                </a:moveTo>
                <a:lnTo>
                  <a:pt x="13499" y="3719"/>
                </a:lnTo>
                <a:cubicBezTo>
                  <a:pt x="13280" y="3719"/>
                  <a:pt x="13062" y="3782"/>
                  <a:pt x="12874" y="3876"/>
                </a:cubicBezTo>
                <a:cubicBezTo>
                  <a:pt x="12874" y="3844"/>
                  <a:pt x="12874" y="3813"/>
                  <a:pt x="12874" y="3782"/>
                </a:cubicBezTo>
                <a:cubicBezTo>
                  <a:pt x="12874" y="2594"/>
                  <a:pt x="11905" y="1657"/>
                  <a:pt x="10718" y="1657"/>
                </a:cubicBezTo>
                <a:cubicBezTo>
                  <a:pt x="10655" y="1657"/>
                  <a:pt x="10561" y="1657"/>
                  <a:pt x="10499" y="1657"/>
                </a:cubicBezTo>
                <a:cubicBezTo>
                  <a:pt x="10343" y="719"/>
                  <a:pt x="9499" y="0"/>
                  <a:pt x="8499" y="0"/>
                </a:cubicBezTo>
                <a:cubicBezTo>
                  <a:pt x="7562" y="0"/>
                  <a:pt x="6750" y="657"/>
                  <a:pt x="6563" y="1563"/>
                </a:cubicBezTo>
                <a:cubicBezTo>
                  <a:pt x="6438" y="1532"/>
                  <a:pt x="6313" y="1501"/>
                  <a:pt x="6156" y="1501"/>
                </a:cubicBezTo>
                <a:cubicBezTo>
                  <a:pt x="5625" y="1501"/>
                  <a:pt x="5156" y="1876"/>
                  <a:pt x="5031" y="2376"/>
                </a:cubicBezTo>
                <a:cubicBezTo>
                  <a:pt x="4875" y="2407"/>
                  <a:pt x="4719" y="2469"/>
                  <a:pt x="4594" y="2532"/>
                </a:cubicBezTo>
                <a:cubicBezTo>
                  <a:pt x="4375" y="2219"/>
                  <a:pt x="4031" y="2001"/>
                  <a:pt x="3594" y="2001"/>
                </a:cubicBezTo>
                <a:cubicBezTo>
                  <a:pt x="2969" y="2001"/>
                  <a:pt x="2438" y="2532"/>
                  <a:pt x="2438" y="3157"/>
                </a:cubicBezTo>
                <a:cubicBezTo>
                  <a:pt x="2438" y="3219"/>
                  <a:pt x="2438" y="3282"/>
                  <a:pt x="2438" y="3313"/>
                </a:cubicBezTo>
                <a:cubicBezTo>
                  <a:pt x="2125" y="3469"/>
                  <a:pt x="1844" y="3719"/>
                  <a:pt x="1688" y="4031"/>
                </a:cubicBezTo>
                <a:cubicBezTo>
                  <a:pt x="1531" y="3969"/>
                  <a:pt x="1375" y="3938"/>
                  <a:pt x="1188" y="3938"/>
                </a:cubicBezTo>
                <a:cubicBezTo>
                  <a:pt x="531" y="3938"/>
                  <a:pt x="0" y="4468"/>
                  <a:pt x="0" y="5093"/>
                </a:cubicBezTo>
                <a:cubicBezTo>
                  <a:pt x="0" y="5750"/>
                  <a:pt x="531" y="6281"/>
                  <a:pt x="1156" y="6281"/>
                </a:cubicBezTo>
                <a:cubicBezTo>
                  <a:pt x="1313" y="6750"/>
                  <a:pt x="1750" y="7125"/>
                  <a:pt x="2281" y="7125"/>
                </a:cubicBezTo>
                <a:cubicBezTo>
                  <a:pt x="2625" y="7125"/>
                  <a:pt x="2906" y="6968"/>
                  <a:pt x="3125" y="6781"/>
                </a:cubicBezTo>
                <a:cubicBezTo>
                  <a:pt x="3438" y="7312"/>
                  <a:pt x="4031" y="7656"/>
                  <a:pt x="4719" y="7656"/>
                </a:cubicBezTo>
                <a:cubicBezTo>
                  <a:pt x="5219" y="7656"/>
                  <a:pt x="5656" y="7468"/>
                  <a:pt x="6000" y="7156"/>
                </a:cubicBezTo>
                <a:cubicBezTo>
                  <a:pt x="6375" y="7625"/>
                  <a:pt x="6969" y="7937"/>
                  <a:pt x="7624" y="7937"/>
                </a:cubicBezTo>
                <a:cubicBezTo>
                  <a:pt x="8374" y="7937"/>
                  <a:pt x="9030" y="7531"/>
                  <a:pt x="9405" y="6937"/>
                </a:cubicBezTo>
                <a:cubicBezTo>
                  <a:pt x="9718" y="7468"/>
                  <a:pt x="10280" y="7812"/>
                  <a:pt x="10937" y="7812"/>
                </a:cubicBezTo>
                <a:cubicBezTo>
                  <a:pt x="11905" y="7812"/>
                  <a:pt x="12687" y="7062"/>
                  <a:pt x="12718" y="6093"/>
                </a:cubicBezTo>
                <a:cubicBezTo>
                  <a:pt x="12937" y="6250"/>
                  <a:pt x="13218" y="6343"/>
                  <a:pt x="13499" y="6343"/>
                </a:cubicBezTo>
                <a:cubicBezTo>
                  <a:pt x="14218" y="6343"/>
                  <a:pt x="14812" y="5750"/>
                  <a:pt x="14812" y="5031"/>
                </a:cubicBezTo>
                <a:cubicBezTo>
                  <a:pt x="14812" y="4312"/>
                  <a:pt x="14218" y="3719"/>
                  <a:pt x="13499" y="3719"/>
                </a:cubicBez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121893" tIns="60946" rIns="121893" bIns="60946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947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CFCE8ECB-1782-4C6A-BC73-36577AB86C5D}"/>
              </a:ext>
            </a:extLst>
          </p:cNvPr>
          <p:cNvSpPr txBox="1">
            <a:spLocks/>
          </p:cNvSpPr>
          <p:nvPr/>
        </p:nvSpPr>
        <p:spPr>
          <a:xfrm>
            <a:off x="579620" y="284300"/>
            <a:ext cx="9144000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4800" dirty="0"/>
              <a:t>谢 谢</a:t>
            </a:r>
            <a:r>
              <a:rPr lang="en-US" altLang="zh-CN" sz="4800" dirty="0"/>
              <a:t>~</a:t>
            </a:r>
            <a:endParaRPr lang="zh-CN" altLang="en-US" sz="4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C809F7-FEC5-4A19-88F7-9C0C6296EB6A}"/>
              </a:ext>
            </a:extLst>
          </p:cNvPr>
          <p:cNvSpPr txBox="1"/>
          <p:nvPr/>
        </p:nvSpPr>
        <p:spPr>
          <a:xfrm>
            <a:off x="2363449" y="5360916"/>
            <a:ext cx="3152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公司地址：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北京市经济技术开发区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荣华南路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号大族广场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DE0E48-E736-40C7-837F-ACE125DE4827}"/>
              </a:ext>
            </a:extLst>
          </p:cNvPr>
          <p:cNvSpPr txBox="1"/>
          <p:nvPr/>
        </p:nvSpPr>
        <p:spPr>
          <a:xfrm>
            <a:off x="6624489" y="5360916"/>
            <a:ext cx="3606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电话：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+86-186-1142-3703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guoxinran@newverse.cn</a:t>
            </a: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94B460B2-174C-41E4-BF1B-BBE2636B0993}"/>
              </a:ext>
            </a:extLst>
          </p:cNvPr>
          <p:cNvSpPr txBox="1">
            <a:spLocks/>
          </p:cNvSpPr>
          <p:nvPr/>
        </p:nvSpPr>
        <p:spPr>
          <a:xfrm>
            <a:off x="455054" y="2722149"/>
            <a:ext cx="9144000" cy="1655762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altLang="zh-CN" dirty="0"/>
              <a:t>—— </a:t>
            </a:r>
            <a:r>
              <a:rPr lang="zh-CN" altLang="en-US" dirty="0"/>
              <a:t>北京新予环保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BE58DCA-75BF-4C07-A102-ABA24C391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4820" y="316980"/>
            <a:ext cx="1800000" cy="1800000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EF4C2C-104D-4F46-ADD3-12C59046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F549-5C41-4414-82FB-07F627625609}" type="datetime5">
              <a:rPr lang="zh-CN" altLang="en-US" smtClean="0"/>
              <a:t>2017/11/14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66BE5C-7DED-4829-AF5E-D64B0AE4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49A7-C2A3-41AA-809F-E0628A502A2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98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8837</TotalTime>
  <Words>564</Words>
  <Application>Microsoft Office PowerPoint</Application>
  <PresentationFormat>宽屏</PresentationFormat>
  <Paragraphs>143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Lato Light</vt:lpstr>
      <vt:lpstr>Lato Regular</vt:lpstr>
      <vt:lpstr>等线</vt:lpstr>
      <vt:lpstr>黑体</vt:lpstr>
      <vt:lpstr>宋体</vt:lpstr>
      <vt:lpstr>微软雅黑</vt:lpstr>
      <vt:lpstr>Arial</vt:lpstr>
      <vt:lpstr>Times New Roman</vt:lpstr>
      <vt:lpstr>Wingdings</vt:lpstr>
      <vt:lpstr>Office 主题​​</vt:lpstr>
      <vt:lpstr>新一代空气净化材料</vt:lpstr>
      <vt:lpstr>一、新一代驻极滤材</vt:lpstr>
      <vt:lpstr>静电捕捉</vt:lpstr>
      <vt:lpstr>高效率低阻力</vt:lpstr>
      <vt:lpstr>寿命长</vt:lpstr>
      <vt:lpstr>防霉抑菌</vt:lpstr>
      <vt:lpstr>二、除甲醛涂层</vt:lpstr>
      <vt:lpstr>三、负离子滤材</vt:lpstr>
      <vt:lpstr>应用领域</vt:lpstr>
      <vt:lpstr>公司团队</vt:lpstr>
      <vt:lpstr>壁垒</vt:lpstr>
      <vt:lpstr>公司规划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PPT模板</dc:title>
  <dc:creator>dreamsummit</dc:creator>
  <cp:lastModifiedBy>dreamsummit</cp:lastModifiedBy>
  <cp:revision>285</cp:revision>
  <dcterms:created xsi:type="dcterms:W3CDTF">2017-08-07T05:48:45Z</dcterms:created>
  <dcterms:modified xsi:type="dcterms:W3CDTF">2017-11-14T09:41:01Z</dcterms:modified>
</cp:coreProperties>
</file>